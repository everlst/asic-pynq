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1079" r:id="rId2"/>
    <p:sldId id="1526" r:id="rId3"/>
    <p:sldId id="1080" r:id="rId4"/>
    <p:sldId id="1047" r:id="rId5"/>
    <p:sldId id="1528" r:id="rId6"/>
    <p:sldId id="1529" r:id="rId7"/>
    <p:sldId id="1050" r:id="rId8"/>
    <p:sldId id="1530" r:id="rId9"/>
    <p:sldId id="1084" r:id="rId10"/>
    <p:sldId id="1082" r:id="rId11"/>
    <p:sldId id="1532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4412"/>
  </p:normalViewPr>
  <p:slideViewPr>
    <p:cSldViewPr snapToGrid="0">
      <p:cViewPr varScale="1">
        <p:scale>
          <a:sx n="98" d="100"/>
          <a:sy n="98" d="100"/>
        </p:scale>
        <p:origin x="11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84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BF70D27-E2E7-244B-A5E3-F1047F5777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5142B91-7255-B841-8B29-B090299E3A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832819-3C3A-8342-AF60-F29558A28CF4}" type="datetimeFigureOut">
              <a:rPr kumimoji="1" lang="zh-CN" altLang="en-US" smtClean="0"/>
              <a:t>2025/9/27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9CB6DC-44B9-FA44-8055-D2093AE7EE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22E981-77A2-E848-8D44-B1ADD8244D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53BE2-7CD5-2E47-8021-21BCE68CAD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87048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C55E41-019F-40C9-80EE-F99911323E5A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3EBBB-0E6E-4E07-B37E-23F29E9E4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662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3EBBB-0E6E-4E07-B37E-23F29E9E41D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084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769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3EBBB-0E6E-4E07-B37E-23F29E9E41D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388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3EBBB-0E6E-4E07-B37E-23F29E9E41D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487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3EBBB-0E6E-4E07-B37E-23F29E9E41D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407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3EBBB-0E6E-4E07-B37E-23F29E9E41D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022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DE78DB-D598-441A-8C41-B83B1C96FFB3}" type="datetime1">
              <a:rPr lang="zh-CN" altLang="en-US"/>
              <a:t>2025/9/27</a:t>
            </a:fld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C62BC-DB2A-49EF-95E2-6A8FF8AD668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53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5D866-0C96-4B24-86EC-E89A875CE9D0}" type="datetime1">
              <a:rPr lang="zh-CN" altLang="en-US"/>
              <a:t>2025/9/27</a:t>
            </a:fld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440AC-DCFE-45A7-8879-CACC57DABA6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032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48A6F-EF6D-43C5-879E-E51D28D116D3}" type="datetime1">
              <a:rPr lang="zh-CN" altLang="en-US"/>
              <a:t>2025/9/27</a:t>
            </a:fld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055D0-29A2-478C-A993-069FB039F74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839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F05A0-1103-4E3D-A057-E85C641F7362}" type="datetime1">
              <a:rPr lang="zh-CN" altLang="en-US"/>
              <a:t>2025/9/27</a:t>
            </a:fld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255405-58E2-4673-9538-DD3B9B264C1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493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4AF8A3-456C-4E6C-A16D-30794E88C830}" type="datetime1">
              <a:rPr lang="zh-CN" altLang="en-US"/>
              <a:t>2025/9/27</a:t>
            </a:fld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0C269-E132-4BE1-B979-135F4A43B7F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57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295400"/>
            <a:ext cx="10363200" cy="16002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3086101"/>
            <a:ext cx="10363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Author(s)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70ACC9-F0AB-4798-9CD7-355D71A425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5029200"/>
            <a:ext cx="10363200" cy="1143000"/>
          </a:xfrm>
          <a:prstGeom prst="rect">
            <a:avLst/>
          </a:prstGeom>
        </p:spPr>
        <p:txBody>
          <a:bodyPr/>
          <a:lstStyle>
            <a:lvl1pPr algn="ctr"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 dirty="0"/>
              <a:t>Affiliation(s)</a:t>
            </a:r>
          </a:p>
        </p:txBody>
      </p:sp>
    </p:spTree>
    <p:extLst>
      <p:ext uri="{BB962C8B-B14F-4D97-AF65-F5344CB8AC3E}">
        <p14:creationId xmlns:p14="http://schemas.microsoft.com/office/powerpoint/2010/main" val="3532587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61B3-B586-4B8F-A9E9-61EA08581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65127"/>
            <a:ext cx="10210800" cy="701675"/>
          </a:xfrm>
          <a:prstGeom prst="rect">
            <a:avLst/>
          </a:prstGeom>
        </p:spPr>
        <p:txBody>
          <a:bodyPr/>
          <a:lstStyle>
            <a:lvl1pPr algn="l"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ja-JP" dirty="0"/>
              <a:t>Click to edit Master title style</a:t>
            </a:r>
            <a:endParaRPr kumimoji="1" lang="ja-JP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6BD71-65C3-478D-93E8-128C6CB7E2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219200"/>
            <a:ext cx="10515600" cy="4953000"/>
          </a:xfrm>
          <a:prstGeom prst="rect">
            <a:avLst/>
          </a:prstGeom>
        </p:spPr>
        <p:txBody>
          <a:bodyPr/>
          <a:lstStyle>
            <a:lvl1pPr marL="402431" indent="-402431">
              <a:buFont typeface="Wingdings" panose="05000000000000000000" pitchFamily="2" charset="2"/>
              <a:buChar char="n"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75085" indent="-332185">
              <a:buSzPct val="90000"/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42975" indent="-257175">
              <a:buFont typeface="Arial" panose="020B0604020202020204" pitchFamily="34" charset="0"/>
              <a:buChar char="−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kumimoji="1" lang="en-US" altLang="ja-JP" dirty="0"/>
              <a:t>Click to edit Master text styles</a:t>
            </a:r>
          </a:p>
          <a:p>
            <a:pPr lvl="1"/>
            <a:r>
              <a:rPr kumimoji="1" lang="en-US" altLang="ja-JP" dirty="0"/>
              <a:t>Second level</a:t>
            </a:r>
          </a:p>
          <a:p>
            <a:pPr lvl="2"/>
            <a:r>
              <a:rPr kumimoji="1" lang="en-US" altLang="ja-JP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254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9"/>
            </p:custDataLst>
          </p:nvPr>
        </p:nvSpPr>
        <p:spPr>
          <a:xfrm>
            <a:off x="0" y="6237288"/>
            <a:ext cx="12192000" cy="620712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2192000" cy="90805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11144251" y="6357938"/>
            <a:ext cx="480483" cy="360362"/>
          </a:xfrm>
          <a:prstGeom prst="ellipse">
            <a:avLst/>
          </a:prstGeom>
          <a:solidFill>
            <a:srgbClr val="0A41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9" name="标题占位符 1"/>
          <p:cNvSpPr>
            <a:spLocks noGrp="1"/>
          </p:cNvSpPr>
          <p:nvPr>
            <p:ph type="title"/>
          </p:nvPr>
        </p:nvSpPr>
        <p:spPr bwMode="auto">
          <a:xfrm>
            <a:off x="609601" y="223838"/>
            <a:ext cx="87249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341438"/>
            <a:ext cx="10972800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37E52844-4327-4055-A3C8-49C907DEF340}" type="datetime1">
              <a:rPr lang="zh-CN" altLang="en-US"/>
              <a:t>2025/9/27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89218" y="6356351"/>
            <a:ext cx="590549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4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EA8957C2-AF6F-4D31-BB8A-D74B12D1140C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1033" name="矩形 14"/>
          <p:cNvSpPr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-2117" y="908051"/>
            <a:ext cx="12194117" cy="36513"/>
          </a:xfrm>
          <a:prstGeom prst="rect">
            <a:avLst/>
          </a:prstGeom>
          <a:solidFill>
            <a:srgbClr val="0A419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34" name="矩形 18"/>
          <p:cNvSpPr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-2117" y="6200776"/>
            <a:ext cx="12194117" cy="34925"/>
          </a:xfrm>
          <a:prstGeom prst="rect">
            <a:avLst/>
          </a:prstGeom>
          <a:solidFill>
            <a:srgbClr val="0A419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35" name="页脚占位符 16"/>
          <p:cNvSpPr txBox="1"/>
          <p:nvPr userDrawn="1"/>
        </p:nvSpPr>
        <p:spPr bwMode="auto">
          <a:xfrm>
            <a:off x="4559300" y="6356350"/>
            <a:ext cx="6242051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1600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ASIC Design</a:t>
            </a:r>
          </a:p>
        </p:txBody>
      </p:sp>
    </p:spTree>
    <p:extLst>
      <p:ext uri="{BB962C8B-B14F-4D97-AF65-F5344CB8AC3E}">
        <p14:creationId xmlns:p14="http://schemas.microsoft.com/office/powerpoint/2010/main" val="786672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683FC21-3964-DF86-C9E2-BFE703F91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48A6F-EF6D-43C5-879E-E51D28D116D3}" type="datetime1">
              <a:rPr lang="zh-CN" altLang="en-US" smtClean="0"/>
              <a:t>2025/9/27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91E648-6867-3ABE-79CE-AF63DC4E15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055D0-29A2-478C-A993-069FB039F74D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292D6A-7E6B-DFF6-B5CF-455B6719E4AD}"/>
              </a:ext>
            </a:extLst>
          </p:cNvPr>
          <p:cNvSpPr txBox="1"/>
          <p:nvPr/>
        </p:nvSpPr>
        <p:spPr>
          <a:xfrm>
            <a:off x="494024" y="1549409"/>
            <a:ext cx="11185743" cy="3220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Lab5</a:t>
            </a:r>
          </a:p>
          <a:p>
            <a:pPr algn="ctr">
              <a:lnSpc>
                <a:spcPct val="150000"/>
              </a:lnSpc>
            </a:pPr>
            <a:r>
              <a:rPr lang="zh-CN" altLang="en-US" sz="7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实现三层全连接计算模块</a:t>
            </a:r>
          </a:p>
        </p:txBody>
      </p:sp>
    </p:spTree>
    <p:extLst>
      <p:ext uri="{BB962C8B-B14F-4D97-AF65-F5344CB8AC3E}">
        <p14:creationId xmlns:p14="http://schemas.microsoft.com/office/powerpoint/2010/main" val="2839674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1A9A0-8DD2-4CC2-9698-4405455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8303" y="337859"/>
            <a:ext cx="6543675" cy="461963"/>
          </a:xfrm>
        </p:spPr>
        <p:txBody>
          <a:bodyPr/>
          <a:lstStyle/>
          <a:p>
            <a:pPr algn="ctr"/>
            <a:r>
              <a:rPr lang="zh-CN" altLang="en-US" sz="3000" dirty="0"/>
              <a:t>实验总览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2025/9/27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D1BD2611-D3D7-0F4F-8C46-71AFD0587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43" y="1307031"/>
            <a:ext cx="7564055" cy="4243939"/>
          </a:xfrm>
          <a:prstGeom prst="rect">
            <a:avLst/>
          </a:prstGeom>
        </p:spPr>
      </p:pic>
      <p:sp>
        <p:nvSpPr>
          <p:cNvPr id="40" name="椭圆 39">
            <a:extLst>
              <a:ext uri="{FF2B5EF4-FFF2-40B4-BE49-F238E27FC236}">
                <a16:creationId xmlns:a16="http://schemas.microsoft.com/office/drawing/2014/main" id="{DB992A26-F25E-1945-8C3A-241AA6BBB12F}"/>
              </a:ext>
            </a:extLst>
          </p:cNvPr>
          <p:cNvSpPr/>
          <p:nvPr/>
        </p:nvSpPr>
        <p:spPr>
          <a:xfrm>
            <a:off x="6636041" y="1988358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D3DECBF2-BD64-D240-90DA-55A80D9F2DEE}"/>
              </a:ext>
            </a:extLst>
          </p:cNvPr>
          <p:cNvSpPr/>
          <p:nvPr/>
        </p:nvSpPr>
        <p:spPr>
          <a:xfrm>
            <a:off x="4258256" y="3361426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C7FE189A-F791-7E45-B3C0-B4BCEEA3B491}"/>
              </a:ext>
            </a:extLst>
          </p:cNvPr>
          <p:cNvSpPr/>
          <p:nvPr/>
        </p:nvSpPr>
        <p:spPr>
          <a:xfrm>
            <a:off x="2560755" y="3167063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9C826044-4B91-E745-AF68-9A2D15C6E8F2}"/>
              </a:ext>
            </a:extLst>
          </p:cNvPr>
          <p:cNvSpPr/>
          <p:nvPr/>
        </p:nvSpPr>
        <p:spPr>
          <a:xfrm>
            <a:off x="2946283" y="3167062"/>
            <a:ext cx="466727" cy="466727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496A4D80-5B13-694A-8534-FE565DBA4FA9}"/>
              </a:ext>
            </a:extLst>
          </p:cNvPr>
          <p:cNvSpPr/>
          <p:nvPr/>
        </p:nvSpPr>
        <p:spPr>
          <a:xfrm>
            <a:off x="5421459" y="4973411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45" name="îŝ1ïďè">
            <a:extLst>
              <a:ext uri="{FF2B5EF4-FFF2-40B4-BE49-F238E27FC236}">
                <a16:creationId xmlns:a16="http://schemas.microsoft.com/office/drawing/2014/main" id="{8BD1EC9C-3866-9F45-997F-DF9D48C3FEDD}"/>
              </a:ext>
            </a:extLst>
          </p:cNvPr>
          <p:cNvSpPr/>
          <p:nvPr/>
        </p:nvSpPr>
        <p:spPr bwMode="auto">
          <a:xfrm flipH="1">
            <a:off x="7929087" y="1083861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46" name="i$ļîḋé">
            <a:extLst>
              <a:ext uri="{FF2B5EF4-FFF2-40B4-BE49-F238E27FC236}">
                <a16:creationId xmlns:a16="http://schemas.microsoft.com/office/drawing/2014/main" id="{FA6269F2-4E4A-964A-A1AD-7F201CD2F8A5}"/>
              </a:ext>
            </a:extLst>
          </p:cNvPr>
          <p:cNvSpPr txBox="1"/>
          <p:nvPr/>
        </p:nvSpPr>
        <p:spPr>
          <a:xfrm>
            <a:off x="7852887" y="1083859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1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47" name="îŝ1ïďè">
            <a:extLst>
              <a:ext uri="{FF2B5EF4-FFF2-40B4-BE49-F238E27FC236}">
                <a16:creationId xmlns:a16="http://schemas.microsoft.com/office/drawing/2014/main" id="{E1A1B664-4547-254E-8CA5-DA4E7C4F1AAA}"/>
              </a:ext>
            </a:extLst>
          </p:cNvPr>
          <p:cNvSpPr/>
          <p:nvPr/>
        </p:nvSpPr>
        <p:spPr bwMode="auto">
          <a:xfrm flipH="1">
            <a:off x="7929087" y="1740236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48" name="i$ļîḋé">
            <a:extLst>
              <a:ext uri="{FF2B5EF4-FFF2-40B4-BE49-F238E27FC236}">
                <a16:creationId xmlns:a16="http://schemas.microsoft.com/office/drawing/2014/main" id="{6E60B4BC-338B-5849-BD6A-6CD97DDD3606}"/>
              </a:ext>
            </a:extLst>
          </p:cNvPr>
          <p:cNvSpPr txBox="1"/>
          <p:nvPr/>
        </p:nvSpPr>
        <p:spPr>
          <a:xfrm>
            <a:off x="7852887" y="1740234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2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49" name="îŝ1ïďè">
            <a:extLst>
              <a:ext uri="{FF2B5EF4-FFF2-40B4-BE49-F238E27FC236}">
                <a16:creationId xmlns:a16="http://schemas.microsoft.com/office/drawing/2014/main" id="{35D4AF4C-4A5B-CF47-8091-F86435D9A4B2}"/>
              </a:ext>
            </a:extLst>
          </p:cNvPr>
          <p:cNvSpPr/>
          <p:nvPr/>
        </p:nvSpPr>
        <p:spPr bwMode="auto">
          <a:xfrm flipH="1">
            <a:off x="7929087" y="2396610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50" name="i$ļîḋé">
            <a:extLst>
              <a:ext uri="{FF2B5EF4-FFF2-40B4-BE49-F238E27FC236}">
                <a16:creationId xmlns:a16="http://schemas.microsoft.com/office/drawing/2014/main" id="{2EC73E57-0770-C747-931A-8F4A30C535B5}"/>
              </a:ext>
            </a:extLst>
          </p:cNvPr>
          <p:cNvSpPr txBox="1"/>
          <p:nvPr/>
        </p:nvSpPr>
        <p:spPr>
          <a:xfrm>
            <a:off x="7852887" y="2396609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3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51" name="îŝ1ïďè">
            <a:extLst>
              <a:ext uri="{FF2B5EF4-FFF2-40B4-BE49-F238E27FC236}">
                <a16:creationId xmlns:a16="http://schemas.microsoft.com/office/drawing/2014/main" id="{639A6FCA-89EC-CB4F-B641-6C80995F12A1}"/>
              </a:ext>
            </a:extLst>
          </p:cNvPr>
          <p:cNvSpPr/>
          <p:nvPr/>
        </p:nvSpPr>
        <p:spPr bwMode="auto">
          <a:xfrm flipH="1">
            <a:off x="7925679" y="3052986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52" name="i$ļîḋé">
            <a:extLst>
              <a:ext uri="{FF2B5EF4-FFF2-40B4-BE49-F238E27FC236}">
                <a16:creationId xmlns:a16="http://schemas.microsoft.com/office/drawing/2014/main" id="{FAD679B6-8E0F-3846-819A-4F6AA2F3D2B2}"/>
              </a:ext>
            </a:extLst>
          </p:cNvPr>
          <p:cNvSpPr txBox="1"/>
          <p:nvPr/>
        </p:nvSpPr>
        <p:spPr>
          <a:xfrm>
            <a:off x="7849478" y="3052983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4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53" name="îŝ1ïďè">
            <a:extLst>
              <a:ext uri="{FF2B5EF4-FFF2-40B4-BE49-F238E27FC236}">
                <a16:creationId xmlns:a16="http://schemas.microsoft.com/office/drawing/2014/main" id="{DF08C1CC-C753-6A41-A0A0-50E4F5CA86A5}"/>
              </a:ext>
            </a:extLst>
          </p:cNvPr>
          <p:cNvSpPr/>
          <p:nvPr/>
        </p:nvSpPr>
        <p:spPr bwMode="auto">
          <a:xfrm flipH="1">
            <a:off x="7925679" y="3709361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54" name="i$ļîḋé">
            <a:extLst>
              <a:ext uri="{FF2B5EF4-FFF2-40B4-BE49-F238E27FC236}">
                <a16:creationId xmlns:a16="http://schemas.microsoft.com/office/drawing/2014/main" id="{0ABE119A-C3C8-3246-BCD9-2C71B537E9BD}"/>
              </a:ext>
            </a:extLst>
          </p:cNvPr>
          <p:cNvSpPr txBox="1"/>
          <p:nvPr/>
        </p:nvSpPr>
        <p:spPr>
          <a:xfrm>
            <a:off x="7849479" y="3709359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6"/>
                </a:solidFill>
                <a:latin typeface="Impact" panose="020B0806030902050204" pitchFamily="34" charset="0"/>
              </a:rPr>
              <a:t>5</a:t>
            </a:r>
            <a:endParaRPr lang="zh-CN" altLang="en-US" dirty="0">
              <a:solidFill>
                <a:schemeClr val="accent6"/>
              </a:solidFill>
              <a:latin typeface="Impact" panose="020B0806030902050204" pitchFamily="34" charset="0"/>
            </a:endParaRPr>
          </a:p>
        </p:txBody>
      </p:sp>
      <p:sp>
        <p:nvSpPr>
          <p:cNvPr id="55" name="îŝ1ïďè">
            <a:extLst>
              <a:ext uri="{FF2B5EF4-FFF2-40B4-BE49-F238E27FC236}">
                <a16:creationId xmlns:a16="http://schemas.microsoft.com/office/drawing/2014/main" id="{E513ADD7-C0E4-064D-865C-98C8C869CE44}"/>
              </a:ext>
            </a:extLst>
          </p:cNvPr>
          <p:cNvSpPr/>
          <p:nvPr/>
        </p:nvSpPr>
        <p:spPr bwMode="auto">
          <a:xfrm flipH="1">
            <a:off x="7925679" y="4365736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56" name="i$ļîḋé">
            <a:extLst>
              <a:ext uri="{FF2B5EF4-FFF2-40B4-BE49-F238E27FC236}">
                <a16:creationId xmlns:a16="http://schemas.microsoft.com/office/drawing/2014/main" id="{DC0C5D26-F553-B245-B674-C2EAA2249B1E}"/>
              </a:ext>
            </a:extLst>
          </p:cNvPr>
          <p:cNvSpPr txBox="1"/>
          <p:nvPr/>
        </p:nvSpPr>
        <p:spPr>
          <a:xfrm>
            <a:off x="7849479" y="4365734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6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1531018-8983-EB4C-8F2F-D0265E5BF71D}"/>
              </a:ext>
            </a:extLst>
          </p:cNvPr>
          <p:cNvSpPr txBox="1"/>
          <p:nvPr/>
        </p:nvSpPr>
        <p:spPr>
          <a:xfrm>
            <a:off x="8500980" y="1104793"/>
            <a:ext cx="322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PS-PL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交互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5BEBAD6-22EE-E143-9309-C2A38511B5EA}"/>
              </a:ext>
            </a:extLst>
          </p:cNvPr>
          <p:cNvSpPr txBox="1"/>
          <p:nvPr/>
        </p:nvSpPr>
        <p:spPr>
          <a:xfrm>
            <a:off x="8504145" y="2403324"/>
            <a:ext cx="369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AA4C293-D884-5E4A-9757-F6F7D7D7B748}"/>
              </a:ext>
            </a:extLst>
          </p:cNvPr>
          <p:cNvSpPr txBox="1"/>
          <p:nvPr/>
        </p:nvSpPr>
        <p:spPr>
          <a:xfrm>
            <a:off x="8503530" y="3068372"/>
            <a:ext cx="350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1</a:t>
            </a:r>
            <a:r>
              <a:rPr lang="zh-CN" altLang="en-US" dirty="0"/>
              <a:t>层网络计算模块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3497CA3-FB10-AE4C-9442-6412DBBD268D}"/>
              </a:ext>
            </a:extLst>
          </p:cNvPr>
          <p:cNvSpPr txBox="1"/>
          <p:nvPr/>
        </p:nvSpPr>
        <p:spPr>
          <a:xfrm>
            <a:off x="8503530" y="3740376"/>
            <a:ext cx="350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3</a:t>
            </a:r>
            <a:r>
              <a:rPr lang="zh-CN" altLang="en-US" dirty="0"/>
              <a:t>层网络计算模块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CBDF9EE-A132-434F-9AC8-5DC1B211EE4B}"/>
              </a:ext>
            </a:extLst>
          </p:cNvPr>
          <p:cNvSpPr txBox="1"/>
          <p:nvPr/>
        </p:nvSpPr>
        <p:spPr>
          <a:xfrm>
            <a:off x="8506939" y="5059499"/>
            <a:ext cx="2697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实现网络数据流控制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54485F52-D426-7145-9351-4D5C2A675379}"/>
              </a:ext>
            </a:extLst>
          </p:cNvPr>
          <p:cNvSpPr/>
          <p:nvPr/>
        </p:nvSpPr>
        <p:spPr>
          <a:xfrm>
            <a:off x="2790706" y="4155330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84F09D8-F1D9-E543-9FEB-A235D9BAE748}"/>
              </a:ext>
            </a:extLst>
          </p:cNvPr>
          <p:cNvSpPr txBox="1"/>
          <p:nvPr/>
        </p:nvSpPr>
        <p:spPr>
          <a:xfrm>
            <a:off x="8500392" y="4372254"/>
            <a:ext cx="3626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数据截位方式对网络结果的影响</a:t>
            </a: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C5C1AD23-66CB-154E-9DAE-2AD73BA63A0E}"/>
              </a:ext>
            </a:extLst>
          </p:cNvPr>
          <p:cNvSpPr/>
          <p:nvPr/>
        </p:nvSpPr>
        <p:spPr>
          <a:xfrm>
            <a:off x="1680891" y="3633789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65" name="îŝ1ïďè">
            <a:extLst>
              <a:ext uri="{FF2B5EF4-FFF2-40B4-BE49-F238E27FC236}">
                <a16:creationId xmlns:a16="http://schemas.microsoft.com/office/drawing/2014/main" id="{D5EE2053-69BB-5C41-AAE9-AFED9310C404}"/>
              </a:ext>
            </a:extLst>
          </p:cNvPr>
          <p:cNvSpPr/>
          <p:nvPr/>
        </p:nvSpPr>
        <p:spPr bwMode="auto">
          <a:xfrm flipH="1">
            <a:off x="7925679" y="5022110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66" name="i$ļîḋé">
            <a:extLst>
              <a:ext uri="{FF2B5EF4-FFF2-40B4-BE49-F238E27FC236}">
                <a16:creationId xmlns:a16="http://schemas.microsoft.com/office/drawing/2014/main" id="{71DAB558-DBB1-CF40-8DDA-984BD70966F5}"/>
              </a:ext>
            </a:extLst>
          </p:cNvPr>
          <p:cNvSpPr txBox="1"/>
          <p:nvPr/>
        </p:nvSpPr>
        <p:spPr>
          <a:xfrm>
            <a:off x="7849479" y="5022109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7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BDD9CD6-5909-DD4B-85F6-B0E1A9057873}"/>
              </a:ext>
            </a:extLst>
          </p:cNvPr>
          <p:cNvSpPr txBox="1"/>
          <p:nvPr/>
        </p:nvSpPr>
        <p:spPr>
          <a:xfrm>
            <a:off x="8507212" y="5724777"/>
            <a:ext cx="322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系统整合</a:t>
            </a: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2E13BC63-0C65-8442-AA4D-A2A06F9A9E5F}"/>
              </a:ext>
            </a:extLst>
          </p:cNvPr>
          <p:cNvSpPr/>
          <p:nvPr/>
        </p:nvSpPr>
        <p:spPr>
          <a:xfrm>
            <a:off x="4258256" y="3745588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69" name="îŝ1ïďè">
            <a:extLst>
              <a:ext uri="{FF2B5EF4-FFF2-40B4-BE49-F238E27FC236}">
                <a16:creationId xmlns:a16="http://schemas.microsoft.com/office/drawing/2014/main" id="{CC741F75-B416-6544-A308-C2A977A90B47}"/>
              </a:ext>
            </a:extLst>
          </p:cNvPr>
          <p:cNvSpPr/>
          <p:nvPr/>
        </p:nvSpPr>
        <p:spPr bwMode="auto">
          <a:xfrm flipH="1">
            <a:off x="7925679" y="5663751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70" name="i$ļîḋé">
            <a:extLst>
              <a:ext uri="{FF2B5EF4-FFF2-40B4-BE49-F238E27FC236}">
                <a16:creationId xmlns:a16="http://schemas.microsoft.com/office/drawing/2014/main" id="{E4FFD518-78A9-FE47-969E-510AACC5AEDC}"/>
              </a:ext>
            </a:extLst>
          </p:cNvPr>
          <p:cNvSpPr txBox="1"/>
          <p:nvPr/>
        </p:nvSpPr>
        <p:spPr>
          <a:xfrm>
            <a:off x="7849479" y="5663750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8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85F16BB-EF53-D041-89EC-4789E58F3B8C}"/>
              </a:ext>
            </a:extLst>
          </p:cNvPr>
          <p:cNvSpPr txBox="1"/>
          <p:nvPr/>
        </p:nvSpPr>
        <p:spPr>
          <a:xfrm>
            <a:off x="8500980" y="1761046"/>
            <a:ext cx="36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Verilog</a:t>
            </a:r>
            <a:r>
              <a:rPr lang="zh-CN" altLang="en-US" dirty="0"/>
              <a:t>基础：逻辑单元设计</a:t>
            </a:r>
          </a:p>
        </p:txBody>
      </p:sp>
    </p:spTree>
    <p:extLst>
      <p:ext uri="{BB962C8B-B14F-4D97-AF65-F5344CB8AC3E}">
        <p14:creationId xmlns:p14="http://schemas.microsoft.com/office/powerpoint/2010/main" val="1068765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2090D6-1C2D-F923-30A0-40F4364E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29DB36-52D4-DC34-7ADA-5D7422F93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48A6F-EF6D-43C5-879E-E51D28D116D3}" type="datetime1">
              <a:rPr lang="zh-CN" altLang="en-US" smtClean="0"/>
              <a:t>2025/9/27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B7CE64-3FC8-FEC1-8310-AEBFB3A99A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055D0-29A2-478C-A993-069FB039F74D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EBDA5C-719E-E1CC-AAB1-8FC37889C1B6}"/>
              </a:ext>
            </a:extLst>
          </p:cNvPr>
          <p:cNvSpPr txBox="1"/>
          <p:nvPr/>
        </p:nvSpPr>
        <p:spPr>
          <a:xfrm>
            <a:off x="609600" y="1265129"/>
            <a:ext cx="958032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验收方式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设计提示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提供资料解释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64880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BB525-1270-459A-B0B5-DC6D732C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643C0A-6F64-4716-89A5-76B26DB02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475" y="982099"/>
            <a:ext cx="11309131" cy="47513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任务要求</a:t>
            </a:r>
            <a:r>
              <a:rPr lang="zh-CN" altLang="en-US" dirty="0"/>
              <a:t>：基于</a:t>
            </a:r>
            <a:r>
              <a:rPr lang="en-US" altLang="zh-CN" dirty="0"/>
              <a:t>Lab4</a:t>
            </a:r>
            <a:r>
              <a:rPr lang="zh-CN" altLang="en-US" dirty="0"/>
              <a:t>一层网络计算模块，设计三层全连接计算模块，进行仿真测试，验证神经网络最终输出结果的正确性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网络结构如下，每个全连接层单独使用一个模块（如</a:t>
            </a:r>
            <a:r>
              <a:rPr lang="en-US" altLang="zh-CN" dirty="0"/>
              <a:t>fc1.v</a:t>
            </a:r>
            <a:r>
              <a:rPr lang="zh-CN" altLang="en-US" dirty="0"/>
              <a:t>，</a:t>
            </a:r>
            <a:r>
              <a:rPr lang="en-US" altLang="zh-CN" dirty="0"/>
              <a:t>fc2.v</a:t>
            </a:r>
            <a:r>
              <a:rPr lang="zh-CN" altLang="en-US" dirty="0"/>
              <a:t>，</a:t>
            </a:r>
            <a:r>
              <a:rPr lang="en-US" altLang="zh-CN" dirty="0"/>
              <a:t>fc3.v)</a:t>
            </a:r>
            <a:r>
              <a:rPr lang="zh-CN" altLang="en-US" dirty="0"/>
              <a:t>，不考虑模块复用，</a:t>
            </a:r>
            <a:br>
              <a:rPr lang="en-US" altLang="zh-CN" dirty="0"/>
            </a:br>
            <a:r>
              <a:rPr lang="zh-CN" altLang="en-US" dirty="0"/>
              <a:t>每层的输出结果不需要做</a:t>
            </a:r>
            <a:br>
              <a:rPr lang="en-US" altLang="zh-CN" dirty="0"/>
            </a:br>
            <a:r>
              <a:rPr lang="zh-CN" altLang="en-US" dirty="0"/>
              <a:t>截位处理；最后一层没有</a:t>
            </a:r>
            <a:br>
              <a:rPr lang="en-US" altLang="zh-CN" dirty="0"/>
            </a:br>
            <a:r>
              <a:rPr lang="zh-CN" altLang="en-US" dirty="0"/>
              <a:t>激活函数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  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8A6976-08CC-42FB-A072-ED6AC6F2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55D866-0C96-4B24-86EC-E89A875CE9D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A419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2025/9/27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A419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2149BE-4F92-48B6-AAA8-F278F1C188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1440AC-DCFE-45A7-8879-CACC57DABA6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F487064-376F-F148-B016-3224B63C6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405" y="3161789"/>
            <a:ext cx="6666201" cy="296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73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BB525-1270-459A-B0B5-DC6D732C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验收方式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643C0A-6F64-4716-89A5-76B26DB02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6" y="1146111"/>
            <a:ext cx="11309131" cy="47513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872"/>
              </a:spcBef>
            </a:pPr>
            <a:r>
              <a:rPr lang="zh-CN" altLang="en-US" b="1" dirty="0">
                <a:solidFill>
                  <a:srgbClr val="FF0000"/>
                </a:solidFill>
              </a:rPr>
              <a:t>验收时间（</a:t>
            </a:r>
            <a:r>
              <a:rPr lang="en-US" altLang="zh-CN" b="1" dirty="0">
                <a:solidFill>
                  <a:srgbClr val="FF0000"/>
                </a:solidFill>
              </a:rPr>
              <a:t>10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13</a:t>
            </a:r>
            <a:r>
              <a:rPr lang="zh-CN" altLang="en-US" b="1" dirty="0">
                <a:solidFill>
                  <a:srgbClr val="FF0000"/>
                </a:solidFill>
              </a:rPr>
              <a:t>日、</a:t>
            </a:r>
            <a:r>
              <a:rPr lang="en-US" altLang="zh-CN" b="1" dirty="0">
                <a:solidFill>
                  <a:srgbClr val="FF0000"/>
                </a:solidFill>
              </a:rPr>
              <a:t>19</a:t>
            </a:r>
            <a:r>
              <a:rPr lang="zh-CN" altLang="en-US" b="1" dirty="0">
                <a:solidFill>
                  <a:srgbClr val="FF0000"/>
                </a:solidFill>
              </a:rPr>
              <a:t>日）</a:t>
            </a:r>
            <a:r>
              <a:rPr lang="en-US" altLang="zh-CN" dirty="0"/>
              <a:t>: Lab4</a:t>
            </a:r>
            <a:r>
              <a:rPr lang="zh-CN" altLang="en-US" dirty="0"/>
              <a:t>，</a:t>
            </a:r>
            <a:r>
              <a:rPr lang="en-US" altLang="zh-CN" dirty="0"/>
              <a:t>Lab5</a:t>
            </a:r>
            <a:r>
              <a:rPr lang="zh-CN" altLang="en-US" dirty="0"/>
              <a:t>合并验收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872"/>
              </a:spcBef>
            </a:pPr>
            <a:r>
              <a:rPr lang="zh-CN" altLang="en-US" b="1" dirty="0">
                <a:solidFill>
                  <a:srgbClr val="FF0000"/>
                </a:solidFill>
              </a:rPr>
              <a:t>验收内容</a:t>
            </a:r>
            <a:r>
              <a:rPr lang="zh-CN" altLang="en-US" dirty="0"/>
              <a:t>：将</a:t>
            </a:r>
            <a:r>
              <a:rPr lang="en-US" altLang="zh-CN" dirty="0"/>
              <a:t>Lab4</a:t>
            </a:r>
            <a:r>
              <a:rPr lang="zh-CN" altLang="en-US" dirty="0"/>
              <a:t>提供的样本作为网络输入数据，分别保存第一层输</a:t>
            </a:r>
            <a:br>
              <a:rPr lang="en-US" altLang="zh-CN" dirty="0"/>
            </a:br>
            <a:r>
              <a:rPr lang="zh-CN" altLang="en-US" dirty="0"/>
              <a:t>出（如</a:t>
            </a:r>
            <a:r>
              <a:rPr lang="en-US" altLang="zh-CN" b="1" dirty="0"/>
              <a:t> </a:t>
            </a:r>
            <a:r>
              <a:rPr lang="en-US" altLang="zh-CN" b="1" dirty="0" err="1"/>
              <a:t>fc_output_data_o</a:t>
            </a:r>
            <a:r>
              <a:rPr lang="zh-CN" altLang="en-US" b="1" dirty="0"/>
              <a:t>）、</a:t>
            </a:r>
            <a:r>
              <a:rPr lang="zh-CN" altLang="en-US" dirty="0"/>
              <a:t>第二层输出、最后一层输出结果，并与相应输出特征图参考进行对比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872"/>
              </a:spcBef>
            </a:pPr>
            <a:r>
              <a:rPr lang="zh-CN" altLang="en-US" b="1" dirty="0">
                <a:solidFill>
                  <a:srgbClr val="FF0000"/>
                </a:solidFill>
              </a:rPr>
              <a:t>报告：</a:t>
            </a:r>
            <a:r>
              <a:rPr lang="zh-CN" altLang="en-US" dirty="0"/>
              <a:t>自行完成报告内</a:t>
            </a:r>
            <a:r>
              <a:rPr lang="en-US" altLang="zh-CN" dirty="0"/>
              <a:t>Lab4</a:t>
            </a:r>
            <a:r>
              <a:rPr lang="zh-CN" altLang="en-US" dirty="0"/>
              <a:t>，</a:t>
            </a:r>
            <a:r>
              <a:rPr lang="en-US" altLang="zh-CN" dirty="0"/>
              <a:t>Lab5</a:t>
            </a:r>
            <a:r>
              <a:rPr lang="zh-CN" altLang="en-US" dirty="0"/>
              <a:t>部分</a:t>
            </a:r>
            <a:r>
              <a:rPr lang="zh-CN" altLang="en-US" dirty="0">
                <a:solidFill>
                  <a:srgbClr val="FF0000"/>
                </a:solidFill>
              </a:rPr>
              <a:t>（暂不提交）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  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8A6976-08CC-42FB-A072-ED6AC6F2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55D866-0C96-4B24-86EC-E89A875CE9D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A419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2025/9/27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A419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2149BE-4F92-48B6-AAA8-F278F1C188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1440AC-DCFE-45A7-8879-CACC57DABA6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5829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BB525-1270-459A-B0B5-DC6D732C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验收方式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643C0A-6F64-4716-89A5-76B26DB02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6" y="1146111"/>
            <a:ext cx="11309131" cy="47513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/>
              <a:t>Lab4</a:t>
            </a:r>
            <a:r>
              <a:rPr lang="zh-CN" altLang="en-US" b="1" dirty="0"/>
              <a:t>样本相应的各层输出参考：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  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8A6976-08CC-42FB-A072-ED6AC6F2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55D866-0C96-4B24-86EC-E89A875CE9D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A419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2025/9/27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A419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2149BE-4F92-48B6-AAA8-F278F1C188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1440AC-DCFE-45A7-8879-CACC57DABA6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内容占位符 6">
            <a:extLst>
              <a:ext uri="{FF2B5EF4-FFF2-40B4-BE49-F238E27FC236}">
                <a16:creationId xmlns:a16="http://schemas.microsoft.com/office/drawing/2014/main" id="{495C1E7B-94D2-9A4D-A053-D0E06ED8EF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44"/>
          <a:stretch/>
        </p:blipFill>
        <p:spPr>
          <a:xfrm>
            <a:off x="0" y="2040136"/>
            <a:ext cx="4191528" cy="309709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B90EFAB-A25C-1942-801C-F91386146C59}"/>
              </a:ext>
            </a:extLst>
          </p:cNvPr>
          <p:cNvSpPr txBox="1"/>
          <p:nvPr/>
        </p:nvSpPr>
        <p:spPr>
          <a:xfrm>
            <a:off x="-122987" y="5158719"/>
            <a:ext cx="458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第一层输出特征图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C0D86D4-731F-574E-B863-2ED5495A6E8D}"/>
              </a:ext>
            </a:extLst>
          </p:cNvPr>
          <p:cNvSpPr txBox="1"/>
          <p:nvPr/>
        </p:nvSpPr>
        <p:spPr>
          <a:xfrm>
            <a:off x="3920981" y="5158719"/>
            <a:ext cx="458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第二层输出特征图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F65196F-2CD3-BD4B-B97D-707A1D970CB1}"/>
              </a:ext>
            </a:extLst>
          </p:cNvPr>
          <p:cNvSpPr txBox="1"/>
          <p:nvPr/>
        </p:nvSpPr>
        <p:spPr>
          <a:xfrm>
            <a:off x="7883126" y="5158719"/>
            <a:ext cx="4583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第三层输出特征图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只有两个通道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96B04CD-94ED-4743-9A8B-945F44684EC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3"/>
          <a:stretch/>
        </p:blipFill>
        <p:spPr>
          <a:xfrm>
            <a:off x="4109545" y="2040136"/>
            <a:ext cx="4309242" cy="309709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4A6A86C-CA85-4C1B-BD01-EBB42C44E5D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2" r="4916"/>
          <a:stretch/>
        </p:blipFill>
        <p:spPr>
          <a:xfrm>
            <a:off x="8072033" y="2040135"/>
            <a:ext cx="4119967" cy="308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480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71DED-B302-4755-A92A-EDB99EF3E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182563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设计提示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D42A5C-2E45-4A2A-9C9E-529171C0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2025/9/27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6B37B4-C7BC-4C85-9E03-90CC16FFB1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90ADEF-2232-4E06-A011-8AA6D6C8C4BA}"/>
              </a:ext>
            </a:extLst>
          </p:cNvPr>
          <p:cNvSpPr/>
          <p:nvPr/>
        </p:nvSpPr>
        <p:spPr>
          <a:xfrm>
            <a:off x="6568814" y="1031875"/>
            <a:ext cx="2057400" cy="3581913"/>
          </a:xfrm>
          <a:prstGeom prst="rect">
            <a:avLst/>
          </a:prstGeom>
          <a:solidFill>
            <a:srgbClr val="CCC2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7E0FF8-62A1-4B03-8106-8957D756548C}"/>
              </a:ext>
            </a:extLst>
          </p:cNvPr>
          <p:cNvSpPr/>
          <p:nvPr/>
        </p:nvSpPr>
        <p:spPr>
          <a:xfrm>
            <a:off x="9622367" y="1031875"/>
            <a:ext cx="2057400" cy="3581913"/>
          </a:xfrm>
          <a:prstGeom prst="rect">
            <a:avLst/>
          </a:prstGeom>
          <a:solidFill>
            <a:srgbClr val="CCC2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D4E308-40DA-4698-AAB6-E02E30ADCC3E}"/>
              </a:ext>
            </a:extLst>
          </p:cNvPr>
          <p:cNvSpPr txBox="1"/>
          <p:nvPr/>
        </p:nvSpPr>
        <p:spPr>
          <a:xfrm>
            <a:off x="118353" y="4866153"/>
            <a:ext cx="12346917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每个模块的接口与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类似，内部运算逻辑不再赘述，可以自己稍作修改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比如最后一层仅有两个偏置，可直接使用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localparam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定义变量，不再单独存入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BRAM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ADE767-9013-407B-B8D9-ADE58B7CBBD8}"/>
              </a:ext>
            </a:extLst>
          </p:cNvPr>
          <p:cNvSpPr/>
          <p:nvPr/>
        </p:nvSpPr>
        <p:spPr>
          <a:xfrm>
            <a:off x="1619250" y="1031876"/>
            <a:ext cx="2057400" cy="3581915"/>
          </a:xfrm>
          <a:prstGeom prst="rect">
            <a:avLst/>
          </a:prstGeom>
          <a:solidFill>
            <a:srgbClr val="CCC2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53CE6CC-37E5-4049-A2D7-D0A43B3E178E}"/>
              </a:ext>
            </a:extLst>
          </p:cNvPr>
          <p:cNvCxnSpPr/>
          <p:nvPr/>
        </p:nvCxnSpPr>
        <p:spPr>
          <a:xfrm>
            <a:off x="723900" y="1312864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49FC2E3-230E-4209-AED5-6288A1C91B8B}"/>
              </a:ext>
            </a:extLst>
          </p:cNvPr>
          <p:cNvSpPr txBox="1"/>
          <p:nvPr/>
        </p:nvSpPr>
        <p:spPr>
          <a:xfrm>
            <a:off x="847725" y="992229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clk_i</a:t>
            </a:r>
            <a:endParaRPr lang="zh-CN" altLang="en-US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2DC30B7-E6EC-4DB6-BC6F-8C511DA1B6E5}"/>
              </a:ext>
            </a:extLst>
          </p:cNvPr>
          <p:cNvCxnSpPr/>
          <p:nvPr/>
        </p:nvCxnSpPr>
        <p:spPr>
          <a:xfrm>
            <a:off x="723900" y="1682196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259B06B-5510-47BB-BCA1-559BAB88AF08}"/>
              </a:ext>
            </a:extLst>
          </p:cNvPr>
          <p:cNvSpPr txBox="1"/>
          <p:nvPr/>
        </p:nvSpPr>
        <p:spPr>
          <a:xfrm>
            <a:off x="785813" y="1357335"/>
            <a:ext cx="771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rst_i</a:t>
            </a:r>
            <a:endParaRPr lang="zh-CN" altLang="en-US" b="1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DEA8D2A-B849-4C3F-8E48-BD99633B4D94}"/>
              </a:ext>
            </a:extLst>
          </p:cNvPr>
          <p:cNvCxnSpPr/>
          <p:nvPr/>
        </p:nvCxnSpPr>
        <p:spPr>
          <a:xfrm>
            <a:off x="704850" y="2047302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8F5CB58-05E3-48D7-A471-D8F042DE95F5}"/>
              </a:ext>
            </a:extLst>
          </p:cNvPr>
          <p:cNvSpPr txBox="1"/>
          <p:nvPr/>
        </p:nvSpPr>
        <p:spPr>
          <a:xfrm>
            <a:off x="695325" y="1744645"/>
            <a:ext cx="81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start_i</a:t>
            </a:r>
            <a:endParaRPr lang="zh-CN" altLang="en-US" b="1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41F95F2-3D96-4A05-A8C8-CC882A5407D0}"/>
              </a:ext>
            </a:extLst>
          </p:cNvPr>
          <p:cNvCxnSpPr/>
          <p:nvPr/>
        </p:nvCxnSpPr>
        <p:spPr>
          <a:xfrm>
            <a:off x="3781143" y="1264418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AB808319-F59E-484F-9EE6-0AA2855FA214}"/>
              </a:ext>
            </a:extLst>
          </p:cNvPr>
          <p:cNvSpPr txBox="1"/>
          <p:nvPr/>
        </p:nvSpPr>
        <p:spPr>
          <a:xfrm>
            <a:off x="3728755" y="943783"/>
            <a:ext cx="92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done_o</a:t>
            </a:r>
            <a:endParaRPr lang="zh-CN" altLang="en-US" b="1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A8CAEE5-95A4-4015-9976-9643023755DA}"/>
              </a:ext>
            </a:extLst>
          </p:cNvPr>
          <p:cNvCxnSpPr>
            <a:cxnSpLocks/>
          </p:cNvCxnSpPr>
          <p:nvPr/>
        </p:nvCxnSpPr>
        <p:spPr>
          <a:xfrm>
            <a:off x="91278" y="2524214"/>
            <a:ext cx="15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2D64AD81-86E7-430C-A827-ED01353C66DF}"/>
              </a:ext>
            </a:extLst>
          </p:cNvPr>
          <p:cNvSpPr txBox="1"/>
          <p:nvPr/>
        </p:nvSpPr>
        <p:spPr>
          <a:xfrm>
            <a:off x="128386" y="2200678"/>
            <a:ext cx="164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input_data_i</a:t>
            </a:r>
            <a:endParaRPr lang="zh-CN" altLang="en-US" b="1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F9E68E2-06F9-4586-BB45-3498AD24D5E8}"/>
              </a:ext>
            </a:extLst>
          </p:cNvPr>
          <p:cNvCxnSpPr>
            <a:cxnSpLocks/>
          </p:cNvCxnSpPr>
          <p:nvPr/>
        </p:nvCxnSpPr>
        <p:spPr>
          <a:xfrm>
            <a:off x="3781143" y="1678221"/>
            <a:ext cx="2105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807EE79-5E1B-4B64-B94F-CE161F6552D3}"/>
              </a:ext>
            </a:extLst>
          </p:cNvPr>
          <p:cNvSpPr txBox="1"/>
          <p:nvPr/>
        </p:nvSpPr>
        <p:spPr>
          <a:xfrm>
            <a:off x="3562068" y="1361564"/>
            <a:ext cx="232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input_data_addr_o</a:t>
            </a:r>
            <a:endParaRPr lang="zh-CN" altLang="en-US" b="1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AEA3AEA-CD91-4A18-9CB4-7C31D19E102F}"/>
              </a:ext>
            </a:extLst>
          </p:cNvPr>
          <p:cNvCxnSpPr>
            <a:cxnSpLocks/>
          </p:cNvCxnSpPr>
          <p:nvPr/>
        </p:nvCxnSpPr>
        <p:spPr>
          <a:xfrm>
            <a:off x="3762291" y="2099717"/>
            <a:ext cx="2105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829E82F6-9246-481E-A8CA-ECF6D647743D}"/>
              </a:ext>
            </a:extLst>
          </p:cNvPr>
          <p:cNvSpPr txBox="1"/>
          <p:nvPr/>
        </p:nvSpPr>
        <p:spPr>
          <a:xfrm>
            <a:off x="3550955" y="1730385"/>
            <a:ext cx="191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weight_addr_o</a:t>
            </a:r>
            <a:endParaRPr lang="zh-CN" altLang="en-US" b="1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3AD02EE-5D20-4FF8-8C16-F590A7F576F3}"/>
              </a:ext>
            </a:extLst>
          </p:cNvPr>
          <p:cNvCxnSpPr>
            <a:cxnSpLocks/>
          </p:cNvCxnSpPr>
          <p:nvPr/>
        </p:nvCxnSpPr>
        <p:spPr>
          <a:xfrm>
            <a:off x="767552" y="2966736"/>
            <a:ext cx="8485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7F57EE38-6AFE-4F9E-BC15-485B021359CF}"/>
              </a:ext>
            </a:extLst>
          </p:cNvPr>
          <p:cNvSpPr txBox="1"/>
          <p:nvPr/>
        </p:nvSpPr>
        <p:spPr>
          <a:xfrm>
            <a:off x="291304" y="2633794"/>
            <a:ext cx="175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weight_i</a:t>
            </a:r>
            <a:endParaRPr lang="zh-CN" altLang="en-US" b="1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D81E25C-E38A-49C3-91A9-904BCF7F43E5}"/>
              </a:ext>
            </a:extLst>
          </p:cNvPr>
          <p:cNvCxnSpPr>
            <a:cxnSpLocks/>
          </p:cNvCxnSpPr>
          <p:nvPr/>
        </p:nvCxnSpPr>
        <p:spPr>
          <a:xfrm>
            <a:off x="793753" y="3436400"/>
            <a:ext cx="838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242FC21-8505-40CF-B37F-9B028D2D9AA8}"/>
              </a:ext>
            </a:extLst>
          </p:cNvPr>
          <p:cNvSpPr txBox="1"/>
          <p:nvPr/>
        </p:nvSpPr>
        <p:spPr>
          <a:xfrm>
            <a:off x="785813" y="3118851"/>
            <a:ext cx="923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bias_i</a:t>
            </a:r>
            <a:endParaRPr lang="zh-CN" altLang="en-US" b="1" dirty="0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E2EA75D-39A7-4594-BCC4-63B53A186D6D}"/>
              </a:ext>
            </a:extLst>
          </p:cNvPr>
          <p:cNvCxnSpPr>
            <a:cxnSpLocks/>
          </p:cNvCxnSpPr>
          <p:nvPr/>
        </p:nvCxnSpPr>
        <p:spPr>
          <a:xfrm>
            <a:off x="3753562" y="2964632"/>
            <a:ext cx="2105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9F9CDF4C-39B3-49CF-BF39-7A41C3155899}"/>
              </a:ext>
            </a:extLst>
          </p:cNvPr>
          <p:cNvSpPr txBox="1"/>
          <p:nvPr/>
        </p:nvSpPr>
        <p:spPr>
          <a:xfrm>
            <a:off x="3523374" y="2627319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fc_output_wren_o</a:t>
            </a:r>
            <a:endParaRPr lang="zh-CN" altLang="en-US" b="1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22DC7D9-93B9-4BA8-8F94-F96D3A1CFE06}"/>
              </a:ext>
            </a:extLst>
          </p:cNvPr>
          <p:cNvCxnSpPr>
            <a:cxnSpLocks/>
          </p:cNvCxnSpPr>
          <p:nvPr/>
        </p:nvCxnSpPr>
        <p:spPr>
          <a:xfrm>
            <a:off x="3753562" y="3454082"/>
            <a:ext cx="2105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0AAF2AAE-166A-4F28-AFFC-807A09A722E0}"/>
              </a:ext>
            </a:extLst>
          </p:cNvPr>
          <p:cNvSpPr txBox="1"/>
          <p:nvPr/>
        </p:nvSpPr>
        <p:spPr>
          <a:xfrm>
            <a:off x="3669823" y="3108025"/>
            <a:ext cx="191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fc_output_data_o</a:t>
            </a:r>
            <a:endParaRPr lang="zh-CN" altLang="en-US" b="1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9E1BBFE6-D6C1-4C52-B1AE-4DD14CA10BAD}"/>
              </a:ext>
            </a:extLst>
          </p:cNvPr>
          <p:cNvCxnSpPr>
            <a:cxnSpLocks/>
          </p:cNvCxnSpPr>
          <p:nvPr/>
        </p:nvCxnSpPr>
        <p:spPr>
          <a:xfrm>
            <a:off x="3742449" y="3879495"/>
            <a:ext cx="2105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45CBC0BE-5582-4258-9872-56FBA02CE4FC}"/>
              </a:ext>
            </a:extLst>
          </p:cNvPr>
          <p:cNvSpPr txBox="1"/>
          <p:nvPr/>
        </p:nvSpPr>
        <p:spPr>
          <a:xfrm>
            <a:off x="3690061" y="3542182"/>
            <a:ext cx="191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fc_output_addr_o</a:t>
            </a:r>
            <a:endParaRPr lang="zh-CN" altLang="en-US" b="1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FD6656D5-769D-4AAB-BC3D-17893A38BC09}"/>
              </a:ext>
            </a:extLst>
          </p:cNvPr>
          <p:cNvCxnSpPr>
            <a:cxnSpLocks/>
          </p:cNvCxnSpPr>
          <p:nvPr/>
        </p:nvCxnSpPr>
        <p:spPr>
          <a:xfrm>
            <a:off x="3781143" y="2523217"/>
            <a:ext cx="13765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848DB9FC-81F3-4AA8-A9DF-648341904DA9}"/>
              </a:ext>
            </a:extLst>
          </p:cNvPr>
          <p:cNvSpPr txBox="1"/>
          <p:nvPr/>
        </p:nvSpPr>
        <p:spPr>
          <a:xfrm>
            <a:off x="3656527" y="2187816"/>
            <a:ext cx="150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bias_addr_o</a:t>
            </a:r>
            <a:endParaRPr lang="zh-CN" altLang="en-US" b="1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E19F808-D05A-13A3-AD8D-641ED3E36AFF}"/>
              </a:ext>
            </a:extLst>
          </p:cNvPr>
          <p:cNvCxnSpPr>
            <a:cxnSpLocks/>
          </p:cNvCxnSpPr>
          <p:nvPr/>
        </p:nvCxnSpPr>
        <p:spPr>
          <a:xfrm>
            <a:off x="118353" y="3949392"/>
            <a:ext cx="15093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1C5B7FBC-7FE0-AFB1-EEBA-ECFAAFDCF26F}"/>
              </a:ext>
            </a:extLst>
          </p:cNvPr>
          <p:cNvSpPr txBox="1"/>
          <p:nvPr/>
        </p:nvSpPr>
        <p:spPr>
          <a:xfrm>
            <a:off x="94046" y="3585037"/>
            <a:ext cx="1519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mul_result_i</a:t>
            </a:r>
            <a:endParaRPr lang="zh-CN" altLang="en-US" b="1" dirty="0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6C24A67-31B0-5106-5DA3-823F87EB1966}"/>
              </a:ext>
            </a:extLst>
          </p:cNvPr>
          <p:cNvCxnSpPr>
            <a:cxnSpLocks/>
          </p:cNvCxnSpPr>
          <p:nvPr/>
        </p:nvCxnSpPr>
        <p:spPr>
          <a:xfrm>
            <a:off x="3742449" y="4240181"/>
            <a:ext cx="2105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A4924FB7-8DA8-ADD6-D8F7-86DC4D39CEC9}"/>
              </a:ext>
            </a:extLst>
          </p:cNvPr>
          <p:cNvSpPr txBox="1"/>
          <p:nvPr/>
        </p:nvSpPr>
        <p:spPr>
          <a:xfrm>
            <a:off x="3458156" y="3919013"/>
            <a:ext cx="191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mul_data1_o</a:t>
            </a:r>
            <a:endParaRPr lang="zh-CN" altLang="en-US" b="1" dirty="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A864B55-AF81-16B8-D66E-5B5ED937AE32}"/>
              </a:ext>
            </a:extLst>
          </p:cNvPr>
          <p:cNvCxnSpPr>
            <a:cxnSpLocks/>
          </p:cNvCxnSpPr>
          <p:nvPr/>
        </p:nvCxnSpPr>
        <p:spPr>
          <a:xfrm>
            <a:off x="3753561" y="4599418"/>
            <a:ext cx="2105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03D086B3-2271-907B-0ED1-D4327DB6C44B}"/>
              </a:ext>
            </a:extLst>
          </p:cNvPr>
          <p:cNvSpPr txBox="1"/>
          <p:nvPr/>
        </p:nvSpPr>
        <p:spPr>
          <a:xfrm>
            <a:off x="3440728" y="4230086"/>
            <a:ext cx="191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mul_data2_o</a:t>
            </a:r>
            <a:endParaRPr lang="zh-CN" altLang="en-US" b="1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8DF4007-C43E-904B-8982-6A1FC9132734}"/>
              </a:ext>
            </a:extLst>
          </p:cNvPr>
          <p:cNvSpPr/>
          <p:nvPr/>
        </p:nvSpPr>
        <p:spPr>
          <a:xfrm>
            <a:off x="1683564" y="2525873"/>
            <a:ext cx="1933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Lab4 Design)</a:t>
            </a:r>
            <a:endParaRPr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827B012-68D7-CA43-85A7-787C1ECE9DBB}"/>
              </a:ext>
            </a:extLst>
          </p:cNvPr>
          <p:cNvSpPr/>
          <p:nvPr/>
        </p:nvSpPr>
        <p:spPr>
          <a:xfrm>
            <a:off x="7158932" y="266437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16C2D14-A63F-5F4B-B140-038B582C02A4}"/>
              </a:ext>
            </a:extLst>
          </p:cNvPr>
          <p:cNvSpPr/>
          <p:nvPr/>
        </p:nvSpPr>
        <p:spPr>
          <a:xfrm>
            <a:off x="10212485" y="266437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7687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A566C-F787-4692-BDB0-17847C83F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9688" y="225425"/>
            <a:ext cx="1952624" cy="615950"/>
          </a:xfrm>
        </p:spPr>
        <p:txBody>
          <a:bodyPr/>
          <a:lstStyle/>
          <a:p>
            <a:r>
              <a:rPr lang="zh-CN" altLang="en-US" dirty="0"/>
              <a:t>设计提示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DC9DD3-071D-4A22-AF48-70B06B98B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615" y="979734"/>
            <a:ext cx="11330152" cy="47513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延续</a:t>
            </a:r>
            <a:r>
              <a:rPr lang="en-US" altLang="zh-CN" dirty="0"/>
              <a:t>Lab4</a:t>
            </a:r>
            <a:r>
              <a:rPr lang="zh-CN" altLang="en-US" dirty="0"/>
              <a:t>提供的代码逻辑，后两个全连接层</a:t>
            </a:r>
            <a:r>
              <a:rPr lang="zh-CN" altLang="en-US" dirty="0">
                <a:solidFill>
                  <a:srgbClr val="FF0000"/>
                </a:solidFill>
              </a:rPr>
              <a:t>各自作为一个</a:t>
            </a:r>
            <a:r>
              <a:rPr lang="en-US" altLang="zh-CN" dirty="0">
                <a:solidFill>
                  <a:srgbClr val="FF0000"/>
                </a:solidFill>
              </a:rPr>
              <a:t>module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zh-CN" altLang="en-US" dirty="0"/>
              <a:t>（即每层对应一个</a:t>
            </a:r>
            <a:r>
              <a:rPr lang="en-US" altLang="zh-CN" dirty="0" err="1"/>
              <a:t>verilog</a:t>
            </a:r>
            <a:r>
              <a:rPr lang="zh-CN" altLang="en-US" dirty="0"/>
              <a:t>文件），同时还要生成每一层对应的</a:t>
            </a:r>
            <a:r>
              <a:rPr lang="en-US" altLang="zh-CN" dirty="0"/>
              <a:t>RAM</a:t>
            </a:r>
            <a:r>
              <a:rPr lang="zh-CN" altLang="en-US" dirty="0"/>
              <a:t>模块、乘法器阵列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后两层的运算逻辑需自行设计，注意需要随之调整</a:t>
            </a:r>
            <a:r>
              <a:rPr lang="zh-CN" altLang="en-US" dirty="0">
                <a:highlight>
                  <a:srgbClr val="FFFF00"/>
                </a:highlight>
                <a:uFill>
                  <a:solidFill>
                    <a:srgbClr val="C00000"/>
                  </a:solidFill>
                </a:uFill>
              </a:rPr>
              <a:t>前一层输出结果逻辑</a:t>
            </a:r>
            <a:r>
              <a:rPr lang="zh-CN" altLang="en-US" dirty="0"/>
              <a:t>，</a:t>
            </a:r>
            <a:r>
              <a:rPr lang="zh-CN" altLang="en-US" dirty="0">
                <a:highlight>
                  <a:srgbClr val="FFFF00"/>
                </a:highlight>
              </a:rPr>
              <a:t>当前层权重的</a:t>
            </a:r>
            <a:r>
              <a:rPr lang="en-US" altLang="zh-CN" dirty="0" err="1">
                <a:highlight>
                  <a:srgbClr val="FFFF00"/>
                </a:highlight>
              </a:rPr>
              <a:t>coe</a:t>
            </a:r>
            <a:r>
              <a:rPr lang="zh-CN" altLang="en-US" dirty="0">
                <a:highlight>
                  <a:srgbClr val="FFFF00"/>
                </a:highlight>
              </a:rPr>
              <a:t>文件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B81766-9106-4F9F-AC64-618CABE73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2025/9/27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656AF8-687C-43E3-A2B8-5F76DAA88D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67F30D-CC50-4AF3-AB1A-24D702AD2813}"/>
              </a:ext>
            </a:extLst>
          </p:cNvPr>
          <p:cNvSpPr txBox="1"/>
          <p:nvPr/>
        </p:nvSpPr>
        <p:spPr>
          <a:xfrm>
            <a:off x="2259012" y="4593370"/>
            <a:ext cx="9323388" cy="142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比如第二层还是想四次完成一个输出通道的计算，那么每次需要进行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128/4=32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个权重和输入数据的乘法，于是可以在第一层输出结果那里加一个计数器，每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个输出结果存到一个地址里面，同时第二层的权重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每个地址也是存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个数据</a:t>
            </a:r>
          </a:p>
        </p:txBody>
      </p:sp>
      <p:sp>
        <p:nvSpPr>
          <p:cNvPr id="8" name="箭头: 直角上 7">
            <a:extLst>
              <a:ext uri="{FF2B5EF4-FFF2-40B4-BE49-F238E27FC236}">
                <a16:creationId xmlns:a16="http://schemas.microsoft.com/office/drawing/2014/main" id="{937153C1-5219-4EC6-824D-0909C99FDC4B}"/>
              </a:ext>
            </a:extLst>
          </p:cNvPr>
          <p:cNvSpPr/>
          <p:nvPr/>
        </p:nvSpPr>
        <p:spPr>
          <a:xfrm rot="5400000">
            <a:off x="1265237" y="4515247"/>
            <a:ext cx="933450" cy="790575"/>
          </a:xfrm>
          <a:prstGeom prst="bent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579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71DED-B302-4755-A92A-EDB99EF3E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182563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设计提示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A06FA0-C8F2-4489-8263-03598BD34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16" y="1122363"/>
            <a:ext cx="11451167" cy="523398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600" dirty="0"/>
              <a:t>为什么每层需要单独生成对应的乘法器阵列？</a:t>
            </a:r>
            <a:endParaRPr lang="en-US" altLang="zh-CN" sz="2600" dirty="0"/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600" dirty="0"/>
              <a:t>由于不做截位处理，数据的位数是不断增加的，此时的乘法器阵列无法共用</a:t>
            </a:r>
            <a:endParaRPr lang="en-US" altLang="zh-CN" sz="2600" dirty="0"/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600" dirty="0"/>
              <a:t>使用</a:t>
            </a:r>
            <a:r>
              <a:rPr lang="en-US" altLang="zh-CN" sz="2600" dirty="0"/>
              <a:t>multiplier IP</a:t>
            </a:r>
            <a:r>
              <a:rPr lang="zh-CN" altLang="en-US" sz="2600" dirty="0"/>
              <a:t>核生成的乘法器的运算延迟可能会随着乘数的位数变化而改变，这就意味着延迟链的深度可能发生变化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D42A5C-2E45-4A2A-9C9E-529171C0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2025/9/27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6B37B4-C7BC-4C85-9E03-90CC16FFB1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89A8727-199F-415B-896D-149737621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257" y="3739357"/>
            <a:ext cx="4114286" cy="223809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E08B2D6-2A3E-4FDE-A778-D268522D0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624" y="4325070"/>
            <a:ext cx="5257143" cy="1066667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B9343761-0023-4E8D-A2DF-6E415AAEBE3A}"/>
              </a:ext>
            </a:extLst>
          </p:cNvPr>
          <p:cNvSpPr/>
          <p:nvPr/>
        </p:nvSpPr>
        <p:spPr>
          <a:xfrm>
            <a:off x="5511543" y="4667250"/>
            <a:ext cx="822582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4BB6833-F922-48DD-A83A-BBEEA0A568DC}"/>
              </a:ext>
            </a:extLst>
          </p:cNvPr>
          <p:cNvSpPr/>
          <p:nvPr/>
        </p:nvSpPr>
        <p:spPr>
          <a:xfrm>
            <a:off x="7705725" y="4524375"/>
            <a:ext cx="1800225" cy="66675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F936C4-7396-405E-82A5-95F18F2459BE}"/>
              </a:ext>
            </a:extLst>
          </p:cNvPr>
          <p:cNvSpPr txBox="1"/>
          <p:nvPr/>
        </p:nvSpPr>
        <p:spPr>
          <a:xfrm>
            <a:off x="8064828" y="5409271"/>
            <a:ext cx="1082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不等于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6199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56E90-A29A-4BEB-A870-5EB1CDAB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0" y="290513"/>
            <a:ext cx="2844799" cy="615950"/>
          </a:xfrm>
        </p:spPr>
        <p:txBody>
          <a:bodyPr/>
          <a:lstStyle/>
          <a:p>
            <a:r>
              <a:rPr lang="zh-CN" altLang="en-US" dirty="0"/>
              <a:t>仿真结果示例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C7C106-481B-41E2-A0C2-49BEECF5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2025/9/27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A0862A-CD6A-4CE9-A843-688C9B9E94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387B12C-EDB4-4190-8DB2-017B375EE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455" y="988965"/>
            <a:ext cx="10146545" cy="492569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577F9C7-D241-4772-BC50-CC3B6F236C80}"/>
              </a:ext>
            </a:extLst>
          </p:cNvPr>
          <p:cNvSpPr txBox="1"/>
          <p:nvPr/>
        </p:nvSpPr>
        <p:spPr>
          <a:xfrm>
            <a:off x="361708" y="2655304"/>
            <a:ext cx="15249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第二全连接层</a:t>
            </a:r>
          </a:p>
        </p:txBody>
      </p:sp>
    </p:spTree>
    <p:extLst>
      <p:ext uri="{BB962C8B-B14F-4D97-AF65-F5344CB8AC3E}">
        <p14:creationId xmlns:p14="http://schemas.microsoft.com/office/powerpoint/2010/main" val="1271398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71DED-B302-4755-A92A-EDB99EF3E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182563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分数权重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D42A5C-2E45-4A2A-9C9E-529171C0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2025/9/27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6B37B4-C7BC-4C85-9E03-90CC16FFB1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B963585-DF57-B943-ADD3-B5200682A460}"/>
              </a:ext>
            </a:extLst>
          </p:cNvPr>
          <p:cNvSpPr txBox="1">
            <a:spLocks/>
          </p:cNvSpPr>
          <p:nvPr/>
        </p:nvSpPr>
        <p:spPr bwMode="auto">
          <a:xfrm>
            <a:off x="241520" y="988291"/>
            <a:ext cx="11807726" cy="2386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457200" indent="-4572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3000" dirty="0">
                <a:solidFill>
                  <a:schemeClr val="tx1"/>
                </a:solidFill>
              </a:rPr>
              <a:t>课程考核方式：</a:t>
            </a:r>
            <a:r>
              <a:rPr lang="zh-CN" altLang="en-US" sz="3000" dirty="0">
                <a:cs typeface="Arial" panose="020B0604020202020204" pitchFamily="34" charset="0"/>
              </a:rPr>
              <a:t>过程</a:t>
            </a:r>
            <a:r>
              <a:rPr lang="en-US" altLang="zh-CN" sz="3000" dirty="0">
                <a:cs typeface="Arial" panose="020B0604020202020204" pitchFamily="34" charset="0"/>
              </a:rPr>
              <a:t>30</a:t>
            </a:r>
            <a:r>
              <a:rPr lang="zh-CN" altLang="en-US" sz="3000" dirty="0"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cs typeface="Arial" panose="020B0604020202020204" pitchFamily="34" charset="0"/>
              </a:rPr>
              <a:t>MOOC10</a:t>
            </a:r>
            <a:r>
              <a:rPr lang="zh-CN" altLang="en-US" sz="3000" dirty="0">
                <a:cs typeface="Arial" panose="020B0604020202020204" pitchFamily="34" charset="0"/>
              </a:rPr>
              <a:t>，报告</a:t>
            </a:r>
            <a:r>
              <a:rPr lang="en-US" altLang="zh-CN" sz="3000" dirty="0">
                <a:cs typeface="Arial" panose="020B0604020202020204" pitchFamily="34" charset="0"/>
              </a:rPr>
              <a:t>40</a:t>
            </a:r>
            <a:r>
              <a:rPr lang="zh-CN" altLang="en-US" sz="3000" dirty="0">
                <a:cs typeface="Arial" panose="020B0604020202020204" pitchFamily="34" charset="0"/>
              </a:rPr>
              <a:t>，答辩</a:t>
            </a:r>
            <a:r>
              <a:rPr lang="en-US" altLang="zh-CN" sz="3000" dirty="0">
                <a:cs typeface="Arial" panose="020B0604020202020204" pitchFamily="34" charset="0"/>
              </a:rPr>
              <a:t>20</a:t>
            </a:r>
            <a:endParaRPr lang="en-US" altLang="zh-CN" sz="30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3000" dirty="0">
                <a:solidFill>
                  <a:schemeClr val="tx1"/>
                </a:solidFill>
              </a:rPr>
              <a:t>其中，</a:t>
            </a:r>
            <a:r>
              <a:rPr lang="zh-CN" altLang="en-US" sz="3000" dirty="0">
                <a:cs typeface="Arial" panose="020B0604020202020204" pitchFamily="34" charset="0"/>
              </a:rPr>
              <a:t>报告</a:t>
            </a:r>
            <a:r>
              <a:rPr lang="zh-CN" altLang="en-US" sz="3000" dirty="0">
                <a:solidFill>
                  <a:schemeClr val="tx1"/>
                </a:solidFill>
                <a:cs typeface="Arial" panose="020B0604020202020204" pitchFamily="34" charset="0"/>
              </a:rPr>
              <a:t>部分，</a:t>
            </a:r>
            <a:r>
              <a:rPr lang="zh-CN" altLang="en-US" sz="3000" dirty="0">
                <a:solidFill>
                  <a:schemeClr val="tx1"/>
                </a:solidFill>
              </a:rPr>
              <a:t>小组得分为</a:t>
            </a:r>
            <a:r>
              <a:rPr lang="zh-CN" altLang="en-US" sz="3000" dirty="0">
                <a:solidFill>
                  <a:srgbClr val="FF0000"/>
                </a:solidFill>
              </a:rPr>
              <a:t>基数</a:t>
            </a:r>
            <a:r>
              <a:rPr lang="zh-CN" altLang="en-US" sz="3000" dirty="0">
                <a:solidFill>
                  <a:schemeClr val="tx1"/>
                </a:solidFill>
              </a:rPr>
              <a:t>，请同学自行分配</a:t>
            </a:r>
            <a:r>
              <a:rPr lang="zh-CN" altLang="en-US" sz="3000" dirty="0">
                <a:solidFill>
                  <a:srgbClr val="FF0000"/>
                </a:solidFill>
              </a:rPr>
              <a:t>组内分数权重</a:t>
            </a:r>
            <a:r>
              <a:rPr lang="zh-CN" altLang="en-US" sz="3000" dirty="0">
                <a:solidFill>
                  <a:schemeClr val="tx1"/>
                </a:solidFill>
              </a:rPr>
              <a:t>（均值为</a:t>
            </a:r>
            <a:r>
              <a:rPr lang="en-US" altLang="zh-CN" sz="3000" dirty="0">
                <a:solidFill>
                  <a:schemeClr val="tx1"/>
                </a:solidFill>
              </a:rPr>
              <a:t>1</a:t>
            </a:r>
            <a:r>
              <a:rPr lang="zh-CN" altLang="en-US" sz="3000" dirty="0">
                <a:solidFill>
                  <a:schemeClr val="tx1"/>
                </a:solidFill>
              </a:rPr>
              <a:t>），获得各自最终分数（浮动不超过</a:t>
            </a:r>
            <a:r>
              <a:rPr lang="en-US" altLang="zh-CN" sz="3000" dirty="0">
                <a:solidFill>
                  <a:schemeClr val="tx1"/>
                </a:solidFill>
              </a:rPr>
              <a:t>5</a:t>
            </a:r>
            <a:r>
              <a:rPr lang="zh-CN" altLang="en-US" sz="3000" dirty="0">
                <a:solidFill>
                  <a:schemeClr val="tx1"/>
                </a:solidFill>
              </a:rPr>
              <a:t>分）</a:t>
            </a:r>
            <a:endParaRPr lang="en-US" altLang="zh-CN" sz="30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3000" dirty="0">
                <a:solidFill>
                  <a:schemeClr val="tx1"/>
                </a:solidFill>
              </a:rPr>
              <a:t>例如：小组</a:t>
            </a:r>
            <a:r>
              <a:rPr lang="en-US" altLang="zh-CN" sz="3000" dirty="0">
                <a:solidFill>
                  <a:schemeClr val="tx1"/>
                </a:solidFill>
              </a:rPr>
              <a:t>30</a:t>
            </a:r>
            <a:r>
              <a:rPr lang="zh-CN" altLang="en-US" sz="3000" dirty="0">
                <a:solidFill>
                  <a:schemeClr val="tx1"/>
                </a:solidFill>
              </a:rPr>
              <a:t>分，各人分数为</a:t>
            </a:r>
            <a:r>
              <a:rPr lang="en-US" altLang="zh-CN" sz="3000" dirty="0">
                <a:solidFill>
                  <a:schemeClr val="tx1"/>
                </a:solidFill>
              </a:rPr>
              <a:t>35</a:t>
            </a:r>
            <a:r>
              <a:rPr lang="zh-CN" altLang="en-US" sz="3000" dirty="0">
                <a:solidFill>
                  <a:schemeClr val="tx1"/>
                </a:solidFill>
              </a:rPr>
              <a:t>，</a:t>
            </a:r>
            <a:r>
              <a:rPr lang="en-US" altLang="zh-CN" sz="3000" dirty="0">
                <a:solidFill>
                  <a:schemeClr val="tx1"/>
                </a:solidFill>
              </a:rPr>
              <a:t>30</a:t>
            </a:r>
            <a:r>
              <a:rPr lang="zh-CN" altLang="en-US" sz="3000" dirty="0">
                <a:solidFill>
                  <a:schemeClr val="tx1"/>
                </a:solidFill>
              </a:rPr>
              <a:t>，</a:t>
            </a:r>
            <a:r>
              <a:rPr lang="en-US" altLang="zh-CN" sz="3000" dirty="0">
                <a:solidFill>
                  <a:schemeClr val="tx1"/>
                </a:solidFill>
              </a:rPr>
              <a:t>27</a:t>
            </a:r>
            <a:r>
              <a:rPr lang="zh-CN" altLang="en-US" sz="3000" dirty="0">
                <a:solidFill>
                  <a:schemeClr val="tx1"/>
                </a:solidFill>
              </a:rPr>
              <a:t>，</a:t>
            </a:r>
            <a:r>
              <a:rPr lang="en-US" altLang="zh-CN" sz="3000" dirty="0">
                <a:solidFill>
                  <a:schemeClr val="tx1"/>
                </a:solidFill>
              </a:rPr>
              <a:t>27</a:t>
            </a:r>
            <a:br>
              <a:rPr lang="en-US" altLang="zh-CN" sz="3000" dirty="0">
                <a:solidFill>
                  <a:schemeClr val="tx1"/>
                </a:solidFill>
              </a:rPr>
            </a:br>
            <a:endParaRPr lang="en-US" altLang="zh-CN" sz="3000" dirty="0">
              <a:solidFill>
                <a:schemeClr val="tx1"/>
              </a:solidFill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3000" dirty="0">
              <a:solidFill>
                <a:srgbClr val="FF0000"/>
              </a:solidFill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95EC814-FA1A-1F4A-9F04-11F51F07B0F8}"/>
              </a:ext>
            </a:extLst>
          </p:cNvPr>
          <p:cNvSpPr/>
          <p:nvPr/>
        </p:nvSpPr>
        <p:spPr>
          <a:xfrm>
            <a:off x="509286" y="3935392"/>
            <a:ext cx="3634451" cy="19445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权重只为体现小组内差异，褒奖工作量大的同学，不影响和其他小组的比较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0CD3609-AE74-1A45-91DB-31CE6A7B0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90" y="3677252"/>
            <a:ext cx="6901084" cy="247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5169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1650</TotalTime>
  <Words>753</Words>
  <Application>Microsoft Macintosh PowerPoint</Application>
  <PresentationFormat>宽屏</PresentationFormat>
  <Paragraphs>115</Paragraphs>
  <Slides>11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宋体</vt:lpstr>
      <vt:lpstr>微软雅黑</vt:lpstr>
      <vt:lpstr>Arial</vt:lpstr>
      <vt:lpstr>Calibri</vt:lpstr>
      <vt:lpstr>Impact</vt:lpstr>
      <vt:lpstr>Wingdings</vt:lpstr>
      <vt:lpstr>1_自定义设计方案</vt:lpstr>
      <vt:lpstr>PowerPoint 演示文稿</vt:lpstr>
      <vt:lpstr>实验总览</vt:lpstr>
      <vt:lpstr> </vt:lpstr>
      <vt:lpstr>实验内容</vt:lpstr>
      <vt:lpstr>验收方式</vt:lpstr>
      <vt:lpstr>验收方式</vt:lpstr>
      <vt:lpstr>设计提示</vt:lpstr>
      <vt:lpstr>设计提示</vt:lpstr>
      <vt:lpstr>设计提示</vt:lpstr>
      <vt:lpstr>仿真结果示例</vt:lpstr>
      <vt:lpstr>分数权重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实验三：实现三层全连接计算模块</dc:title>
  <dc:creator>升旭 王</dc:creator>
  <cp:lastModifiedBy>Shanshan Liu</cp:lastModifiedBy>
  <cp:revision>125</cp:revision>
  <dcterms:created xsi:type="dcterms:W3CDTF">2025-07-20T06:28:46Z</dcterms:created>
  <dcterms:modified xsi:type="dcterms:W3CDTF">2025-09-27T14:48:31Z</dcterms:modified>
</cp:coreProperties>
</file>