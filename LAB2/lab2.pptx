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1527" r:id="rId2"/>
    <p:sldId id="1528" r:id="rId3"/>
    <p:sldId id="1529" r:id="rId4"/>
    <p:sldId id="1530" r:id="rId5"/>
    <p:sldId id="1531" r:id="rId6"/>
    <p:sldId id="1532" r:id="rId7"/>
    <p:sldId id="1533" r:id="rId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28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75" y="2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EB364AA-F6C1-45EF-B90F-1E61DEDA73C4}" type="datetimeFigureOut">
              <a:rPr lang="zh-CN" altLang="en-US" smtClean="0"/>
              <a:t>2025/9/8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50B8040-2128-407F-8267-45A1FE33AB5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259605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B291A7-793D-4EDA-AEE7-95EEEE2AF854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5476855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D14E9C-4528-EEAB-4EBC-770F165834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50E5956-34FA-6BF4-BCBC-4CBB7EB554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11C4FDC-2700-A801-3E8D-9432EBF188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E209B99-3EFE-249D-257E-C0525FD02F2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B291A7-793D-4EDA-AEE7-95EEEE2AF854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5894170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15F981-F3B7-9B7D-2241-5E8D56FC23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F7D0464-338E-62DF-6D17-F981D3DF635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69D8CCA-D4F2-DE2B-8D48-7203E94DD1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D9E9315-0B33-8DE3-5AE3-DF93A117565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B291A7-793D-4EDA-AEE7-95EEEE2AF854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1733308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90BCA9-0C46-EB2C-5D3C-1C02CC4077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6E3A631F-6C73-C258-2119-4D5637F2652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A25A8502-2894-69AC-8E07-FE03A9D03B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DBDD632-B01C-C2F7-703A-C7AD988E0FA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B291A7-793D-4EDA-AEE7-95EEEE2AF854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6382230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F20638-6F21-259E-55D8-C6DFED58EC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EBED78E-053E-BD52-6951-14F65B4031C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766E6CD-B250-0488-10CE-C81650DC25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8F02F1E-8504-96E2-B156-7D3ED295D5F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B291A7-793D-4EDA-AEE7-95EEEE2AF854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9497343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FD0CCE-277F-0554-3139-ED24225272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5EABBBF-776F-550C-13C4-1A205F1BC64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A5775AA-EDF7-ABE1-0C0D-C4C2AD287F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606E090-BBA2-042C-9EF0-E9DDD04689C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B291A7-793D-4EDA-AEE7-95EEEE2AF854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0329354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4AA71E-8CFD-67A8-7CA9-3798ACF34C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08213619-BB4B-8AF9-42CD-E527C9C4DC1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E3BCCBF-F037-F90F-D091-2F5414FC0A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F3D234D-5450-878B-AC2D-A0D8A1DEDDD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B291A7-793D-4EDA-AEE7-95EEEE2AF854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404752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ADBD494-471D-DA79-C438-86C043CC1C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A8BA3EB7-042D-CC4E-C015-CFEDBBF2B4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A05FB10-416C-6683-0754-1B89BC04DD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B1321-EEE7-46C5-9496-14185FA16055}" type="datetimeFigureOut">
              <a:rPr lang="zh-CN" altLang="en-US" smtClean="0"/>
              <a:t>2025/9/8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AE22711-B854-C2F1-5B50-5C4960C21D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58821D4-97E9-9823-87D1-F116E90DF3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00DB31-2326-4150-9A83-5CDA3FD4245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4135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C072818-D175-2721-248E-A91BCD2A43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A24CC02-EFCC-452D-F05A-01DC5C98E4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74C1B8A-7BD4-1397-3657-26D150D37E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B1321-EEE7-46C5-9496-14185FA16055}" type="datetimeFigureOut">
              <a:rPr lang="zh-CN" altLang="en-US" smtClean="0"/>
              <a:t>2025/9/8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EFC73BA-8519-24A4-8164-A851126C81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D710351-8315-45EA-204C-7618843F1E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00DB31-2326-4150-9A83-5CDA3FD4245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96668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55EF3C2-D92A-BE7B-BDD2-44AB3C7BE0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8411EEF-9D8F-5946-DD44-3FA61A4834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AFD563D-7D72-7C47-3C16-0E8EBEFB51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B1321-EEE7-46C5-9496-14185FA16055}" type="datetimeFigureOut">
              <a:rPr lang="zh-CN" altLang="en-US" smtClean="0"/>
              <a:t>2025/9/8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B92D0A7-CE5F-E274-C023-5FAE85F404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2636ABB-6D0D-698D-9D43-0CADEFE79F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00DB31-2326-4150-9A83-5CDA3FD4245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774076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549B496-EEC5-B222-FB2E-17F1009780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B443C41-F3B1-5755-57F6-B293E271756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D27F2A2-5DFF-3E9A-7C23-07D1BEEC25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5840AF5-5B9F-9E27-8C66-DF58A990F9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B1321-EEE7-46C5-9496-14185FA16055}" type="datetimeFigureOut">
              <a:rPr lang="zh-CN" altLang="en-US" smtClean="0"/>
              <a:t>2025/9/8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EE4F879-3DF2-4F16-172C-3FFCE67F3D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8C10412-BD78-755C-DA24-B430809D8D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00DB31-2326-4150-9A83-5CDA3FD4245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893782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249BDD6-5257-89DB-7332-1F5AB9C016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A4FE895-148B-5074-B523-DAD76FF65C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A21239B-33A9-56F4-4C02-615703E31C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61A789CB-2FC0-E222-B1E7-83415531E61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030366B8-8176-C874-4660-E2F4FF2EA11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15AB0C8D-65A4-3DBA-F886-DBCE2D8E7E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B1321-EEE7-46C5-9496-14185FA16055}" type="datetimeFigureOut">
              <a:rPr lang="zh-CN" altLang="en-US" smtClean="0"/>
              <a:t>2025/9/8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2F92E3EC-95F9-1158-4D6A-E1EDA97CA7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54AE7BE6-B69F-B68F-E5B5-DBCE90E6F2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00DB31-2326-4150-9A83-5CDA3FD4245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859885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D46F48A-1707-41B9-E92C-15ED664387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214BE917-3DCF-2E44-5878-4DD8E67593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B1321-EEE7-46C5-9496-14185FA16055}" type="datetimeFigureOut">
              <a:rPr lang="zh-CN" altLang="en-US" smtClean="0"/>
              <a:t>2025/9/8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EF186DE4-5BDC-B578-E1D5-D9EF5F43C3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FBC64DD2-20A9-7ED4-22CA-9309598606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00DB31-2326-4150-9A83-5CDA3FD4245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113381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A2DCF28F-8146-5DA8-130D-E324C07B3E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B1321-EEE7-46C5-9496-14185FA16055}" type="datetimeFigureOut">
              <a:rPr lang="zh-CN" altLang="en-US" smtClean="0"/>
              <a:t>2025/9/8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4E22AA2E-96E6-4159-3AE9-40DC646E89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43A3647-4092-7D6C-9D3C-4E7044F79E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00DB31-2326-4150-9A83-5CDA3FD4245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837479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B482772-DD03-D4A9-CFBC-52248DAAE9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97341A5-DD77-5E82-BD5A-453326E709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DFCAFE3-9D14-2D18-2BD4-B552ED1BB5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2402246-41A9-11F5-9D64-E20078AC1A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B1321-EEE7-46C5-9496-14185FA16055}" type="datetimeFigureOut">
              <a:rPr lang="zh-CN" altLang="en-US" smtClean="0"/>
              <a:t>2025/9/8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BAD2B8C-906C-7B6F-ACCB-6F5EB33AFD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B562B00-8291-D925-F383-FFB565A8D4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00DB31-2326-4150-9A83-5CDA3FD4245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85638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32D9E80-3CF7-B86F-29E0-CA55412025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B381DAB4-6144-ED11-1A6A-6ABE67EFAE9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A0A5197-9C94-229F-6EF6-C458F02D6D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F3A0DB0-799C-1643-E543-8B99CD38CD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B1321-EEE7-46C5-9496-14185FA16055}" type="datetimeFigureOut">
              <a:rPr lang="zh-CN" altLang="en-US" smtClean="0"/>
              <a:t>2025/9/8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9C93DAE-F337-25BC-1DF0-BA5D4C5039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FF0D801-D32D-A45D-D836-CE465BE31B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00DB31-2326-4150-9A83-5CDA3FD4245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933738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D081DF4-FFF7-7350-0314-74E8C6161B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7277F2B-4D2E-532F-30D4-FBA2023829C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185DF62-8609-FE77-083E-1A40AC7A7F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B1321-EEE7-46C5-9496-14185FA16055}" type="datetimeFigureOut">
              <a:rPr lang="zh-CN" altLang="en-US" smtClean="0"/>
              <a:t>2025/9/8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595B37D-8C08-2BA8-8102-3FA2884C1B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733B8D4-FEB9-2DB1-02FD-9DCAD55A73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00DB31-2326-4150-9A83-5CDA3FD4245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423973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78730944-8DA6-6FF4-8B25-9AD3793D24D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58D2974-013C-9A8D-B3ED-73F183BB7E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08E9C83-1AC0-1F31-C97B-D18A8E0A0B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B1321-EEE7-46C5-9496-14185FA16055}" type="datetimeFigureOut">
              <a:rPr lang="zh-CN" altLang="en-US" smtClean="0"/>
              <a:t>2025/9/8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8985577-1234-BCC9-CC6F-E493D1C745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C4E554D-4466-BF0B-64EC-68C974C82A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00DB31-2326-4150-9A83-5CDA3FD4245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706095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7A7C88E9-B132-7574-08E4-207EFEAA7E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D4206E2-5BAB-4D08-C19A-254BC2FC96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3CDC84B-B397-5067-F9C5-F5AA2D55BAB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3B1321-EEE7-46C5-9496-14185FA16055}" type="datetimeFigureOut">
              <a:rPr lang="zh-CN" altLang="en-US" smtClean="0"/>
              <a:t>2025/9/8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DE2BC6F-0487-093B-9A75-DE59D05C20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4EEC008-BB70-5178-3511-1602DCA95E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00DB31-2326-4150-9A83-5CDA3FD4245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617414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932CCD-0F1F-493C-BC32-575A6EFB0C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455D866-0C96-4B24-86EC-E89A875CE9D0}" type="datetime1">
              <a:rPr lang="zh-CN" altLang="en-US" smtClean="0"/>
              <a:t>2025/9/8</a:t>
            </a:fld>
            <a:endParaRPr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6DB0522-4269-4B37-A2AC-473E5BCE79A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0B1440AC-DCFE-45A7-8879-CACC57DABA6B}" type="slidenum">
              <a:rPr lang="zh-CN" altLang="en-US" smtClean="0"/>
              <a:t>1</a:t>
            </a:fld>
            <a:endParaRPr lang="zh-CN" altLang="en-US"/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DB936C57-FBF4-B64D-87D1-C46DE0F357EE}"/>
              </a:ext>
            </a:extLst>
          </p:cNvPr>
          <p:cNvSpPr txBox="1"/>
          <p:nvPr/>
        </p:nvSpPr>
        <p:spPr>
          <a:xfrm>
            <a:off x="392152" y="1050077"/>
            <a:ext cx="9144000" cy="32491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参考代码，实现基础逻辑设计</a:t>
            </a:r>
            <a:endParaRPr lang="en-US" altLang="zh-CN" sz="3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571500" indent="-5715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课堂完成，用</a:t>
            </a:r>
            <a:r>
              <a:rPr lang="en-US" altLang="zh-CN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整理结果，包括：</a:t>
            </a:r>
            <a:endParaRPr lang="en-US" altLang="zh-CN" sz="3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571500" indent="-5715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助教验收</a:t>
            </a:r>
            <a:endParaRPr lang="en-US" altLang="zh-CN" sz="3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圆角矩形标注 2">
            <a:extLst>
              <a:ext uri="{FF2B5EF4-FFF2-40B4-BE49-F238E27FC236}">
                <a16:creationId xmlns:a16="http://schemas.microsoft.com/office/drawing/2014/main" id="{8F40CAF6-1608-394D-AF23-DD5F5B8DFFFE}"/>
              </a:ext>
            </a:extLst>
          </p:cNvPr>
          <p:cNvSpPr/>
          <p:nvPr/>
        </p:nvSpPr>
        <p:spPr>
          <a:xfrm>
            <a:off x="5387008" y="3279044"/>
            <a:ext cx="6450496" cy="2878235"/>
          </a:xfrm>
          <a:prstGeom prst="wedgeRoundRectCallout">
            <a:avLst>
              <a:gd name="adj1" fmla="val 479"/>
              <a:gd name="adj2" fmla="val -63196"/>
              <a:gd name="adj3" fmla="val 16667"/>
            </a:avLst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itchFamily="2" charset="2"/>
              <a:buChar char="ü"/>
            </a:pPr>
            <a:r>
              <a:rPr lang="zh-CN" altLang="en-US" sz="2800" b="1" dirty="0">
                <a:solidFill>
                  <a:srgbClr val="13409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手画出表示电路功能的粗略结构图 </a:t>
            </a:r>
            <a:endParaRPr lang="en-US" altLang="zh-CN" sz="2800" b="1" dirty="0">
              <a:solidFill>
                <a:srgbClr val="13409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Wingdings" pitchFamily="2" charset="2"/>
              <a:buChar char="ü"/>
            </a:pPr>
            <a:r>
              <a:rPr lang="en-US" altLang="zh-CN" sz="2800" b="1" dirty="0">
                <a:solidFill>
                  <a:srgbClr val="13409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RTL</a:t>
            </a:r>
            <a:r>
              <a:rPr lang="zh-CN" altLang="en-US" sz="2800" b="1" dirty="0">
                <a:solidFill>
                  <a:srgbClr val="13409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800" b="1" dirty="0">
                <a:solidFill>
                  <a:srgbClr val="13409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Schematic</a:t>
            </a:r>
          </a:p>
          <a:p>
            <a:pPr marL="285750" indent="-285750">
              <a:lnSpc>
                <a:spcPct val="150000"/>
              </a:lnSpc>
              <a:buFont typeface="Wingdings" pitchFamily="2" charset="2"/>
              <a:buChar char="ü"/>
            </a:pPr>
            <a:r>
              <a:rPr lang="en-US" altLang="zh-CN" sz="2800" b="1" dirty="0">
                <a:solidFill>
                  <a:srgbClr val="13409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Simulation Wave</a:t>
            </a:r>
          </a:p>
          <a:p>
            <a:pPr marL="285750" indent="-285750">
              <a:lnSpc>
                <a:spcPct val="150000"/>
              </a:lnSpc>
              <a:buFont typeface="Wingdings" pitchFamily="2" charset="2"/>
              <a:buChar char="ü"/>
            </a:pPr>
            <a:r>
              <a:rPr lang="en-US" altLang="zh-CN" sz="2800" b="1" dirty="0">
                <a:solidFill>
                  <a:srgbClr val="13409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Synthesis Schematic</a:t>
            </a:r>
            <a:r>
              <a:rPr lang="zh-CN" altLang="en-US" sz="2800" b="1" dirty="0">
                <a:solidFill>
                  <a:srgbClr val="13409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（截图即可）</a:t>
            </a:r>
            <a:endParaRPr lang="en-US" altLang="zh-CN" sz="2800" b="1" dirty="0">
              <a:solidFill>
                <a:srgbClr val="13409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标题 1">
            <a:extLst>
              <a:ext uri="{FF2B5EF4-FFF2-40B4-BE49-F238E27FC236}">
                <a16:creationId xmlns:a16="http://schemas.microsoft.com/office/drawing/2014/main" id="{7D858DBA-132C-864E-9D34-5A9E8FA65754}"/>
              </a:ext>
            </a:extLst>
          </p:cNvPr>
          <p:cNvSpPr txBox="1">
            <a:spLocks/>
          </p:cNvSpPr>
          <p:nvPr/>
        </p:nvSpPr>
        <p:spPr bwMode="auto">
          <a:xfrm>
            <a:off x="1733551" y="163516"/>
            <a:ext cx="8724900" cy="6159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rgbClr val="0A419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A419B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A419B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A419B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A419B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457189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A419B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914377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A419B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1371566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A419B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1828754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A419B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0A419B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实验任务</a:t>
            </a:r>
          </a:p>
        </p:txBody>
      </p:sp>
    </p:spTree>
    <p:extLst>
      <p:ext uri="{BB962C8B-B14F-4D97-AF65-F5344CB8AC3E}">
        <p14:creationId xmlns:p14="http://schemas.microsoft.com/office/powerpoint/2010/main" val="30145958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FA5106-C728-68BA-353C-2034F213FF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E70257F-2349-B0D1-FE22-3B0479E6CB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455D866-0C96-4B24-86EC-E89A875CE9D0}" type="datetime1">
              <a:rPr lang="zh-CN" altLang="en-US" smtClean="0"/>
              <a:t>2025/9/8</a:t>
            </a:fld>
            <a:endParaRPr lang="zh-CN" altLang="en-US" dirty="0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E97F83A4-F5EB-9D91-4D67-E548794C1EE2}"/>
              </a:ext>
            </a:extLst>
          </p:cNvPr>
          <p:cNvSpPr txBox="1">
            <a:spLocks/>
          </p:cNvSpPr>
          <p:nvPr/>
        </p:nvSpPr>
        <p:spPr bwMode="auto">
          <a:xfrm>
            <a:off x="1733551" y="163516"/>
            <a:ext cx="8724900" cy="6159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rgbClr val="0A419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A419B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A419B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A419B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A419B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457189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A419B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914377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A419B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1371566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A419B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1828754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A419B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4000" b="1" i="0" u="none" strike="noStrike" kern="1200" cap="none" spc="0" normalizeH="0" baseline="0" noProof="0" dirty="0">
                <a:ln>
                  <a:noFill/>
                </a:ln>
                <a:solidFill>
                  <a:srgbClr val="0A419B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Mux41b</a:t>
            </a:r>
            <a:endParaRPr kumimoji="0" lang="zh-CN" altLang="en-US" sz="4000" b="1" i="0" u="none" strike="noStrike" kern="1200" cap="none" spc="0" normalizeH="0" baseline="0" noProof="0" dirty="0">
              <a:ln>
                <a:noFill/>
              </a:ln>
              <a:solidFill>
                <a:srgbClr val="0A419B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0585D116-73B4-9006-F9E4-9A354402CB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79467"/>
            <a:ext cx="10458451" cy="2312574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450D9E6F-24D9-0CF2-94F0-95DB49302F1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575627"/>
            <a:ext cx="3944324" cy="2126608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14804C3C-42C4-589D-1750-B8026E42807D}"/>
              </a:ext>
            </a:extLst>
          </p:cNvPr>
          <p:cNvSpPr txBox="1"/>
          <p:nvPr/>
        </p:nvSpPr>
        <p:spPr>
          <a:xfrm>
            <a:off x="0" y="3287248"/>
            <a:ext cx="6096000" cy="4589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itchFamily="2" charset="2"/>
              <a:buChar char="ü"/>
            </a:pPr>
            <a:r>
              <a:rPr lang="en-US" altLang="zh-CN" sz="1800" b="1" dirty="0">
                <a:solidFill>
                  <a:srgbClr val="13409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RTL</a:t>
            </a:r>
            <a:r>
              <a:rPr lang="zh-CN" altLang="en-US" sz="1800" b="1" dirty="0">
                <a:solidFill>
                  <a:srgbClr val="13409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800" b="1" dirty="0">
                <a:solidFill>
                  <a:srgbClr val="13409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Schematic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F5F92B8C-1D63-34FC-83B8-BE26409AA839}"/>
              </a:ext>
            </a:extLst>
          </p:cNvPr>
          <p:cNvSpPr txBox="1"/>
          <p:nvPr/>
        </p:nvSpPr>
        <p:spPr>
          <a:xfrm>
            <a:off x="0" y="399080"/>
            <a:ext cx="6117770" cy="4589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itchFamily="2" charset="2"/>
              <a:buChar char="ü"/>
            </a:pPr>
            <a:r>
              <a:rPr lang="en-US" altLang="zh-CN" sz="1800" b="1" dirty="0">
                <a:solidFill>
                  <a:srgbClr val="13409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Simulation Wave</a:t>
            </a: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06E764E9-6A18-0BE7-EC0D-1BFBE63442E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44324" y="3660891"/>
            <a:ext cx="3625140" cy="2126608"/>
          </a:xfrm>
          <a:prstGeom prst="rect">
            <a:avLst/>
          </a:prstGeom>
        </p:spPr>
      </p:pic>
      <p:sp>
        <p:nvSpPr>
          <p:cNvPr id="18" name="文本框 17">
            <a:extLst>
              <a:ext uri="{FF2B5EF4-FFF2-40B4-BE49-F238E27FC236}">
                <a16:creationId xmlns:a16="http://schemas.microsoft.com/office/drawing/2014/main" id="{1876B12F-0048-00AA-8B18-26C3CEA986C0}"/>
              </a:ext>
            </a:extLst>
          </p:cNvPr>
          <p:cNvSpPr txBox="1"/>
          <p:nvPr/>
        </p:nvSpPr>
        <p:spPr>
          <a:xfrm>
            <a:off x="3944324" y="3287248"/>
            <a:ext cx="6117284" cy="4589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ü"/>
              <a:tabLst/>
              <a:defRPr/>
            </a:pPr>
            <a:r>
              <a:rPr kumimoji="0" lang="en-US" altLang="zh-CN" b="1" i="0" u="none" strike="noStrike" kern="1200" cap="none" spc="0" normalizeH="0" baseline="0" noProof="0" dirty="0">
                <a:ln>
                  <a:noFill/>
                </a:ln>
                <a:solidFill>
                  <a:srgbClr val="13409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Synthesis Schematic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9D717FF-377E-77A7-A16E-BAEE06E4B546}"/>
              </a:ext>
            </a:extLst>
          </p:cNvPr>
          <p:cNvSpPr txBox="1"/>
          <p:nvPr/>
        </p:nvSpPr>
        <p:spPr>
          <a:xfrm>
            <a:off x="7661293" y="3287248"/>
            <a:ext cx="6117284" cy="4589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itchFamily="2" charset="2"/>
              <a:buChar char="ü"/>
            </a:pPr>
            <a:r>
              <a:rPr lang="zh-CN" altLang="en-US" sz="1800" b="1" dirty="0">
                <a:solidFill>
                  <a:srgbClr val="13409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手画出表示电路功能的粗略结构图 </a:t>
            </a:r>
            <a:endParaRPr lang="en-US" altLang="zh-CN" sz="1800" b="1" dirty="0">
              <a:solidFill>
                <a:srgbClr val="13409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6204399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07F64D-EE59-E35F-5D8E-D7C96AC47B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0C6FA35-0F2C-A980-C673-6C22D16A8C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455D866-0C96-4B24-86EC-E89A875CE9D0}" type="datetime1">
              <a:rPr lang="zh-CN" altLang="en-US" smtClean="0"/>
              <a:t>2025/9/8</a:t>
            </a:fld>
            <a:endParaRPr lang="zh-CN" altLang="en-US" dirty="0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98A53F19-46F0-EEED-9D81-AC0FFDE519B2}"/>
              </a:ext>
            </a:extLst>
          </p:cNvPr>
          <p:cNvSpPr txBox="1">
            <a:spLocks/>
          </p:cNvSpPr>
          <p:nvPr/>
        </p:nvSpPr>
        <p:spPr bwMode="auto">
          <a:xfrm>
            <a:off x="1733551" y="163516"/>
            <a:ext cx="8724900" cy="6159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rgbClr val="0A419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A419B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A419B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A419B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A419B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457189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A419B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914377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A419B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1371566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A419B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1828754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A419B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lvl="0" algn="ctr"/>
            <a:r>
              <a:rPr lang="en-US" altLang="zh-CN" sz="4000" dirty="0"/>
              <a:t>8-3 Encoder with if</a:t>
            </a:r>
            <a:endParaRPr kumimoji="0" lang="zh-CN" altLang="en-US" sz="4000" b="1" i="0" u="none" strike="noStrike" kern="1200" cap="none" spc="0" normalizeH="0" baseline="0" noProof="0" dirty="0">
              <a:ln>
                <a:noFill/>
              </a:ln>
              <a:solidFill>
                <a:srgbClr val="0A419B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66EF54BE-C8F2-F612-A8B7-82C4A27C65BF}"/>
              </a:ext>
            </a:extLst>
          </p:cNvPr>
          <p:cNvSpPr txBox="1"/>
          <p:nvPr/>
        </p:nvSpPr>
        <p:spPr>
          <a:xfrm>
            <a:off x="0" y="2301531"/>
            <a:ext cx="2201712" cy="4589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itchFamily="2" charset="2"/>
              <a:buChar char="ü"/>
            </a:pPr>
            <a:r>
              <a:rPr lang="en-US" altLang="zh-CN" sz="1800" b="1" dirty="0">
                <a:solidFill>
                  <a:srgbClr val="13409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RTL</a:t>
            </a:r>
            <a:r>
              <a:rPr lang="zh-CN" altLang="en-US" sz="1800" b="1" dirty="0">
                <a:solidFill>
                  <a:srgbClr val="13409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800" b="1" dirty="0">
                <a:solidFill>
                  <a:srgbClr val="13409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Schematic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12F9235B-A77B-EA1D-1486-270DB04FDDDB}"/>
              </a:ext>
            </a:extLst>
          </p:cNvPr>
          <p:cNvSpPr txBox="1"/>
          <p:nvPr/>
        </p:nvSpPr>
        <p:spPr>
          <a:xfrm>
            <a:off x="0" y="399080"/>
            <a:ext cx="6117770" cy="4589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itchFamily="2" charset="2"/>
              <a:buChar char="ü"/>
            </a:pPr>
            <a:r>
              <a:rPr lang="en-US" altLang="zh-CN" sz="1800" b="1" dirty="0">
                <a:solidFill>
                  <a:srgbClr val="13409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Simulation Wave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3F5E6963-6B7E-CA18-25EC-2E86B22C32EE}"/>
              </a:ext>
            </a:extLst>
          </p:cNvPr>
          <p:cNvSpPr txBox="1"/>
          <p:nvPr/>
        </p:nvSpPr>
        <p:spPr>
          <a:xfrm>
            <a:off x="486" y="3947590"/>
            <a:ext cx="2824448" cy="4589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ü"/>
              <a:tabLst/>
              <a:defRPr/>
            </a:pPr>
            <a:r>
              <a:rPr kumimoji="0" lang="en-US" altLang="zh-CN" b="1" i="0" u="none" strike="noStrike" kern="1200" cap="none" spc="0" normalizeH="0" baseline="0" noProof="0" dirty="0">
                <a:ln>
                  <a:noFill/>
                </a:ln>
                <a:solidFill>
                  <a:srgbClr val="13409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Synthesis Schematic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E99D7622-AA09-9C5A-D24A-2BDEDD377AE7}"/>
              </a:ext>
            </a:extLst>
          </p:cNvPr>
          <p:cNvSpPr txBox="1"/>
          <p:nvPr/>
        </p:nvSpPr>
        <p:spPr>
          <a:xfrm>
            <a:off x="5490231" y="3947590"/>
            <a:ext cx="3934730" cy="4589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itchFamily="2" charset="2"/>
              <a:buChar char="ü"/>
            </a:pPr>
            <a:r>
              <a:rPr lang="zh-CN" altLang="en-US" sz="1800" b="1" dirty="0">
                <a:solidFill>
                  <a:srgbClr val="13409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手画出表示电路功能的粗略结构图 </a:t>
            </a:r>
            <a:endParaRPr lang="en-US" altLang="zh-CN" sz="1800" b="1" dirty="0">
              <a:solidFill>
                <a:srgbClr val="13409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2395633E-AFC9-1A1F-C801-89C7D05144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84926"/>
            <a:ext cx="12192000" cy="1447355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0E47B685-FE3A-46BB-74DB-30B6BB4543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2736051"/>
            <a:ext cx="12192000" cy="1349916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72E236F9-B944-E280-D48D-4D330B86AD3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9226" y="4406498"/>
            <a:ext cx="4367665" cy="22366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19460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54209F-A8EF-976F-E369-EC540E07A7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D608EE0-24E7-B9A6-4BD5-7CB0D87FA3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455D866-0C96-4B24-86EC-E89A875CE9D0}" type="datetime1">
              <a:rPr lang="zh-CN" altLang="en-US" smtClean="0"/>
              <a:t>2025/9/8</a:t>
            </a:fld>
            <a:endParaRPr lang="zh-CN" altLang="en-US" dirty="0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1BA17E76-DD81-DBEF-CD83-6C67D5A4040D}"/>
              </a:ext>
            </a:extLst>
          </p:cNvPr>
          <p:cNvSpPr txBox="1">
            <a:spLocks/>
          </p:cNvSpPr>
          <p:nvPr/>
        </p:nvSpPr>
        <p:spPr bwMode="auto">
          <a:xfrm>
            <a:off x="1733551" y="163516"/>
            <a:ext cx="8724900" cy="6159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rgbClr val="0A419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A419B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A419B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A419B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A419B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457189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A419B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914377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A419B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1371566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A419B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1828754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A419B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lvl="0" algn="ctr"/>
            <a:r>
              <a:rPr lang="en-US" altLang="zh-CN" sz="4000" dirty="0"/>
              <a:t>8-3 Encoder with case</a:t>
            </a:r>
            <a:endParaRPr kumimoji="0" lang="zh-CN" altLang="en-US" sz="4000" b="1" i="0" u="none" strike="noStrike" kern="1200" cap="none" spc="0" normalizeH="0" baseline="0" noProof="0" dirty="0">
              <a:ln>
                <a:noFill/>
              </a:ln>
              <a:solidFill>
                <a:srgbClr val="0A419B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54C0B954-A326-16A1-34F4-13A9C8FC23BC}"/>
              </a:ext>
            </a:extLst>
          </p:cNvPr>
          <p:cNvSpPr txBox="1"/>
          <p:nvPr/>
        </p:nvSpPr>
        <p:spPr>
          <a:xfrm>
            <a:off x="0" y="2301531"/>
            <a:ext cx="2201712" cy="4589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itchFamily="2" charset="2"/>
              <a:buChar char="ü"/>
            </a:pPr>
            <a:r>
              <a:rPr lang="en-US" altLang="zh-CN" sz="1800" b="1" dirty="0">
                <a:solidFill>
                  <a:srgbClr val="13409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RTL</a:t>
            </a:r>
            <a:r>
              <a:rPr lang="zh-CN" altLang="en-US" sz="1800" b="1" dirty="0">
                <a:solidFill>
                  <a:srgbClr val="13409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800" b="1" dirty="0">
                <a:solidFill>
                  <a:srgbClr val="13409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Schematic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78E3A9E7-5BA9-F078-0C6B-AFF9588C99CF}"/>
              </a:ext>
            </a:extLst>
          </p:cNvPr>
          <p:cNvSpPr txBox="1"/>
          <p:nvPr/>
        </p:nvSpPr>
        <p:spPr>
          <a:xfrm>
            <a:off x="0" y="399080"/>
            <a:ext cx="6117770" cy="4589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itchFamily="2" charset="2"/>
              <a:buChar char="ü"/>
            </a:pPr>
            <a:r>
              <a:rPr lang="en-US" altLang="zh-CN" sz="1800" b="1" dirty="0">
                <a:solidFill>
                  <a:srgbClr val="13409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Simulation Wave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39761877-9B15-1369-5E55-55A6AB3D44D2}"/>
              </a:ext>
            </a:extLst>
          </p:cNvPr>
          <p:cNvSpPr txBox="1"/>
          <p:nvPr/>
        </p:nvSpPr>
        <p:spPr>
          <a:xfrm>
            <a:off x="486" y="3947590"/>
            <a:ext cx="2824448" cy="4589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ü"/>
              <a:tabLst/>
              <a:defRPr/>
            </a:pPr>
            <a:r>
              <a:rPr kumimoji="0" lang="en-US" altLang="zh-CN" b="1" i="0" u="none" strike="noStrike" kern="1200" cap="none" spc="0" normalizeH="0" baseline="0" noProof="0" dirty="0">
                <a:ln>
                  <a:noFill/>
                </a:ln>
                <a:solidFill>
                  <a:srgbClr val="13409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Synthesis Schematic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0B3FED46-72BD-01D9-2E8C-7257ADC853CC}"/>
              </a:ext>
            </a:extLst>
          </p:cNvPr>
          <p:cNvSpPr txBox="1"/>
          <p:nvPr/>
        </p:nvSpPr>
        <p:spPr>
          <a:xfrm>
            <a:off x="5490231" y="3947590"/>
            <a:ext cx="3934730" cy="4589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itchFamily="2" charset="2"/>
              <a:buChar char="ü"/>
            </a:pPr>
            <a:r>
              <a:rPr lang="zh-CN" altLang="en-US" sz="1800" b="1" dirty="0">
                <a:solidFill>
                  <a:srgbClr val="13409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手画出表示电路功能的粗略结构图 </a:t>
            </a:r>
            <a:endParaRPr lang="en-US" altLang="zh-CN" sz="1800" b="1" dirty="0">
              <a:solidFill>
                <a:srgbClr val="13409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A093FC68-0DD5-1BBA-2E63-142EF56C5F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70" y="804422"/>
            <a:ext cx="12192000" cy="1550675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1BBDC253-CA79-4153-D81A-882A55D1339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3685" y="2675460"/>
            <a:ext cx="3841502" cy="1231570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F17F2B8E-9064-7996-2939-0A12B84C5DD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4502904"/>
            <a:ext cx="4015187" cy="21591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67415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8AF7A6-6226-8AD7-CEBC-27863F74B6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A3F7CF0-7D31-F56F-EA1C-7CBBED4568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455D866-0C96-4B24-86EC-E89A875CE9D0}" type="datetime1">
              <a:rPr lang="zh-CN" altLang="en-US" smtClean="0"/>
              <a:t>2025/9/8</a:t>
            </a:fld>
            <a:endParaRPr lang="zh-CN" altLang="en-US" dirty="0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D4F2A18C-D041-7206-5D4E-84A89B9E382E}"/>
              </a:ext>
            </a:extLst>
          </p:cNvPr>
          <p:cNvSpPr txBox="1">
            <a:spLocks/>
          </p:cNvSpPr>
          <p:nvPr/>
        </p:nvSpPr>
        <p:spPr bwMode="auto">
          <a:xfrm>
            <a:off x="1733551" y="163516"/>
            <a:ext cx="8724900" cy="6159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rgbClr val="0A419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A419B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A419B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A419B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A419B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457189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A419B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914377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A419B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1371566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A419B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1828754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A419B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lvl="0" algn="ctr"/>
            <a:r>
              <a:rPr lang="en-US" altLang="zh-CN" sz="4000" dirty="0"/>
              <a:t>Filp-Flop (sync)</a:t>
            </a:r>
            <a:endParaRPr kumimoji="0" lang="zh-CN" altLang="en-US" sz="4000" b="1" i="0" u="none" strike="noStrike" kern="1200" cap="none" spc="0" normalizeH="0" baseline="0" noProof="0" dirty="0">
              <a:ln>
                <a:noFill/>
              </a:ln>
              <a:solidFill>
                <a:srgbClr val="0A419B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60716873-AFE0-40C4-2D21-7B8E8699D6D9}"/>
              </a:ext>
            </a:extLst>
          </p:cNvPr>
          <p:cNvSpPr txBox="1"/>
          <p:nvPr/>
        </p:nvSpPr>
        <p:spPr>
          <a:xfrm>
            <a:off x="0" y="2301531"/>
            <a:ext cx="2201712" cy="4589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itchFamily="2" charset="2"/>
              <a:buChar char="ü"/>
            </a:pPr>
            <a:r>
              <a:rPr lang="en-US" altLang="zh-CN" sz="1800" b="1" dirty="0">
                <a:solidFill>
                  <a:srgbClr val="13409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RTL</a:t>
            </a:r>
            <a:r>
              <a:rPr lang="zh-CN" altLang="en-US" sz="1800" b="1" dirty="0">
                <a:solidFill>
                  <a:srgbClr val="13409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800" b="1" dirty="0">
                <a:solidFill>
                  <a:srgbClr val="13409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Schematic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F671E517-62DA-6082-7A98-059B49569F57}"/>
              </a:ext>
            </a:extLst>
          </p:cNvPr>
          <p:cNvSpPr txBox="1"/>
          <p:nvPr/>
        </p:nvSpPr>
        <p:spPr>
          <a:xfrm>
            <a:off x="0" y="399080"/>
            <a:ext cx="2482673" cy="4589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itchFamily="2" charset="2"/>
              <a:buChar char="ü"/>
            </a:pPr>
            <a:r>
              <a:rPr lang="en-US" altLang="zh-CN" sz="1800" b="1" dirty="0">
                <a:solidFill>
                  <a:srgbClr val="13409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Simulation Wave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97E1D47D-39F2-D1CA-D35C-E9CBE63A43A4}"/>
              </a:ext>
            </a:extLst>
          </p:cNvPr>
          <p:cNvSpPr txBox="1"/>
          <p:nvPr/>
        </p:nvSpPr>
        <p:spPr>
          <a:xfrm>
            <a:off x="-57409" y="4150993"/>
            <a:ext cx="2824448" cy="4589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ü"/>
              <a:tabLst/>
              <a:defRPr/>
            </a:pPr>
            <a:r>
              <a:rPr kumimoji="0" lang="en-US" altLang="zh-CN" b="1" i="0" u="none" strike="noStrike" kern="1200" cap="none" spc="0" normalizeH="0" baseline="0" noProof="0" dirty="0">
                <a:ln>
                  <a:noFill/>
                </a:ln>
                <a:solidFill>
                  <a:srgbClr val="13409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Synthesis Schematic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C7B854B0-0C7A-6BC6-CDDB-9A46EC6BDBC6}"/>
              </a:ext>
            </a:extLst>
          </p:cNvPr>
          <p:cNvSpPr txBox="1"/>
          <p:nvPr/>
        </p:nvSpPr>
        <p:spPr>
          <a:xfrm>
            <a:off x="6460823" y="4150993"/>
            <a:ext cx="3934730" cy="4589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itchFamily="2" charset="2"/>
              <a:buChar char="ü"/>
            </a:pPr>
            <a:r>
              <a:rPr lang="zh-CN" altLang="en-US" sz="1800" b="1" dirty="0">
                <a:solidFill>
                  <a:srgbClr val="13409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手画出表示电路功能的粗略结构图 </a:t>
            </a:r>
            <a:endParaRPr lang="en-US" altLang="zh-CN" sz="1800" b="1" dirty="0">
              <a:solidFill>
                <a:srgbClr val="13409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1D4F6B75-DCD9-16B3-8199-15F6B604D8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79467"/>
            <a:ext cx="12192000" cy="1678193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AB0CD7F8-0679-4824-6F4E-3B482879E92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192" y="2707007"/>
            <a:ext cx="3167196" cy="1443986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6D50F646-6706-7533-D231-6C3B35D8665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192" y="4774960"/>
            <a:ext cx="5905287" cy="19195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66757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7E5D06-54FF-2912-9AF2-F836F84624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C8517A1-F8A9-1389-DAB2-52CC5F7A15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455D866-0C96-4B24-86EC-E89A875CE9D0}" type="datetime1">
              <a:rPr lang="zh-CN" altLang="en-US" smtClean="0"/>
              <a:t>2025/9/8</a:t>
            </a:fld>
            <a:endParaRPr lang="zh-CN" altLang="en-US" dirty="0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FC9E63E0-5767-2C9C-9FCD-413F586F4E84}"/>
              </a:ext>
            </a:extLst>
          </p:cNvPr>
          <p:cNvSpPr txBox="1">
            <a:spLocks/>
          </p:cNvSpPr>
          <p:nvPr/>
        </p:nvSpPr>
        <p:spPr bwMode="auto">
          <a:xfrm>
            <a:off x="1733551" y="163516"/>
            <a:ext cx="8724900" cy="6159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rgbClr val="0A419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A419B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A419B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A419B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A419B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457189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A419B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914377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A419B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1371566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A419B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1828754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A419B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lvl="0" algn="ctr"/>
            <a:r>
              <a:rPr lang="en-US" altLang="zh-CN" sz="4000" dirty="0"/>
              <a:t>4-bit Shift Register</a:t>
            </a:r>
            <a:endParaRPr kumimoji="0" lang="zh-CN" altLang="en-US" sz="4000" b="1" i="0" u="none" strike="noStrike" kern="1200" cap="none" spc="0" normalizeH="0" baseline="0" noProof="0" dirty="0">
              <a:ln>
                <a:noFill/>
              </a:ln>
              <a:solidFill>
                <a:srgbClr val="0A419B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76D4FC22-0342-EA7D-44C3-A2BFD5167C42}"/>
              </a:ext>
            </a:extLst>
          </p:cNvPr>
          <p:cNvSpPr txBox="1"/>
          <p:nvPr/>
        </p:nvSpPr>
        <p:spPr>
          <a:xfrm>
            <a:off x="-10217" y="3749539"/>
            <a:ext cx="2201712" cy="4589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itchFamily="2" charset="2"/>
              <a:buChar char="ü"/>
            </a:pPr>
            <a:r>
              <a:rPr lang="en-US" altLang="zh-CN" sz="1800" b="1" dirty="0">
                <a:solidFill>
                  <a:srgbClr val="13409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RTL</a:t>
            </a:r>
            <a:r>
              <a:rPr lang="zh-CN" altLang="en-US" sz="1800" b="1" dirty="0">
                <a:solidFill>
                  <a:srgbClr val="13409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800" b="1" dirty="0">
                <a:solidFill>
                  <a:srgbClr val="13409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Schematic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A9127B56-3964-C47C-085B-0655B17AB576}"/>
              </a:ext>
            </a:extLst>
          </p:cNvPr>
          <p:cNvSpPr txBox="1"/>
          <p:nvPr/>
        </p:nvSpPr>
        <p:spPr>
          <a:xfrm>
            <a:off x="0" y="399080"/>
            <a:ext cx="2482673" cy="4589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itchFamily="2" charset="2"/>
              <a:buChar char="ü"/>
            </a:pPr>
            <a:r>
              <a:rPr lang="en-US" altLang="zh-CN" sz="1800" b="1" dirty="0">
                <a:solidFill>
                  <a:srgbClr val="13409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Simulation Wave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3153C31A-B8E7-45C3-0894-B5FEC68EA576}"/>
              </a:ext>
            </a:extLst>
          </p:cNvPr>
          <p:cNvSpPr txBox="1"/>
          <p:nvPr/>
        </p:nvSpPr>
        <p:spPr>
          <a:xfrm>
            <a:off x="3544000" y="3749539"/>
            <a:ext cx="2824448" cy="4589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ü"/>
              <a:tabLst/>
              <a:defRPr/>
            </a:pPr>
            <a:r>
              <a:rPr kumimoji="0" lang="en-US" altLang="zh-CN" b="1" i="0" u="none" strike="noStrike" kern="1200" cap="none" spc="0" normalizeH="0" baseline="0" noProof="0" dirty="0">
                <a:ln>
                  <a:noFill/>
                </a:ln>
                <a:solidFill>
                  <a:srgbClr val="13409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Synthesis Schematic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D9F136A8-B430-A586-2A47-840391283249}"/>
              </a:ext>
            </a:extLst>
          </p:cNvPr>
          <p:cNvSpPr txBox="1"/>
          <p:nvPr/>
        </p:nvSpPr>
        <p:spPr>
          <a:xfrm>
            <a:off x="7594883" y="3749539"/>
            <a:ext cx="3934730" cy="4589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itchFamily="2" charset="2"/>
              <a:buChar char="ü"/>
            </a:pPr>
            <a:r>
              <a:rPr lang="zh-CN" altLang="en-US" sz="1800" b="1" dirty="0">
                <a:solidFill>
                  <a:srgbClr val="13409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手画出表示电路功能的粗略结构图 </a:t>
            </a:r>
            <a:endParaRPr lang="en-US" altLang="zh-CN" sz="1800" b="1" dirty="0">
              <a:solidFill>
                <a:srgbClr val="13409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9587F0B4-0D78-EE33-A91F-3A2D6C5C59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734" y="779467"/>
            <a:ext cx="12192000" cy="2568620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EE6DE1C7-FA23-3A7B-FEAE-057AE8E19FD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67" y="4340593"/>
            <a:ext cx="2726142" cy="1424703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D7B1D321-A062-30FC-C2AA-344CC7B7BCC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29269" y="4365522"/>
            <a:ext cx="4357940" cy="13001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32534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AB0328-B5E2-4EA3-C5F6-4BC2F5AEEE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86F945E-EC1C-5134-5B96-F6B522697B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455D866-0C96-4B24-86EC-E89A875CE9D0}" type="datetime1">
              <a:rPr lang="zh-CN" altLang="en-US" smtClean="0"/>
              <a:t>2025/9/8</a:t>
            </a:fld>
            <a:endParaRPr lang="zh-CN" altLang="en-US" dirty="0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30F0BB63-C4A6-CD3F-8385-791C45F38E04}"/>
              </a:ext>
            </a:extLst>
          </p:cNvPr>
          <p:cNvSpPr txBox="1">
            <a:spLocks/>
          </p:cNvSpPr>
          <p:nvPr/>
        </p:nvSpPr>
        <p:spPr bwMode="auto">
          <a:xfrm>
            <a:off x="1733551" y="163516"/>
            <a:ext cx="8724900" cy="6159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rgbClr val="0A419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A419B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A419B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A419B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A419B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457189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A419B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914377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A419B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1371566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A419B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1828754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A419B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lvl="0" algn="ctr"/>
            <a:r>
              <a:rPr lang="en-US" altLang="zh-CN" sz="4000" dirty="0"/>
              <a:t>3-bit Counter</a:t>
            </a:r>
            <a:endParaRPr kumimoji="0" lang="zh-CN" altLang="en-US" sz="4000" b="1" i="0" u="none" strike="noStrike" kern="1200" cap="none" spc="0" normalizeH="0" baseline="0" noProof="0" dirty="0">
              <a:ln>
                <a:noFill/>
              </a:ln>
              <a:solidFill>
                <a:srgbClr val="0A419B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4095EFD5-10C0-85AA-831F-3346877AD75B}"/>
              </a:ext>
            </a:extLst>
          </p:cNvPr>
          <p:cNvSpPr txBox="1"/>
          <p:nvPr/>
        </p:nvSpPr>
        <p:spPr>
          <a:xfrm>
            <a:off x="8088" y="2587203"/>
            <a:ext cx="2201712" cy="4589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itchFamily="2" charset="2"/>
              <a:buChar char="ü"/>
            </a:pPr>
            <a:r>
              <a:rPr lang="en-US" altLang="zh-CN" sz="1800" b="1" dirty="0">
                <a:solidFill>
                  <a:srgbClr val="13409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RTL</a:t>
            </a:r>
            <a:r>
              <a:rPr lang="zh-CN" altLang="en-US" sz="1800" b="1" dirty="0">
                <a:solidFill>
                  <a:srgbClr val="13409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800" b="1" dirty="0">
                <a:solidFill>
                  <a:srgbClr val="13409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Schematic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F508893C-8BF3-01B4-27B8-3320182B1E76}"/>
              </a:ext>
            </a:extLst>
          </p:cNvPr>
          <p:cNvSpPr txBox="1"/>
          <p:nvPr/>
        </p:nvSpPr>
        <p:spPr>
          <a:xfrm>
            <a:off x="0" y="399080"/>
            <a:ext cx="2482673" cy="4589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itchFamily="2" charset="2"/>
              <a:buChar char="ü"/>
            </a:pPr>
            <a:r>
              <a:rPr lang="en-US" altLang="zh-CN" sz="1800" b="1" dirty="0">
                <a:solidFill>
                  <a:srgbClr val="13409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Simulation Wave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69AC6684-92D8-39B8-128C-F3918A987EC5}"/>
              </a:ext>
            </a:extLst>
          </p:cNvPr>
          <p:cNvSpPr txBox="1"/>
          <p:nvPr/>
        </p:nvSpPr>
        <p:spPr>
          <a:xfrm>
            <a:off x="0" y="4338837"/>
            <a:ext cx="2824448" cy="4589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ü"/>
              <a:tabLst/>
              <a:defRPr/>
            </a:pPr>
            <a:r>
              <a:rPr kumimoji="0" lang="en-US" altLang="zh-CN" b="1" i="0" u="none" strike="noStrike" kern="1200" cap="none" spc="0" normalizeH="0" baseline="0" noProof="0" dirty="0">
                <a:ln>
                  <a:noFill/>
                </a:ln>
                <a:solidFill>
                  <a:srgbClr val="13409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Synthesis Schematic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F580213B-52C6-2666-014A-E8F7A3B04B72}"/>
              </a:ext>
            </a:extLst>
          </p:cNvPr>
          <p:cNvSpPr txBox="1"/>
          <p:nvPr/>
        </p:nvSpPr>
        <p:spPr>
          <a:xfrm>
            <a:off x="8161913" y="2715882"/>
            <a:ext cx="3934730" cy="4589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itchFamily="2" charset="2"/>
              <a:buChar char="ü"/>
            </a:pPr>
            <a:r>
              <a:rPr lang="zh-CN" altLang="en-US" sz="1800" b="1" dirty="0">
                <a:solidFill>
                  <a:srgbClr val="13409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手画出表示电路功能的粗略结构图 </a:t>
            </a:r>
            <a:endParaRPr lang="en-US" altLang="zh-CN" sz="1800" b="1" dirty="0">
              <a:solidFill>
                <a:srgbClr val="13409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E66E9440-CEAE-736B-421D-FF7D566102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955518"/>
            <a:ext cx="12192000" cy="1514133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D0A1BD01-7DC5-BF76-41D9-78CD0DF1BE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88" y="3062733"/>
            <a:ext cx="4009190" cy="1204700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86DF3B2E-A675-7BC8-A5F5-F5D47A29D07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976" y="4790170"/>
            <a:ext cx="7958855" cy="1993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81800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</TotalTime>
  <Words>157</Words>
  <Application>Microsoft Office PowerPoint</Application>
  <PresentationFormat>宽屏</PresentationFormat>
  <Paragraphs>53</Paragraphs>
  <Slides>7</Slides>
  <Notes>7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3" baseType="lpstr">
      <vt:lpstr>等线</vt:lpstr>
      <vt:lpstr>等线 Light</vt:lpstr>
      <vt:lpstr>微软雅黑</vt:lpstr>
      <vt:lpstr>Arial</vt:lpstr>
      <vt:lpstr>Wingdings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everlasting vettel</dc:creator>
  <cp:lastModifiedBy>everlasting vettel</cp:lastModifiedBy>
  <cp:revision>15</cp:revision>
  <dcterms:created xsi:type="dcterms:W3CDTF">2025-09-08T08:55:54Z</dcterms:created>
  <dcterms:modified xsi:type="dcterms:W3CDTF">2025-09-08T09:51:38Z</dcterms:modified>
</cp:coreProperties>
</file>