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1049" r:id="rId2"/>
    <p:sldId id="1526" r:id="rId3"/>
    <p:sldId id="1058" r:id="rId4"/>
    <p:sldId id="1527" r:id="rId5"/>
    <p:sldId id="1047" r:id="rId6"/>
    <p:sldId id="1068" r:id="rId7"/>
    <p:sldId id="1528" r:id="rId8"/>
    <p:sldId id="1057" r:id="rId9"/>
    <p:sldId id="1377" r:id="rId10"/>
    <p:sldId id="1048" r:id="rId11"/>
    <p:sldId id="1051" r:id="rId12"/>
    <p:sldId id="1382" r:id="rId13"/>
    <p:sldId id="1529" r:id="rId14"/>
    <p:sldId id="1372" r:id="rId15"/>
    <p:sldId id="1530" r:id="rId16"/>
    <p:sldId id="1052" r:id="rId17"/>
    <p:sldId id="105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41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379AD-DEB5-41CD-B787-F4F37F401CCE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0E5552-C3C7-49B0-BC15-1111936BCF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45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090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E5552-C3C7-49B0-BC15-1111936BCFB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265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CA1F1C-93C6-49CD-8A3B-9D921FF5C93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516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E5552-C3C7-49B0-BC15-1111936BCF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956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E5552-C3C7-49B0-BC15-1111936BCFB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508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AA19-67A8-DBA5-F6F0-B6928BC12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50988741-BD10-44DB-B991-13C881CE18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ABE7FBBC-0604-0A88-48CB-4E9FEF1E96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F6BAAFAC-D683-7502-BC63-FD14241B4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287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E78DB-D598-441A-8C41-B83B1C96FFB3}" type="datetime1">
              <a:rPr lang="zh-CN" altLang="en-US"/>
              <a:t>2025/10/20</a:t>
            </a:fld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C62BC-DB2A-49EF-95E2-6A8FF8AD668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24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5D866-0C96-4B24-86EC-E89A875CE9D0}" type="datetime1">
              <a:rPr lang="zh-CN" altLang="en-US"/>
              <a:t>2025/10/20</a:t>
            </a:fld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40AC-DCFE-45A7-8879-CACC57DABA6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00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48A6F-EF6D-43C5-879E-E51D28D116D3}" type="datetime1">
              <a:rPr lang="zh-CN" altLang="en-US"/>
              <a:t>2025/10/20</a:t>
            </a:fld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055D0-29A2-478C-A993-069FB039F74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76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F05A0-1103-4E3D-A057-E85C641F7362}" type="datetime1">
              <a:rPr lang="zh-CN" altLang="en-US"/>
              <a:t>2025/10/20</a:t>
            </a:fld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55405-58E2-4673-9538-DD3B9B264C1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64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AF8A3-456C-4E6C-A16D-30794E88C830}" type="datetime1">
              <a:rPr lang="zh-CN" altLang="en-US"/>
              <a:t>2025/10/20</a:t>
            </a:fld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0C269-E132-4BE1-B979-135F4A43B7F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968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295400"/>
            <a:ext cx="10363200" cy="16002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086101"/>
            <a:ext cx="10363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Author(s)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0ACC9-F0AB-4798-9CD7-355D71A425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5029200"/>
            <a:ext cx="10363200" cy="1143000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 dirty="0"/>
              <a:t>Affiliation(s)</a:t>
            </a:r>
          </a:p>
        </p:txBody>
      </p:sp>
    </p:spTree>
    <p:extLst>
      <p:ext uri="{BB962C8B-B14F-4D97-AF65-F5344CB8AC3E}">
        <p14:creationId xmlns:p14="http://schemas.microsoft.com/office/powerpoint/2010/main" val="133356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61B3-B586-4B8F-A9E9-61EA0858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7"/>
            <a:ext cx="10210800" cy="701675"/>
          </a:xfrm>
          <a:prstGeom prst="rect">
            <a:avLst/>
          </a:prstGeom>
        </p:spPr>
        <p:txBody>
          <a:bodyPr/>
          <a:lstStyle>
            <a:lvl1pPr algn="l"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ja-JP" dirty="0"/>
              <a:t>Click to edit Master title style</a:t>
            </a:r>
            <a:endParaRPr kumimoji="1" lang="ja-JP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6BD71-65C3-478D-93E8-128C6CB7E2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219200"/>
            <a:ext cx="10515600" cy="4953000"/>
          </a:xfrm>
          <a:prstGeom prst="rect">
            <a:avLst/>
          </a:prstGeom>
        </p:spPr>
        <p:txBody>
          <a:bodyPr/>
          <a:lstStyle>
            <a:lvl1pPr marL="402431" indent="-402431">
              <a:buFont typeface="Wingdings" panose="05000000000000000000" pitchFamily="2" charset="2"/>
              <a:buChar char="n"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75085" indent="-332185">
              <a:buSzPct val="90000"/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2975" indent="-257175">
              <a:buFont typeface="Arial" panose="020B0604020202020204" pitchFamily="34" charset="0"/>
              <a:buChar char="−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kumimoji="1" lang="en-US" altLang="ja-JP" dirty="0"/>
              <a:t>Click to edit Master text styles</a:t>
            </a:r>
          </a:p>
          <a:p>
            <a:pPr lvl="1"/>
            <a:r>
              <a:rPr kumimoji="1" lang="en-US" altLang="ja-JP" dirty="0"/>
              <a:t>Second level</a:t>
            </a:r>
          </a:p>
          <a:p>
            <a:pPr lvl="2"/>
            <a:r>
              <a:rPr kumimoji="1" lang="en-US" altLang="ja-JP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721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9"/>
            </p:custDataLst>
          </p:nvPr>
        </p:nvSpPr>
        <p:spPr>
          <a:xfrm>
            <a:off x="0" y="6237288"/>
            <a:ext cx="12192000" cy="62071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90805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1144251" y="6357938"/>
            <a:ext cx="480483" cy="360362"/>
          </a:xfrm>
          <a:prstGeom prst="ellipse">
            <a:avLst/>
          </a:prstGeom>
          <a:solidFill>
            <a:srgbClr val="0A4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609601" y="223838"/>
            <a:ext cx="87249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341438"/>
            <a:ext cx="109728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37E52844-4327-4055-A3C8-49C907DEF340}" type="datetime1">
              <a:rPr lang="zh-CN" altLang="en-US"/>
              <a:t>2025/10/20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89218" y="6356351"/>
            <a:ext cx="59054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4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A8957C2-AF6F-4D31-BB8A-D74B12D1140C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33" name="矩形 14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-2117" y="908051"/>
            <a:ext cx="12194117" cy="36513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4" name="矩形 18"/>
          <p:cNvSpPr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-2117" y="6200776"/>
            <a:ext cx="12194117" cy="34925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5" name="页脚占位符 16"/>
          <p:cNvSpPr txBox="1"/>
          <p:nvPr userDrawn="1"/>
        </p:nvSpPr>
        <p:spPr bwMode="auto">
          <a:xfrm>
            <a:off x="4559300" y="6356350"/>
            <a:ext cx="6242051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1600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ASIC Design</a:t>
            </a:r>
          </a:p>
        </p:txBody>
      </p:sp>
    </p:spTree>
    <p:extLst>
      <p:ext uri="{BB962C8B-B14F-4D97-AF65-F5344CB8AC3E}">
        <p14:creationId xmlns:p14="http://schemas.microsoft.com/office/powerpoint/2010/main" val="419361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C0DEFF-4602-F566-A43F-6213CB17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4C2C9-186F-F678-96D8-BB40A10CCE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C87532-A269-89E7-5F1C-592247A240B3}"/>
              </a:ext>
            </a:extLst>
          </p:cNvPr>
          <p:cNvSpPr txBox="1"/>
          <p:nvPr/>
        </p:nvSpPr>
        <p:spPr>
          <a:xfrm>
            <a:off x="529389" y="1875883"/>
            <a:ext cx="1130968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Lab6</a:t>
            </a:r>
          </a:p>
          <a:p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数据截位方式对网络结果的影响</a:t>
            </a:r>
          </a:p>
        </p:txBody>
      </p:sp>
    </p:spTree>
    <p:extLst>
      <p:ext uri="{BB962C8B-B14F-4D97-AF65-F5344CB8AC3E}">
        <p14:creationId xmlns:p14="http://schemas.microsoft.com/office/powerpoint/2010/main" val="3866675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303" y="337859"/>
            <a:ext cx="6543675" cy="461963"/>
          </a:xfrm>
        </p:spPr>
        <p:txBody>
          <a:bodyPr/>
          <a:lstStyle/>
          <a:p>
            <a:pPr algn="ctr"/>
            <a:r>
              <a:rPr lang="zh-CN" altLang="en-US" sz="3000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D1BD2611-D3D7-0F4F-8C46-71AFD0587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3" y="1307031"/>
            <a:ext cx="7564055" cy="4243939"/>
          </a:xfrm>
          <a:prstGeom prst="rect">
            <a:avLst/>
          </a:prstGeom>
        </p:spPr>
      </p:pic>
      <p:sp>
        <p:nvSpPr>
          <p:cNvPr id="40" name="椭圆 39">
            <a:extLst>
              <a:ext uri="{FF2B5EF4-FFF2-40B4-BE49-F238E27FC236}">
                <a16:creationId xmlns:a16="http://schemas.microsoft.com/office/drawing/2014/main" id="{DB992A26-F25E-1945-8C3A-241AA6BBB12F}"/>
              </a:ext>
            </a:extLst>
          </p:cNvPr>
          <p:cNvSpPr/>
          <p:nvPr/>
        </p:nvSpPr>
        <p:spPr>
          <a:xfrm>
            <a:off x="6636041" y="1988358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D3DECBF2-BD64-D240-90DA-55A80D9F2DEE}"/>
              </a:ext>
            </a:extLst>
          </p:cNvPr>
          <p:cNvSpPr/>
          <p:nvPr/>
        </p:nvSpPr>
        <p:spPr>
          <a:xfrm>
            <a:off x="4258256" y="3361426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7FE189A-F791-7E45-B3C0-B4BCEEA3B491}"/>
              </a:ext>
            </a:extLst>
          </p:cNvPr>
          <p:cNvSpPr/>
          <p:nvPr/>
        </p:nvSpPr>
        <p:spPr>
          <a:xfrm>
            <a:off x="2560755" y="3167063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9C826044-4B91-E745-AF68-9A2D15C6E8F2}"/>
              </a:ext>
            </a:extLst>
          </p:cNvPr>
          <p:cNvSpPr/>
          <p:nvPr/>
        </p:nvSpPr>
        <p:spPr>
          <a:xfrm>
            <a:off x="2946283" y="3167062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496A4D80-5B13-694A-8534-FE565DBA4FA9}"/>
              </a:ext>
            </a:extLst>
          </p:cNvPr>
          <p:cNvSpPr/>
          <p:nvPr/>
        </p:nvSpPr>
        <p:spPr>
          <a:xfrm>
            <a:off x="5421459" y="4973411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5" name="îŝ1ïďè">
            <a:extLst>
              <a:ext uri="{FF2B5EF4-FFF2-40B4-BE49-F238E27FC236}">
                <a16:creationId xmlns:a16="http://schemas.microsoft.com/office/drawing/2014/main" id="{8BD1EC9C-3866-9F45-997F-DF9D48C3FEDD}"/>
              </a:ext>
            </a:extLst>
          </p:cNvPr>
          <p:cNvSpPr/>
          <p:nvPr/>
        </p:nvSpPr>
        <p:spPr bwMode="auto">
          <a:xfrm flipH="1">
            <a:off x="7929087" y="108386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46" name="i$ļîḋé">
            <a:extLst>
              <a:ext uri="{FF2B5EF4-FFF2-40B4-BE49-F238E27FC236}">
                <a16:creationId xmlns:a16="http://schemas.microsoft.com/office/drawing/2014/main" id="{FA6269F2-4E4A-964A-A1AD-7F201CD2F8A5}"/>
              </a:ext>
            </a:extLst>
          </p:cNvPr>
          <p:cNvSpPr txBox="1"/>
          <p:nvPr/>
        </p:nvSpPr>
        <p:spPr>
          <a:xfrm>
            <a:off x="7852887" y="108385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1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47" name="îŝ1ïďè">
            <a:extLst>
              <a:ext uri="{FF2B5EF4-FFF2-40B4-BE49-F238E27FC236}">
                <a16:creationId xmlns:a16="http://schemas.microsoft.com/office/drawing/2014/main" id="{E1A1B664-4547-254E-8CA5-DA4E7C4F1AAA}"/>
              </a:ext>
            </a:extLst>
          </p:cNvPr>
          <p:cNvSpPr/>
          <p:nvPr/>
        </p:nvSpPr>
        <p:spPr bwMode="auto">
          <a:xfrm flipH="1">
            <a:off x="7929087" y="174023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48" name="i$ļîḋé">
            <a:extLst>
              <a:ext uri="{FF2B5EF4-FFF2-40B4-BE49-F238E27FC236}">
                <a16:creationId xmlns:a16="http://schemas.microsoft.com/office/drawing/2014/main" id="{6E60B4BC-338B-5849-BD6A-6CD97DDD3606}"/>
              </a:ext>
            </a:extLst>
          </p:cNvPr>
          <p:cNvSpPr txBox="1"/>
          <p:nvPr/>
        </p:nvSpPr>
        <p:spPr>
          <a:xfrm>
            <a:off x="7852887" y="1740234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2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49" name="îŝ1ïďè">
            <a:extLst>
              <a:ext uri="{FF2B5EF4-FFF2-40B4-BE49-F238E27FC236}">
                <a16:creationId xmlns:a16="http://schemas.microsoft.com/office/drawing/2014/main" id="{35D4AF4C-4A5B-CF47-8091-F86435D9A4B2}"/>
              </a:ext>
            </a:extLst>
          </p:cNvPr>
          <p:cNvSpPr/>
          <p:nvPr/>
        </p:nvSpPr>
        <p:spPr bwMode="auto">
          <a:xfrm flipH="1">
            <a:off x="7929087" y="2396610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0" name="i$ļîḋé">
            <a:extLst>
              <a:ext uri="{FF2B5EF4-FFF2-40B4-BE49-F238E27FC236}">
                <a16:creationId xmlns:a16="http://schemas.microsoft.com/office/drawing/2014/main" id="{2EC73E57-0770-C747-931A-8F4A30C535B5}"/>
              </a:ext>
            </a:extLst>
          </p:cNvPr>
          <p:cNvSpPr txBox="1"/>
          <p:nvPr/>
        </p:nvSpPr>
        <p:spPr>
          <a:xfrm>
            <a:off x="7852887" y="239660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3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51" name="îŝ1ïďè">
            <a:extLst>
              <a:ext uri="{FF2B5EF4-FFF2-40B4-BE49-F238E27FC236}">
                <a16:creationId xmlns:a16="http://schemas.microsoft.com/office/drawing/2014/main" id="{639A6FCA-89EC-CB4F-B641-6C80995F12A1}"/>
              </a:ext>
            </a:extLst>
          </p:cNvPr>
          <p:cNvSpPr/>
          <p:nvPr/>
        </p:nvSpPr>
        <p:spPr bwMode="auto">
          <a:xfrm flipH="1">
            <a:off x="7925679" y="305298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2" name="i$ļîḋé">
            <a:extLst>
              <a:ext uri="{FF2B5EF4-FFF2-40B4-BE49-F238E27FC236}">
                <a16:creationId xmlns:a16="http://schemas.microsoft.com/office/drawing/2014/main" id="{FAD679B6-8E0F-3846-819A-4F6AA2F3D2B2}"/>
              </a:ext>
            </a:extLst>
          </p:cNvPr>
          <p:cNvSpPr txBox="1"/>
          <p:nvPr/>
        </p:nvSpPr>
        <p:spPr>
          <a:xfrm>
            <a:off x="7849478" y="3052983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4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53" name="îŝ1ïďè">
            <a:extLst>
              <a:ext uri="{FF2B5EF4-FFF2-40B4-BE49-F238E27FC236}">
                <a16:creationId xmlns:a16="http://schemas.microsoft.com/office/drawing/2014/main" id="{DF08C1CC-C753-6A41-A0A0-50E4F5CA86A5}"/>
              </a:ext>
            </a:extLst>
          </p:cNvPr>
          <p:cNvSpPr/>
          <p:nvPr/>
        </p:nvSpPr>
        <p:spPr bwMode="auto">
          <a:xfrm flipH="1">
            <a:off x="7925679" y="370936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4" name="i$ļîḋé">
            <a:extLst>
              <a:ext uri="{FF2B5EF4-FFF2-40B4-BE49-F238E27FC236}">
                <a16:creationId xmlns:a16="http://schemas.microsoft.com/office/drawing/2014/main" id="{0ABE119A-C3C8-3246-BCD9-2C71B537E9BD}"/>
              </a:ext>
            </a:extLst>
          </p:cNvPr>
          <p:cNvSpPr txBox="1"/>
          <p:nvPr/>
        </p:nvSpPr>
        <p:spPr>
          <a:xfrm>
            <a:off x="7849479" y="370935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5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55" name="îŝ1ïďè">
            <a:extLst>
              <a:ext uri="{FF2B5EF4-FFF2-40B4-BE49-F238E27FC236}">
                <a16:creationId xmlns:a16="http://schemas.microsoft.com/office/drawing/2014/main" id="{E513ADD7-C0E4-064D-865C-98C8C869CE44}"/>
              </a:ext>
            </a:extLst>
          </p:cNvPr>
          <p:cNvSpPr/>
          <p:nvPr/>
        </p:nvSpPr>
        <p:spPr bwMode="auto">
          <a:xfrm flipH="1">
            <a:off x="7925679" y="436573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6" name="i$ļîḋé">
            <a:extLst>
              <a:ext uri="{FF2B5EF4-FFF2-40B4-BE49-F238E27FC236}">
                <a16:creationId xmlns:a16="http://schemas.microsoft.com/office/drawing/2014/main" id="{DC0C5D26-F553-B245-B674-C2EAA2249B1E}"/>
              </a:ext>
            </a:extLst>
          </p:cNvPr>
          <p:cNvSpPr txBox="1"/>
          <p:nvPr/>
        </p:nvSpPr>
        <p:spPr>
          <a:xfrm>
            <a:off x="7849479" y="4365734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6"/>
                </a:solidFill>
                <a:latin typeface="Impact" panose="020B0806030902050204" pitchFamily="34" charset="0"/>
              </a:rPr>
              <a:t>6</a:t>
            </a:r>
            <a:endParaRPr lang="zh-CN" altLang="en-US" dirty="0">
              <a:solidFill>
                <a:schemeClr val="accent6"/>
              </a:solidFill>
              <a:latin typeface="Impact" panose="020B080603090205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1531018-8983-EB4C-8F2F-D0265E5BF71D}"/>
              </a:ext>
            </a:extLst>
          </p:cNvPr>
          <p:cNvSpPr txBox="1"/>
          <p:nvPr/>
        </p:nvSpPr>
        <p:spPr>
          <a:xfrm>
            <a:off x="8500980" y="1104793"/>
            <a:ext cx="322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PS-PL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5BEBAD6-22EE-E143-9309-C2A38511B5EA}"/>
              </a:ext>
            </a:extLst>
          </p:cNvPr>
          <p:cNvSpPr txBox="1"/>
          <p:nvPr/>
        </p:nvSpPr>
        <p:spPr>
          <a:xfrm>
            <a:off x="8504145" y="2403324"/>
            <a:ext cx="369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AA4C293-D884-5E4A-9757-F6F7D7D7B748}"/>
              </a:ext>
            </a:extLst>
          </p:cNvPr>
          <p:cNvSpPr txBox="1"/>
          <p:nvPr/>
        </p:nvSpPr>
        <p:spPr>
          <a:xfrm>
            <a:off x="8503530" y="3068372"/>
            <a:ext cx="350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</a:t>
            </a:r>
            <a:r>
              <a:rPr lang="zh-CN" altLang="en-US" dirty="0"/>
              <a:t>层网络计算模块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3497CA3-FB10-AE4C-9442-6412DBBD268D}"/>
              </a:ext>
            </a:extLst>
          </p:cNvPr>
          <p:cNvSpPr txBox="1"/>
          <p:nvPr/>
        </p:nvSpPr>
        <p:spPr>
          <a:xfrm>
            <a:off x="8503530" y="3740376"/>
            <a:ext cx="350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3</a:t>
            </a:r>
            <a:r>
              <a:rPr lang="zh-CN" altLang="en-US" dirty="0"/>
              <a:t>层网络计算模块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CBDF9EE-A132-434F-9AC8-5DC1B211EE4B}"/>
              </a:ext>
            </a:extLst>
          </p:cNvPr>
          <p:cNvSpPr txBox="1"/>
          <p:nvPr/>
        </p:nvSpPr>
        <p:spPr>
          <a:xfrm>
            <a:off x="8506939" y="5059499"/>
            <a:ext cx="2697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实现网络数据流控制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54485F52-D426-7145-9351-4D5C2A675379}"/>
              </a:ext>
            </a:extLst>
          </p:cNvPr>
          <p:cNvSpPr/>
          <p:nvPr/>
        </p:nvSpPr>
        <p:spPr>
          <a:xfrm>
            <a:off x="2790706" y="4155330"/>
            <a:ext cx="466727" cy="46672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84F09D8-F1D9-E543-9FEB-A235D9BAE748}"/>
              </a:ext>
            </a:extLst>
          </p:cNvPr>
          <p:cNvSpPr txBox="1"/>
          <p:nvPr/>
        </p:nvSpPr>
        <p:spPr>
          <a:xfrm>
            <a:off x="8500392" y="4372254"/>
            <a:ext cx="362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数据截位方式对网络结果的影响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C5C1AD23-66CB-154E-9DAE-2AD73BA63A0E}"/>
              </a:ext>
            </a:extLst>
          </p:cNvPr>
          <p:cNvSpPr/>
          <p:nvPr/>
        </p:nvSpPr>
        <p:spPr>
          <a:xfrm>
            <a:off x="1680891" y="3633789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65" name="îŝ1ïďè">
            <a:extLst>
              <a:ext uri="{FF2B5EF4-FFF2-40B4-BE49-F238E27FC236}">
                <a16:creationId xmlns:a16="http://schemas.microsoft.com/office/drawing/2014/main" id="{D5EE2053-69BB-5C41-AAE9-AFED9310C404}"/>
              </a:ext>
            </a:extLst>
          </p:cNvPr>
          <p:cNvSpPr/>
          <p:nvPr/>
        </p:nvSpPr>
        <p:spPr bwMode="auto">
          <a:xfrm flipH="1">
            <a:off x="7925679" y="5022110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66" name="i$ļîḋé">
            <a:extLst>
              <a:ext uri="{FF2B5EF4-FFF2-40B4-BE49-F238E27FC236}">
                <a16:creationId xmlns:a16="http://schemas.microsoft.com/office/drawing/2014/main" id="{71DAB558-DBB1-CF40-8DDA-984BD70966F5}"/>
              </a:ext>
            </a:extLst>
          </p:cNvPr>
          <p:cNvSpPr txBox="1"/>
          <p:nvPr/>
        </p:nvSpPr>
        <p:spPr>
          <a:xfrm>
            <a:off x="7849479" y="502210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7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BDD9CD6-5909-DD4B-85F6-B0E1A9057873}"/>
              </a:ext>
            </a:extLst>
          </p:cNvPr>
          <p:cNvSpPr txBox="1"/>
          <p:nvPr/>
        </p:nvSpPr>
        <p:spPr>
          <a:xfrm>
            <a:off x="8507212" y="5724777"/>
            <a:ext cx="322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系统整合</a:t>
            </a: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2E13BC63-0C65-8442-AA4D-A2A06F9A9E5F}"/>
              </a:ext>
            </a:extLst>
          </p:cNvPr>
          <p:cNvSpPr/>
          <p:nvPr/>
        </p:nvSpPr>
        <p:spPr>
          <a:xfrm>
            <a:off x="4258256" y="3745588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69" name="îŝ1ïďè">
            <a:extLst>
              <a:ext uri="{FF2B5EF4-FFF2-40B4-BE49-F238E27FC236}">
                <a16:creationId xmlns:a16="http://schemas.microsoft.com/office/drawing/2014/main" id="{CC741F75-B416-6544-A308-C2A977A90B47}"/>
              </a:ext>
            </a:extLst>
          </p:cNvPr>
          <p:cNvSpPr/>
          <p:nvPr/>
        </p:nvSpPr>
        <p:spPr bwMode="auto">
          <a:xfrm flipH="1">
            <a:off x="7925679" y="566375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70" name="i$ļîḋé">
            <a:extLst>
              <a:ext uri="{FF2B5EF4-FFF2-40B4-BE49-F238E27FC236}">
                <a16:creationId xmlns:a16="http://schemas.microsoft.com/office/drawing/2014/main" id="{E4FFD518-78A9-FE47-969E-510AACC5AEDC}"/>
              </a:ext>
            </a:extLst>
          </p:cNvPr>
          <p:cNvSpPr txBox="1"/>
          <p:nvPr/>
        </p:nvSpPr>
        <p:spPr>
          <a:xfrm>
            <a:off x="7849479" y="5663750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8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85F16BB-EF53-D041-89EC-4789E58F3B8C}"/>
              </a:ext>
            </a:extLst>
          </p:cNvPr>
          <p:cNvSpPr txBox="1"/>
          <p:nvPr/>
        </p:nvSpPr>
        <p:spPr>
          <a:xfrm>
            <a:off x="8500980" y="1761046"/>
            <a:ext cx="36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Verilog</a:t>
            </a:r>
            <a:r>
              <a:rPr lang="zh-CN" altLang="en-US" dirty="0"/>
              <a:t>基础：逻辑单元设计</a:t>
            </a:r>
          </a:p>
        </p:txBody>
      </p:sp>
    </p:spTree>
    <p:extLst>
      <p:ext uri="{BB962C8B-B14F-4D97-AF65-F5344CB8AC3E}">
        <p14:creationId xmlns:p14="http://schemas.microsoft.com/office/powerpoint/2010/main" val="3342815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E028D-3D62-48D0-AA2B-2E96EA4F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51128-9934-43CA-9510-4086F813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7002"/>
            <a:ext cx="10972800" cy="495934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实验任务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截位策略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截位的硬件实现（</a:t>
            </a:r>
            <a:r>
              <a:rPr lang="en-US" altLang="zh-CN" sz="3600" b="1" dirty="0" err="1"/>
              <a:t>verilog</a:t>
            </a:r>
            <a:r>
              <a:rPr lang="zh-CN" altLang="en-US" sz="3600" b="1" dirty="0"/>
              <a:t>）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代码修改建议及验收方式</a:t>
            </a:r>
            <a:endParaRPr lang="en-US" altLang="zh-CN" sz="3600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3C4D3E-89EC-44ED-8E2D-C59CAEE8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0D4D1C-1B99-4445-A083-E179181EE7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37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E028D-3D62-48D0-AA2B-2E96EA4F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51128-9934-43CA-9510-4086F813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7002"/>
            <a:ext cx="10972800" cy="495934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>
                <a:solidFill>
                  <a:srgbClr val="FF0000"/>
                </a:solidFill>
              </a:rPr>
              <a:t> 实验任务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截位策略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截位的硬件实现（</a:t>
            </a:r>
            <a:r>
              <a:rPr lang="en-US" altLang="zh-CN" sz="3600" b="1" dirty="0" err="1"/>
              <a:t>verilog</a:t>
            </a:r>
            <a:r>
              <a:rPr lang="zh-CN" altLang="en-US" sz="3600" b="1" dirty="0"/>
              <a:t>）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代码修改建议及验收方式</a:t>
            </a:r>
            <a:endParaRPr lang="en-US" altLang="zh-CN" sz="3600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3C4D3E-89EC-44ED-8E2D-C59CAEE8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0D4D1C-1B99-4445-A083-E179181EE7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56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BB525-1270-459A-B0B5-DC6D732C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A6976-08CC-42FB-A072-ED6AC6F2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55D866-0C96-4B24-86EC-E89A875CE9D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A41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2025/10/20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2149BE-4F92-48B6-AAA8-F278F1C188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40AC-DCFE-45A7-8879-CACC57DABA6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0308B8A1-023B-4F85-9DE4-C704602DB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227" y="1222376"/>
            <a:ext cx="11645811" cy="47513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b="1" dirty="0"/>
              <a:t>原始网络计算为有符号</a:t>
            </a:r>
            <a:r>
              <a:rPr lang="en-US" altLang="zh-CN" sz="3200" b="1" dirty="0"/>
              <a:t>INT8</a:t>
            </a:r>
            <a:r>
              <a:rPr lang="zh-CN" altLang="en-US" sz="3200" b="1" dirty="0"/>
              <a:t>，对三层网络的每一层输出结果进行</a:t>
            </a:r>
            <a:r>
              <a:rPr lang="en-US" altLang="zh-CN" sz="3200" b="1" dirty="0">
                <a:solidFill>
                  <a:srgbClr val="0A419B"/>
                </a:solidFill>
              </a:rPr>
              <a:t>4</a:t>
            </a:r>
            <a:r>
              <a:rPr lang="zh-CN" altLang="en-US" sz="3200" b="1" dirty="0">
                <a:solidFill>
                  <a:srgbClr val="0A419B"/>
                </a:solidFill>
              </a:rPr>
              <a:t>位</a:t>
            </a:r>
            <a:r>
              <a:rPr lang="zh-CN" altLang="en-US" sz="3200" b="1" dirty="0"/>
              <a:t>、</a:t>
            </a:r>
            <a:r>
              <a:rPr lang="en-US" altLang="zh-CN" sz="3200" b="1" dirty="0">
                <a:solidFill>
                  <a:srgbClr val="0A419B"/>
                </a:solidFill>
              </a:rPr>
              <a:t>8</a:t>
            </a:r>
            <a:r>
              <a:rPr lang="zh-CN" altLang="en-US" sz="3200" b="1" dirty="0">
                <a:solidFill>
                  <a:srgbClr val="0A419B"/>
                </a:solidFill>
              </a:rPr>
              <a:t>位截位</a:t>
            </a:r>
            <a:r>
              <a:rPr lang="zh-CN" altLang="en-US" sz="3200" b="1" dirty="0"/>
              <a:t>处理</a:t>
            </a:r>
            <a:endParaRPr lang="en-US" altLang="zh-CN" sz="3200" b="1" dirty="0"/>
          </a:p>
          <a:p>
            <a:pPr>
              <a:lnSpc>
                <a:spcPct val="150000"/>
              </a:lnSpc>
            </a:pPr>
            <a:r>
              <a:rPr lang="zh-CN" altLang="en-US" sz="3200" b="1" dirty="0"/>
              <a:t>推理输入样本</a:t>
            </a:r>
            <a:r>
              <a:rPr lang="en-US" altLang="zh-CN" sz="3200" b="1" dirty="0"/>
              <a:t>1</a:t>
            </a:r>
            <a:r>
              <a:rPr lang="zh-CN" altLang="en-US" sz="3200" b="1" dirty="0"/>
              <a:t>，比较未截位（</a:t>
            </a:r>
            <a:r>
              <a:rPr lang="en-US" altLang="zh-CN" sz="3200" b="1" dirty="0"/>
              <a:t>lab5</a:t>
            </a:r>
            <a:r>
              <a:rPr lang="zh-CN" altLang="en-US" sz="3200" b="1" dirty="0"/>
              <a:t>结果）和截位对输出结果的影响</a:t>
            </a:r>
            <a:endParaRPr lang="en-US" altLang="zh-CN" sz="3200" b="1" dirty="0"/>
          </a:p>
          <a:p>
            <a:pPr>
              <a:lnSpc>
                <a:spcPct val="150000"/>
              </a:lnSpc>
            </a:pPr>
            <a:r>
              <a:rPr lang="zh-CN" altLang="en-US" sz="3200" b="1" dirty="0"/>
              <a:t>推理全部</a:t>
            </a:r>
            <a:r>
              <a:rPr lang="en-US" altLang="zh-CN" sz="3200" b="1" dirty="0"/>
              <a:t>42</a:t>
            </a:r>
            <a:r>
              <a:rPr lang="zh-CN" altLang="en-US" sz="3200" b="1" dirty="0"/>
              <a:t>个样本，计算未截位和截位情况下的</a:t>
            </a:r>
            <a:r>
              <a:rPr lang="zh-CN" altLang="en-US" sz="3200" b="1" dirty="0">
                <a:solidFill>
                  <a:srgbClr val="0A419B"/>
                </a:solidFill>
              </a:rPr>
              <a:t>推理准确率</a:t>
            </a:r>
            <a:r>
              <a:rPr lang="zh-CN" altLang="en-US" sz="3200" b="1" dirty="0"/>
              <a:t>，并进行比较，观察不同截位方案的最终影响</a:t>
            </a:r>
          </a:p>
        </p:txBody>
      </p:sp>
    </p:spTree>
    <p:extLst>
      <p:ext uri="{BB962C8B-B14F-4D97-AF65-F5344CB8AC3E}">
        <p14:creationId xmlns:p14="http://schemas.microsoft.com/office/powerpoint/2010/main" val="411873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832871-3CF0-4CDF-B9D2-699991AEFBC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A41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2025/10/20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7A51BB-5878-4A21-AE78-03CDE018153E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BC8E76-4359-4976-8BAC-94A9C06364F7}"/>
              </a:ext>
            </a:extLst>
          </p:cNvPr>
          <p:cNvSpPr txBox="1"/>
          <p:nvPr/>
        </p:nvSpPr>
        <p:spPr>
          <a:xfrm>
            <a:off x="219076" y="1010085"/>
            <a:ext cx="12106274" cy="5003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A41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推理结果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：模型输出二维向量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0" indent="-4572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lang="en-US" altLang="zh-CN" sz="3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0" indent="-4572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lang="en-US" altLang="zh-CN" sz="3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buClr>
                <a:schemeClr val="tx1"/>
              </a:buClr>
              <a:defRPr/>
            </a:pPr>
            <a:endParaRPr lang="en-US" altLang="zh-CN" sz="3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A41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推理准确率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 推理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张样本，记录每一次分类结果，</a:t>
            </a:r>
            <a:b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      和参考标签（正确结果）对比，计算分类准确率  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E32D48D9-B80C-9743-82E7-78AA408E3588}"/>
              </a:ext>
            </a:extLst>
          </p:cNvPr>
          <p:cNvSpPr txBox="1">
            <a:spLocks/>
          </p:cNvSpPr>
          <p:nvPr/>
        </p:nvSpPr>
        <p:spPr bwMode="auto">
          <a:xfrm>
            <a:off x="609601" y="223838"/>
            <a:ext cx="394635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zh-CN" altLang="en-US"/>
              <a:t>实验任务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F4F2708-CDA4-DF42-9BA5-BF4473ED7C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428"/>
          <a:stretch/>
        </p:blipFill>
        <p:spPr>
          <a:xfrm>
            <a:off x="0" y="1911458"/>
            <a:ext cx="2744686" cy="26602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B6B62E-AC02-A449-B6A2-7D09B5780DB7}"/>
              </a:ext>
            </a:extLst>
          </p:cNvPr>
          <p:cNvSpPr/>
          <p:nvPr/>
        </p:nvSpPr>
        <p:spPr>
          <a:xfrm>
            <a:off x="2098439" y="2701380"/>
            <a:ext cx="776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dim0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031A82-FA40-9945-9F91-278D0309B429}"/>
              </a:ext>
            </a:extLst>
          </p:cNvPr>
          <p:cNvSpPr/>
          <p:nvPr/>
        </p:nvSpPr>
        <p:spPr>
          <a:xfrm>
            <a:off x="2098439" y="3345491"/>
            <a:ext cx="776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dim1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053BD-41C1-A54B-9BA0-3AF5FEE5EEAF}"/>
              </a:ext>
            </a:extLst>
          </p:cNvPr>
          <p:cNvSpPr/>
          <p:nvPr/>
        </p:nvSpPr>
        <p:spPr>
          <a:xfrm>
            <a:off x="3093690" y="2482751"/>
            <a:ext cx="8857678" cy="1316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Dim0&lt;dim1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分类为：信号</a:t>
            </a:r>
            <a:r>
              <a:rPr lang="zh-CN" altLang="en-US" sz="28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（标签为</a:t>
            </a:r>
            <a:r>
              <a:rPr lang="en-US" altLang="zh-CN" sz="28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dim0&gt;dim1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分类为：信号</a:t>
            </a:r>
            <a:r>
              <a:rPr lang="zh-CN" altLang="en-US" sz="28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（标签为</a:t>
            </a:r>
            <a:r>
              <a:rPr lang="en-US" altLang="zh-CN" sz="28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352135-2332-4145-B710-55CC767D596D}"/>
              </a:ext>
            </a:extLst>
          </p:cNvPr>
          <p:cNvSpPr/>
          <p:nvPr/>
        </p:nvSpPr>
        <p:spPr>
          <a:xfrm>
            <a:off x="1917032" y="1820779"/>
            <a:ext cx="957582" cy="264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207018"/>
      </p:ext>
    </p:extLst>
  </p:cSld>
  <p:clrMapOvr>
    <a:masterClrMapping/>
  </p:clrMapOvr>
  <p:transition advTm="235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E028D-3D62-48D0-AA2B-2E96EA4F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51128-9934-43CA-9510-4086F813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7002"/>
            <a:ext cx="10972800" cy="495934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实验任务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>
                <a:solidFill>
                  <a:srgbClr val="FF0000"/>
                </a:solidFill>
              </a:rPr>
              <a:t> 截位策略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截位的硬件实现（</a:t>
            </a:r>
            <a:r>
              <a:rPr lang="en-US" altLang="zh-CN" sz="3600" b="1" dirty="0" err="1"/>
              <a:t>verilog</a:t>
            </a:r>
            <a:r>
              <a:rPr lang="zh-CN" altLang="en-US" sz="3600" b="1" dirty="0"/>
              <a:t>）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代码修改建议及验收方式</a:t>
            </a:r>
            <a:endParaRPr lang="en-US" altLang="zh-CN" sz="3600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3C4D3E-89EC-44ED-8E2D-C59CAEE8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0D4D1C-1B99-4445-A083-E179181EE7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93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4209F-E598-4342-9799-D8F10AC8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截位策略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81CFF9-18FC-47C1-94B3-12678C86B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23392"/>
            <a:ext cx="11374967" cy="2420437"/>
          </a:xfrm>
        </p:spPr>
        <p:txBody>
          <a:bodyPr/>
          <a:lstStyle/>
          <a:p>
            <a:pPr hangingPunct="1">
              <a:lnSpc>
                <a:spcPct val="13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r>
              <a:rPr lang="zh-CN" altLang="en-US" sz="36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计算的精度</a:t>
            </a:r>
            <a:r>
              <a:rPr lang="zh-CN" altLang="en-US" sz="36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损失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，通常在一次乘积累加之后，再对结果进行截位</a:t>
            </a:r>
            <a:r>
              <a:rPr lang="zh-CN" altLang="en-US" sz="3600" b="1" dirty="0"/>
              <a:t>，即，</a:t>
            </a:r>
            <a:r>
              <a:rPr lang="zh-CN" altLang="en-US" sz="3600" b="1" dirty="0">
                <a:solidFill>
                  <a:srgbClr val="0A419B"/>
                </a:solidFill>
              </a:rPr>
              <a:t>对每一层结果进行截位</a:t>
            </a:r>
            <a:endParaRPr lang="en-US" altLang="zh-CN" sz="3600" b="1" dirty="0">
              <a:solidFill>
                <a:srgbClr val="0A419B"/>
              </a:solidFill>
            </a:endParaRPr>
          </a:p>
          <a:p>
            <a:pPr hangingPunct="1">
              <a:lnSpc>
                <a:spcPct val="150000"/>
              </a:lnSpc>
            </a:pPr>
            <a:endParaRPr lang="en-US" altLang="zh-CN" sz="3600" b="1" dirty="0">
              <a:solidFill>
                <a:srgbClr val="0A419B"/>
              </a:solidFill>
            </a:endParaRPr>
          </a:p>
          <a:p>
            <a:pPr hangingPunct="1">
              <a:lnSpc>
                <a:spcPct val="150000"/>
              </a:lnSpc>
            </a:pPr>
            <a:endParaRPr lang="en-US" altLang="zh-CN" sz="3600" b="1" dirty="0">
              <a:solidFill>
                <a:srgbClr val="0A419B"/>
              </a:solidFill>
            </a:endParaRPr>
          </a:p>
          <a:p>
            <a:pPr marL="0" indent="0" hangingPunct="1">
              <a:buNone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5B8DB-583D-4CD9-B14F-9ADA514CF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F58B7-35D8-4C6B-A7B3-B82C748A2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E76748-8943-F749-87D1-F4C25205FB70}"/>
              </a:ext>
            </a:extLst>
          </p:cNvPr>
          <p:cNvSpPr/>
          <p:nvPr/>
        </p:nvSpPr>
        <p:spPr>
          <a:xfrm>
            <a:off x="660288" y="3492285"/>
            <a:ext cx="10663990" cy="1462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例如，第一层计算结果位宽为</a:t>
            </a:r>
            <a:r>
              <a:rPr lang="en-US" altLang="zh-CN" sz="36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27bit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，截至</a:t>
            </a:r>
            <a:r>
              <a:rPr lang="en-US" altLang="zh-CN" sz="36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8bit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，存入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，等待下一层计算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8211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CF942-9258-4B06-86A8-1A06666A9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3838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截位策略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DCD4D9-A720-40DF-BB0C-625C3EBB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CB8228-2390-455B-8F95-D989333E17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92B37F-9421-45B1-8E3C-C5BB69A0E763}"/>
              </a:ext>
            </a:extLst>
          </p:cNvPr>
          <p:cNvSpPr txBox="1"/>
          <p:nvPr/>
        </p:nvSpPr>
        <p:spPr>
          <a:xfrm>
            <a:off x="304800" y="3493554"/>
            <a:ext cx="11582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具体实施：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）计算各层输出最大绝对值（未截位的情况下），确定右移位数</a:t>
            </a:r>
            <a:endParaRPr lang="en-US" altLang="zh-CN" sz="3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0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0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）同时考虑前一层输出截位后对后面一层结果的影响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0A420B5-2138-5540-BC9D-774493742B69}"/>
              </a:ext>
            </a:extLst>
          </p:cNvPr>
          <p:cNvSpPr txBox="1">
            <a:spLocks/>
          </p:cNvSpPr>
          <p:nvPr/>
        </p:nvSpPr>
        <p:spPr>
          <a:xfrm>
            <a:off x="304800" y="1164974"/>
            <a:ext cx="11374967" cy="24204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1">
              <a:spcBef>
                <a:spcPts val="0"/>
              </a:spcBef>
            </a:pPr>
            <a:r>
              <a:rPr lang="zh-CN" altLang="en-US" sz="3200" b="1" dirty="0"/>
              <a:t>采用</a:t>
            </a:r>
            <a:r>
              <a:rPr lang="zh-CN" altLang="en-US" sz="3200" b="1" dirty="0">
                <a:solidFill>
                  <a:srgbClr val="0A419B"/>
                </a:solidFill>
              </a:rPr>
              <a:t>移位截断方法</a:t>
            </a:r>
            <a:endParaRPr lang="en-US" altLang="zh-CN" sz="3200" dirty="0">
              <a:solidFill>
                <a:srgbClr val="0A419B"/>
              </a:solidFill>
            </a:endParaRPr>
          </a:p>
          <a:p>
            <a:pPr marL="0" indent="0" hangingPunct="1">
              <a:buFont typeface="Arial" panose="020B0604020202020204" pitchFamily="34" charset="0"/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F9A07D-5295-574F-9790-5374B7138E1B}"/>
              </a:ext>
            </a:extLst>
          </p:cNvPr>
          <p:cNvSpPr/>
          <p:nvPr/>
        </p:nvSpPr>
        <p:spPr>
          <a:xfrm>
            <a:off x="1407582" y="1713515"/>
            <a:ext cx="10784418" cy="1385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原始数据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[15:0] 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0110 1101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 0000   (数值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=27904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[7:0]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0000 0000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0110 1101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(数值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=109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45A68A-E78C-5343-9A3B-7004BBB86FBD}"/>
              </a:ext>
            </a:extLst>
          </p:cNvPr>
          <p:cNvSpPr/>
          <p:nvPr/>
        </p:nvSpPr>
        <p:spPr>
          <a:xfrm>
            <a:off x="4571149" y="1164974"/>
            <a:ext cx="675056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</a:t>
            </a:r>
            <a:r>
              <a:rPr lang="en-US" altLang="zh-CN" sz="32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数值缩放</a:t>
            </a:r>
            <a:r>
              <a:rPr lang="zh-CN" altLang="en-US" sz="32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“，”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数据右移</a:t>
            </a:r>
            <a:r>
              <a:rPr lang="zh-CN" altLang="en-US" sz="32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3200" b="1" dirty="0">
              <a:solidFill>
                <a:srgbClr val="0A41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6CCEF598-2461-7743-B5A6-5960429C28EF}"/>
              </a:ext>
            </a:extLst>
          </p:cNvPr>
          <p:cNvSpPr/>
          <p:nvPr/>
        </p:nvSpPr>
        <p:spPr>
          <a:xfrm rot="1471443">
            <a:off x="5934253" y="2326888"/>
            <a:ext cx="470909" cy="2807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299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61981-7445-44D7-BCD9-DEF6729F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85750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截位举例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58CAC7-1601-4ED3-A96E-EFCBE9E3D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901700"/>
            <a:ext cx="11694695" cy="526097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3200" b="1" dirty="0">
                <a:solidFill>
                  <a:srgbClr val="0A419B"/>
                </a:solidFill>
              </a:rPr>
              <a:t>8</a:t>
            </a:r>
            <a:r>
              <a:rPr lang="zh-CN" altLang="en-US" sz="3200" b="1" dirty="0">
                <a:solidFill>
                  <a:srgbClr val="0A419B"/>
                </a:solidFill>
              </a:rPr>
              <a:t>位截位方案举例</a:t>
            </a:r>
            <a:r>
              <a:rPr lang="zh-CN" altLang="en-US" sz="3200" b="1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dirty="0">
              <a:solidFill>
                <a:srgbClr val="0A41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72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第一层输出最大绝对值为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77676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2^16&lt;output&lt;2^17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，因此该层截位位置应为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符号位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)+17(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有效位宽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)-8(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存储位宽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，即保留输出的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[17:10]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72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第二层输出最大绝对值为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31970808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，经过第一层的截位后最大值为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31970808/(2^10)=31222(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向上取整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2^14&lt;output&lt;2^15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，因此该层截位位置应为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符号位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)+15(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有效位宽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)-8(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存储位宽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，即保留输出的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[15:8]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B31506-BC7E-4425-A39A-6938D98B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A882B1-E808-40FF-87CD-B80D01CD40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标注: 线形 5">
            <a:extLst>
              <a:ext uri="{FF2B5EF4-FFF2-40B4-BE49-F238E27FC236}">
                <a16:creationId xmlns:a16="http://schemas.microsoft.com/office/drawing/2014/main" id="{E0D6F6B0-548A-4D5E-BC06-E57454BB740A}"/>
              </a:ext>
            </a:extLst>
          </p:cNvPr>
          <p:cNvSpPr/>
          <p:nvPr/>
        </p:nvSpPr>
        <p:spPr>
          <a:xfrm>
            <a:off x="8801713" y="2368717"/>
            <a:ext cx="438150" cy="571500"/>
          </a:xfrm>
          <a:prstGeom prst="borderCallout1">
            <a:avLst>
              <a:gd name="adj1" fmla="val 98578"/>
              <a:gd name="adj2" fmla="val 56426"/>
              <a:gd name="adj3" fmla="val 155817"/>
              <a:gd name="adj4" fmla="val -62850"/>
            </a:avLst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3AD4DD-EFB6-4E73-9674-E2781D096AE7}"/>
              </a:ext>
            </a:extLst>
          </p:cNvPr>
          <p:cNvSpPr txBox="1"/>
          <p:nvPr/>
        </p:nvSpPr>
        <p:spPr>
          <a:xfrm>
            <a:off x="7235992" y="3070522"/>
            <a:ext cx="2003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右移位数</a:t>
            </a:r>
          </a:p>
        </p:txBody>
      </p:sp>
    </p:spTree>
    <p:extLst>
      <p:ext uri="{BB962C8B-B14F-4D97-AF65-F5344CB8AC3E}">
        <p14:creationId xmlns:p14="http://schemas.microsoft.com/office/powerpoint/2010/main" val="63555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4C4CD-D3E2-4716-954F-CA26CE71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193772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截位参考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A94776-6520-4DF9-AFDF-BCED2531D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C5DE81-726A-4C75-8DDA-9674F02D8C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11</a:t>
            </a:fld>
            <a:endParaRPr lang="zh-CN" altLang="en-US"/>
          </a:p>
        </p:txBody>
      </p:sp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323BA812-61E4-49B5-BD4F-CD21ED5F4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228186"/>
              </p:ext>
            </p:extLst>
          </p:nvPr>
        </p:nvGraphicFramePr>
        <p:xfrm>
          <a:off x="1491915" y="2700254"/>
          <a:ext cx="9047747" cy="240592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17980">
                  <a:extLst>
                    <a:ext uri="{9D8B030D-6E8A-4147-A177-3AD203B41FA5}">
                      <a16:colId xmlns:a16="http://schemas.microsoft.com/office/drawing/2014/main" val="638446180"/>
                    </a:ext>
                  </a:extLst>
                </a:gridCol>
                <a:gridCol w="1662986">
                  <a:extLst>
                    <a:ext uri="{9D8B030D-6E8A-4147-A177-3AD203B41FA5}">
                      <a16:colId xmlns:a16="http://schemas.microsoft.com/office/drawing/2014/main" val="3032089286"/>
                    </a:ext>
                  </a:extLst>
                </a:gridCol>
                <a:gridCol w="2194182">
                  <a:extLst>
                    <a:ext uri="{9D8B030D-6E8A-4147-A177-3AD203B41FA5}">
                      <a16:colId xmlns:a16="http://schemas.microsoft.com/office/drawing/2014/main" val="1508806319"/>
                    </a:ext>
                  </a:extLst>
                </a:gridCol>
                <a:gridCol w="2972599">
                  <a:extLst>
                    <a:ext uri="{9D8B030D-6E8A-4147-A177-3AD203B41FA5}">
                      <a16:colId xmlns:a16="http://schemas.microsoft.com/office/drawing/2014/main" val="3784453107"/>
                    </a:ext>
                  </a:extLst>
                </a:gridCol>
              </a:tblGrid>
              <a:tr h="6553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layer1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layer2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layer3</a:t>
                      </a:r>
                      <a:endParaRPr lang="zh-CN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278979"/>
                  </a:ext>
                </a:extLst>
              </a:tr>
              <a:tr h="642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最大绝对值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80,805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39,386,422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17,379,948,761</a:t>
                      </a:r>
                      <a:endParaRPr lang="zh-CN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020390"/>
                  </a:ext>
                </a:extLst>
              </a:tr>
              <a:tr h="11083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对应二进制数位宽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17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26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35</a:t>
                      </a:r>
                      <a:endParaRPr lang="zh-CN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735911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16D95E9-65CA-42AB-A19B-1F3EB1FA0AB0}"/>
              </a:ext>
            </a:extLst>
          </p:cNvPr>
          <p:cNvSpPr txBox="1"/>
          <p:nvPr/>
        </p:nvSpPr>
        <p:spPr>
          <a:xfrm>
            <a:off x="609599" y="1165517"/>
            <a:ext cx="11269579" cy="148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表中列出了全连接网络（有符号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INT8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量化模型）每一层输出的最大绝对值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299CB3-1EBC-4789-951C-E8909DDB2D16}"/>
              </a:ext>
            </a:extLst>
          </p:cNvPr>
          <p:cNvSpPr txBox="1"/>
          <p:nvPr/>
        </p:nvSpPr>
        <p:spPr>
          <a:xfrm>
            <a:off x="3858126" y="5158265"/>
            <a:ext cx="5368313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基于所有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个样本的统计</a:t>
            </a:r>
          </a:p>
        </p:txBody>
      </p:sp>
    </p:spTree>
    <p:extLst>
      <p:ext uri="{BB962C8B-B14F-4D97-AF65-F5344CB8AC3E}">
        <p14:creationId xmlns:p14="http://schemas.microsoft.com/office/powerpoint/2010/main" val="4272066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73F07-A571-4AF0-A02C-4E77A398F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149225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截位长度选择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173A10-D521-40DB-9368-2702963AA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052" y="1077911"/>
            <a:ext cx="11524247" cy="47513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b="1" dirty="0"/>
              <a:t>常见的截位长度有</a:t>
            </a:r>
            <a:r>
              <a:rPr lang="en-US" altLang="zh-CN" sz="3200" b="1" dirty="0"/>
              <a:t>4</a:t>
            </a:r>
            <a:r>
              <a:rPr lang="zh-CN" altLang="en-US" sz="3200" b="1" dirty="0"/>
              <a:t>位、</a:t>
            </a:r>
            <a:r>
              <a:rPr lang="en-US" altLang="zh-CN" sz="3200" b="1" dirty="0"/>
              <a:t>8</a:t>
            </a:r>
            <a:r>
              <a:rPr lang="zh-CN" altLang="en-US" sz="3200" b="1" dirty="0"/>
              <a:t>位、</a:t>
            </a:r>
            <a:r>
              <a:rPr lang="en-US" altLang="zh-CN" sz="3200" b="1" dirty="0"/>
              <a:t>16</a:t>
            </a:r>
            <a:r>
              <a:rPr lang="zh-CN" altLang="en-US" sz="3200" b="1" dirty="0"/>
              <a:t>位等等</a:t>
            </a:r>
            <a:endParaRPr lang="en-US" altLang="zh-CN" sz="3200" b="1" dirty="0"/>
          </a:p>
          <a:p>
            <a:pPr>
              <a:lnSpc>
                <a:spcPct val="150000"/>
              </a:lnSpc>
            </a:pPr>
            <a:r>
              <a:rPr lang="zh-CN" altLang="en-US" sz="3200" b="1" dirty="0"/>
              <a:t>其中</a:t>
            </a:r>
            <a:r>
              <a:rPr lang="en-US" altLang="zh-CN" sz="3200" b="1" dirty="0"/>
              <a:t>8</a:t>
            </a:r>
            <a:r>
              <a:rPr lang="zh-CN" altLang="en-US" sz="3200" b="1" dirty="0"/>
              <a:t>位是工程实现中的“甜点”，精度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资源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吞吐折中较好</a:t>
            </a:r>
            <a:endParaRPr lang="en-US" altLang="zh-CN" sz="3200" b="1" dirty="0"/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FPGA</a:t>
            </a:r>
            <a:r>
              <a:rPr lang="zh-CN" altLang="en-US" sz="3200" b="1" dirty="0"/>
              <a:t>中对</a:t>
            </a:r>
            <a:r>
              <a:rPr lang="en-US" altLang="zh-CN" sz="3200" b="1" dirty="0"/>
              <a:t>INT8</a:t>
            </a:r>
            <a:r>
              <a:rPr lang="zh-CN" altLang="en-US" sz="3200" b="1" dirty="0"/>
              <a:t>做了专门优化，一个 </a:t>
            </a:r>
            <a:r>
              <a:rPr lang="en-US" altLang="zh-CN" sz="3200" b="1" dirty="0"/>
              <a:t>DSP </a:t>
            </a:r>
            <a:r>
              <a:rPr lang="zh-CN" altLang="en-US" sz="3200" b="1" dirty="0"/>
              <a:t>模块可以执行多个 </a:t>
            </a:r>
            <a:r>
              <a:rPr lang="en-US" altLang="zh-CN" sz="3200" b="1" dirty="0"/>
              <a:t>8-bit </a:t>
            </a:r>
            <a:r>
              <a:rPr lang="zh-CN" altLang="en-US" sz="3200" b="1" dirty="0"/>
              <a:t>运算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FF9829-6806-40E4-9029-8324CD14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7B5A18-1C8A-48E8-B145-5BF3523AD7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38170B-F292-4F53-9CF8-8592E6DE72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372"/>
          <a:stretch/>
        </p:blipFill>
        <p:spPr>
          <a:xfrm>
            <a:off x="3846208" y="3532184"/>
            <a:ext cx="724301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82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E028D-3D62-48D0-AA2B-2E96EA4F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51128-9934-43CA-9510-4086F813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7002"/>
            <a:ext cx="10972800" cy="495934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实验任务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截位策略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>
                <a:solidFill>
                  <a:srgbClr val="FF0000"/>
                </a:solidFill>
              </a:rPr>
              <a:t> 截位的硬件实现（</a:t>
            </a:r>
            <a:r>
              <a:rPr lang="en-US" altLang="zh-CN" sz="3600" b="1" dirty="0" err="1">
                <a:solidFill>
                  <a:srgbClr val="FF0000"/>
                </a:solidFill>
              </a:rPr>
              <a:t>verilog</a:t>
            </a:r>
            <a:r>
              <a:rPr lang="zh-CN" altLang="en-US" sz="3600" b="1" dirty="0">
                <a:solidFill>
                  <a:srgbClr val="FF0000"/>
                </a:solidFill>
              </a:rPr>
              <a:t>）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代码修改建议及验收方式</a:t>
            </a:r>
            <a:endParaRPr lang="en-US" altLang="zh-CN" sz="3600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3C4D3E-89EC-44ED-8E2D-C59CAEE8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0D4D1C-1B99-4445-A083-E179181EE7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237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00FF6-A6A1-2448-30D6-9B8862E8E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19EA708E-8305-BB11-5482-F9AA6925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920080"/>
          </a:xfrm>
        </p:spPr>
        <p:txBody>
          <a:bodyPr/>
          <a:lstStyle/>
          <a:p>
            <a:pPr algn="ctr"/>
            <a:r>
              <a:rPr lang="en-US" altLang="zh-CN" dirty="0"/>
              <a:t>MAC</a:t>
            </a:r>
            <a:r>
              <a:rPr lang="zh-CN" altLang="en-US" dirty="0"/>
              <a:t>运算截位硬件实现</a:t>
            </a:r>
            <a:endParaRPr lang="zh-CN" altLang="en-US" b="0" dirty="0"/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31E7B373-304D-61D9-4E54-80C98824E4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>
                <a:solidFill>
                  <a:srgbClr val="0A419B"/>
                </a:solidFill>
              </a:rPr>
              <a:t>2025/10/20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197" name="灯片编号占位符 5">
            <a:extLst>
              <a:ext uri="{FF2B5EF4-FFF2-40B4-BE49-F238E27FC236}">
                <a16:creationId xmlns:a16="http://schemas.microsoft.com/office/drawing/2014/main" id="{65E7B2EC-4373-0768-3056-35922F0090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14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E13B5C-24B7-DBC6-70BB-D15DBE3BABC2}"/>
              </a:ext>
            </a:extLst>
          </p:cNvPr>
          <p:cNvSpPr/>
          <p:nvPr/>
        </p:nvSpPr>
        <p:spPr>
          <a:xfrm>
            <a:off x="283535" y="1025837"/>
            <a:ext cx="11249246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截位一般通过位选择的方式实现，实现代码如下所示：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hangingPunct="1">
              <a:buFont typeface="Arial" panose="020B0604020202020204" pitchFamily="34" charset="0"/>
              <a:buChar char="•"/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因为网络各层的截位位置</a:t>
            </a:r>
            <a:b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可能不同，在硬件设计时</a:t>
            </a:r>
            <a:b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可写为可配置参数形式：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4FF8EB-0EC1-AF44-B33B-B3D382F1FF0A}"/>
              </a:ext>
            </a:extLst>
          </p:cNvPr>
          <p:cNvSpPr/>
          <p:nvPr/>
        </p:nvSpPr>
        <p:spPr>
          <a:xfrm>
            <a:off x="5524100" y="3411105"/>
            <a:ext cx="6483416" cy="3108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hangingPunct="1"/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module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pe_mac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#(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/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parameter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ACCUN_WIDTH </a:t>
            </a:r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/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parameter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OUTPUT_WIDTH </a:t>
            </a:r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 hangingPunct="1"/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)(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input [3:0]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cut_position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 hangingPunct="1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……</a:t>
            </a:r>
          </a:p>
          <a:p>
            <a:pPr hangingPunct="1"/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11F8E6-6CB2-7B49-B759-2D6183623783}"/>
              </a:ext>
            </a:extLst>
          </p:cNvPr>
          <p:cNvSpPr/>
          <p:nvPr/>
        </p:nvSpPr>
        <p:spPr>
          <a:xfrm>
            <a:off x="874296" y="1659769"/>
            <a:ext cx="8681328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hangingPunct="1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always @(posedge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begin</a:t>
            </a:r>
          </a:p>
          <a:p>
            <a:pPr hangingPunct="1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output &lt;=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accum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[15:8]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截高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位输出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8464925"/>
      </p:ext>
    </p:extLst>
  </p:cSld>
  <p:clrMapOvr>
    <a:masterClrMapping/>
  </p:clrMapOvr>
  <p:transition advTm="235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E028D-3D62-48D0-AA2B-2E96EA4F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51128-9934-43CA-9510-4086F813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7002"/>
            <a:ext cx="10972800" cy="495934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实验任务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截位策略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/>
              <a:t> 截位的硬件实现（</a:t>
            </a:r>
            <a:r>
              <a:rPr lang="en-US" altLang="zh-CN" sz="3600" b="1" dirty="0" err="1"/>
              <a:t>verilog</a:t>
            </a:r>
            <a:r>
              <a:rPr lang="zh-CN" altLang="en-US" sz="3600" b="1" dirty="0"/>
              <a:t>）</a:t>
            </a:r>
            <a:endParaRPr lang="en-US" altLang="zh-CN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b="1" dirty="0">
                <a:solidFill>
                  <a:srgbClr val="FF0000"/>
                </a:solidFill>
              </a:rPr>
              <a:t> 代码修改建议及验收方式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3C4D3E-89EC-44ED-8E2D-C59CAEE8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0D4D1C-1B99-4445-A083-E179181EE7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771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308F8-542E-4E9E-82A8-A136F190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85750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代码修改建议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0CE56F-AC06-44CB-B360-9FDBBBD9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590" y="1053306"/>
            <a:ext cx="11750842" cy="5668170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3000" b="1" dirty="0"/>
              <a:t>各层输出结果位宽的调整，各层输入数据、乘法器输入、加法中间结果等的位宽</a:t>
            </a:r>
            <a:endParaRPr lang="en-US" altLang="zh-CN" sz="3000" b="1" dirty="0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3000" b="1" dirty="0"/>
              <a:t>各层输出结果</a:t>
            </a:r>
            <a:r>
              <a:rPr lang="en-US" altLang="zh-CN" sz="3000" b="1" dirty="0"/>
              <a:t>BRAM</a:t>
            </a:r>
            <a:r>
              <a:rPr lang="zh-CN" altLang="en-US" sz="3000" b="1" dirty="0"/>
              <a:t>的位宽调整</a:t>
            </a:r>
            <a:endParaRPr lang="en-US" altLang="zh-CN" sz="3000" b="1" dirty="0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3000" b="1" dirty="0"/>
              <a:t>乘法器阵列的顶层文件修改（比如此时进行的都是</a:t>
            </a:r>
            <a:r>
              <a:rPr lang="en-US" altLang="zh-CN" sz="3000" b="1" dirty="0"/>
              <a:t>8</a:t>
            </a:r>
            <a:r>
              <a:rPr lang="zh-CN" altLang="en-US" sz="3000" b="1" dirty="0"/>
              <a:t>位有符号数之间的乘法，并且各层使用乘法的时机不同，因此乘法器阵列可以实现共用）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3000" b="1" dirty="0"/>
              <a:t>可以在</a:t>
            </a:r>
            <a:r>
              <a:rPr lang="en-US" altLang="zh-CN" sz="3000" b="1" dirty="0"/>
              <a:t>testbench</a:t>
            </a:r>
            <a:r>
              <a:rPr lang="zh-CN" altLang="en-US" sz="3000" b="1" dirty="0"/>
              <a:t>中设定输入数据</a:t>
            </a:r>
            <a:r>
              <a:rPr lang="en-US" altLang="zh-CN" sz="3000" b="1" dirty="0"/>
              <a:t>BRAM</a:t>
            </a:r>
            <a:r>
              <a:rPr lang="zh-CN" altLang="en-US" sz="3000" b="1" dirty="0"/>
              <a:t>的初始值，从而方便更换输入样本数据</a:t>
            </a:r>
            <a:endParaRPr lang="en-US" altLang="zh-CN" sz="3000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59D13D-19C8-487A-89D8-4A3810DD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0E3D3C-5A0F-4456-9D22-5442FE5EE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856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3D4E9D-5566-5CB8-B976-E0F8D888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验收方式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88125-2E22-B088-7B59-2A5C77B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499" y="839788"/>
            <a:ext cx="10972800" cy="15414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endParaRPr lang="en-US" altLang="zh-CN" sz="3200" dirty="0">
              <a:solidFill>
                <a:srgbClr val="0A419B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A419B"/>
                </a:solidFill>
              </a:rPr>
              <a:t>将实验结果汇入实验报告，给出分析结论，内容包括：</a:t>
            </a:r>
            <a:endParaRPr lang="en-US" altLang="zh-CN" sz="3200" b="1" dirty="0">
              <a:solidFill>
                <a:srgbClr val="0A419B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3200" b="1" dirty="0">
              <a:solidFill>
                <a:srgbClr val="0A419B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3200" b="1" dirty="0">
              <a:solidFill>
                <a:srgbClr val="0A419B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A419B"/>
                </a:solidFill>
              </a:rPr>
              <a:t>课堂不验收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23D976-92CD-5B28-4BD7-A3FD9AAA8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2025/10/20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34DB22-4FFB-E45E-B785-945DEA51F6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C2C50C-6A78-F558-0F15-91BE9E868119}"/>
              </a:ext>
            </a:extLst>
          </p:cNvPr>
          <p:cNvSpPr txBox="1"/>
          <p:nvPr/>
        </p:nvSpPr>
        <p:spPr>
          <a:xfrm>
            <a:off x="1088480" y="2260572"/>
            <a:ext cx="10846845" cy="222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截位方案至少包括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位、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位有符号整数（三层全部截位）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不同截位方案对最终推理准确度的影响（基于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个样本）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C29124-18EC-914D-9F47-EAB3D18EC6D7}"/>
              </a:ext>
            </a:extLst>
          </p:cNvPr>
          <p:cNvSpPr/>
          <p:nvPr/>
        </p:nvSpPr>
        <p:spPr>
          <a:xfrm>
            <a:off x="4805725" y="4255715"/>
            <a:ext cx="6874042" cy="1684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可尝试其他截位策略和方案</a:t>
            </a:r>
            <a:br>
              <a:rPr lang="en-US" altLang="zh-CN" sz="3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与助教沟通</a:t>
            </a:r>
            <a:endParaRPr lang="en-US" altLang="zh-CN" sz="32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59073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</TotalTime>
  <Words>1042</Words>
  <Application>Microsoft Macintosh PowerPoint</Application>
  <PresentationFormat>宽屏</PresentationFormat>
  <Paragraphs>186</Paragraphs>
  <Slides>17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微软雅黑</vt:lpstr>
      <vt:lpstr>Arial</vt:lpstr>
      <vt:lpstr>Calibri</vt:lpstr>
      <vt:lpstr>Impact</vt:lpstr>
      <vt:lpstr>Wingdings</vt:lpstr>
      <vt:lpstr>1_自定义设计方案</vt:lpstr>
      <vt:lpstr>PowerPoint 演示文稿</vt:lpstr>
      <vt:lpstr>实验总览</vt:lpstr>
      <vt:lpstr>目录</vt:lpstr>
      <vt:lpstr>目录</vt:lpstr>
      <vt:lpstr>实验任务</vt:lpstr>
      <vt:lpstr>PowerPoint 演示文稿</vt:lpstr>
      <vt:lpstr>目录</vt:lpstr>
      <vt:lpstr>截位策略</vt:lpstr>
      <vt:lpstr>截位策略</vt:lpstr>
      <vt:lpstr>截位举例</vt:lpstr>
      <vt:lpstr>截位参考</vt:lpstr>
      <vt:lpstr>截位长度选择</vt:lpstr>
      <vt:lpstr>目录</vt:lpstr>
      <vt:lpstr>MAC运算截位硬件实现</vt:lpstr>
      <vt:lpstr>目录</vt:lpstr>
      <vt:lpstr>代码修改建议</vt:lpstr>
      <vt:lpstr>验收方式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升旭 王</dc:creator>
  <cp:lastModifiedBy>everlastingk@outlook.com</cp:lastModifiedBy>
  <cp:revision>114</cp:revision>
  <dcterms:created xsi:type="dcterms:W3CDTF">2025-07-21T03:23:00Z</dcterms:created>
  <dcterms:modified xsi:type="dcterms:W3CDTF">2025-10-20T08:04:38Z</dcterms:modified>
</cp:coreProperties>
</file>