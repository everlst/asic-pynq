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handoutMasterIdLst>
    <p:handoutMasterId r:id="rId20"/>
  </p:handoutMasterIdLst>
  <p:sldIdLst>
    <p:sldId id="1081" r:id="rId3"/>
    <p:sldId id="1525" r:id="rId4"/>
    <p:sldId id="1070" r:id="rId5"/>
    <p:sldId id="1073" r:id="rId6"/>
    <p:sldId id="1528" r:id="rId7"/>
    <p:sldId id="1529" r:id="rId8"/>
    <p:sldId id="1530" r:id="rId9"/>
    <p:sldId id="1527" r:id="rId10"/>
    <p:sldId id="1526" r:id="rId11"/>
    <p:sldId id="1074" r:id="rId12"/>
    <p:sldId id="1075" r:id="rId13"/>
    <p:sldId id="1086" r:id="rId14"/>
    <p:sldId id="1077" r:id="rId15"/>
    <p:sldId id="1531" r:id="rId16"/>
    <p:sldId id="1078" r:id="rId17"/>
    <p:sldId id="1079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09C"/>
    <a:srgbClr val="CDC2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82"/>
    <p:restoredTop sz="85797"/>
  </p:normalViewPr>
  <p:slideViewPr>
    <p:cSldViewPr snapToGrid="0">
      <p:cViewPr varScale="1">
        <p:scale>
          <a:sx n="124" d="100"/>
          <a:sy n="124" d="100"/>
        </p:scale>
        <p:origin x="208" y="1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92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75DE59D-DF70-445B-8033-5431422CBF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E92857-6F53-4BC2-B773-C5CA4D106F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0D64B9-5F5A-434A-9866-D590EE930AE7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3B82913-1338-4B4D-B39D-876E32EF8A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4F5A78-1E15-4450-820C-92C0142A32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D61AE1-E62F-4D91-AD0A-BC7EF54592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3023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16B9D-E05A-4CF0-BF64-9DCE1E1D555D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B291A7-793D-4EDA-AEE7-95EEEE2AF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88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F5FAF35-A6C5-4015-8BCC-58EF4616C707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72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indent="0">
              <a:buNone/>
            </a:pPr>
            <a:endParaRPr lang="zh-CN" altLang="en-US" sz="1600" dirty="0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CA1F1C-93C6-49CD-8A3B-9D921FF5C93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1573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768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143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111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375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168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0034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047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5957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3878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8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639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9DCCEA-28F3-4446-A306-3441B1869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2B5F53-3CC2-44B8-A119-E18B0F399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649A62-B3A2-490C-8C8C-6041DDD04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148E8-CA9B-42A2-847B-2E15ECD3CBC7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88C988-84BB-4C43-944E-480E30733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4582D4-D78A-41DA-B44D-984D42A4F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CC5C-FC50-4A54-9D9F-2C522D117D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618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66039B-1718-4EAC-A0CB-7690F96D6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89E174-403D-4628-8DE1-34EEC95AC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B393BC-FA22-4509-B44D-A2C90414F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148E8-CA9B-42A2-847B-2E15ECD3CBC7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E15BB3-DD49-4871-ADFF-2762E4D47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983605-EFB2-4061-862A-BF7038844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CC5C-FC50-4A54-9D9F-2C522D117D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992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C45E3B-EAD6-435E-B055-3AC67FE46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400AC7-FB07-4555-889A-1C18940DA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5A1E7E-AE7B-493D-9FCC-9A4C29000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148E8-CA9B-42A2-847B-2E15ECD3CBC7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F47879-A6C8-4AEB-ADA3-BE4C4681A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2EAC25-3184-4876-9D9E-94111CA90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CC5C-FC50-4A54-9D9F-2C522D117D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70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4B32F8-E796-4E2A-B2B7-B5F0938E2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2CDB4D-4B84-4BF5-94F7-BD601F4BC3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EC2812-4DC7-493E-AAAB-F192E3F47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D98B13-A89F-47B0-973D-C1DA8FCBD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148E8-CA9B-42A2-847B-2E15ECD3CBC7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D04875-913C-46DF-91C1-87D791B33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A412AE-A6A3-4251-AD8D-902F22E0E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CC5C-FC50-4A54-9D9F-2C522D117D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565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7E4446-DCD8-407F-A4CA-57240B62A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91F73B-BE60-47B1-9460-E6F24EB4B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10FD7D-8588-47DC-8217-864AA315D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CB115FA-1997-409F-9E78-98CCBDE59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AAF9AE-339D-4A39-82FA-BBB5F449B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FCED6AA-F61A-4D8B-9A6F-B0B69BF0F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148E8-CA9B-42A2-847B-2E15ECD3CBC7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9169D0-05AA-4D23-AA32-CCA894571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D79653-EFCC-4C9B-9012-A77F3C2BE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CC5C-FC50-4A54-9D9F-2C522D117D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863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C36993-D525-480B-A19E-EC2A4D6B2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50BDAC-B9EF-4BE4-A36C-10559A6F7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148E8-CA9B-42A2-847B-2E15ECD3CBC7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A6827C2-7509-4767-8D80-2E5DCD40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9CF3E4-41AB-435F-AB90-09D8DF933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CC5C-FC50-4A54-9D9F-2C522D117D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845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329F17-8771-46E3-9DA9-F192FAA16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148E8-CA9B-42A2-847B-2E15ECD3CBC7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A02050-20D7-4764-B9C0-FF0CDCD98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12D73B-7771-484A-8E00-EB255D02D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CC5C-FC50-4A54-9D9F-2C522D117D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42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1A59DD-22F6-445C-A0A1-BE40697CC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5F1046-1B5E-4FFB-90C9-24B1C8BD9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A7B05B-01FE-46F9-B8E7-C7453EC27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CF1B1D-E762-4687-99D0-E07035195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148E8-CA9B-42A2-847B-2E15ECD3CBC7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449C5D-8E54-4FC9-8800-5EF335873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032271-31F6-43DF-ACED-857920FF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CC5C-FC50-4A54-9D9F-2C522D117D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502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EF10FA-588E-4C8B-963B-11064C51C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886C3F2-F946-4302-A3B7-323D3A3293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406CF3-2E81-43FA-BA4B-F44BC51EC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F26D2D-4F16-4AEB-BBD4-33E6CCDF2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148E8-CA9B-42A2-847B-2E15ECD3CBC7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F0244B-C468-4C46-B03A-BED0E9678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1E8FF9-88FB-4CB5-93BA-36DA53F32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CC5C-FC50-4A54-9D9F-2C522D117D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398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81E2F-08D4-46EB-B8B1-F567F1C6A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B9439F-9927-4497-BD48-A94F08497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04697B-358E-4D53-8010-BC7AA0F78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148E8-CA9B-42A2-847B-2E15ECD3CBC7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E9F642-E36F-4695-A0B3-C90BB386B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6B3CCC-436B-4DED-8969-F656BF336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CC5C-FC50-4A54-9D9F-2C522D117D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934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F1A2D34-2B69-4B67-A33B-222966963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A8B708-F444-4301-83DA-DC16036F6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CDE8A3-AE1C-4EE5-B660-3FDE61810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148E8-CA9B-42A2-847B-2E15ECD3CBC7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120A19-08F5-4248-B35A-5211B9966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F7B182-B600-4AC7-B52D-4CBCDBEB4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CC5C-FC50-4A54-9D9F-2C522D117D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885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DE78DB-D598-441A-8C41-B83B1C96FFB3}" type="datetime1">
              <a:rPr lang="zh-CN" altLang="en-US"/>
              <a:t>2025/8/31</a:t>
            </a:fld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C62BC-DB2A-49EF-95E2-6A8FF8AD668A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946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55D866-0C96-4B24-86EC-E89A875CE9D0}" type="datetime1">
              <a:rPr lang="zh-CN" altLang="en-US"/>
              <a:t>2025/8/31</a:t>
            </a:fld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440AC-DCFE-45A7-8879-CACC57DABA6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62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48A6F-EF6D-43C5-879E-E51D28D116D3}" type="datetime1">
              <a:rPr lang="zh-CN" altLang="en-US"/>
              <a:t>2025/8/31</a:t>
            </a:fld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A055D0-29A2-478C-A993-069FB039F74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804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F05A0-1103-4E3D-A057-E85C641F7362}" type="datetime1">
              <a:rPr lang="zh-CN" altLang="en-US"/>
              <a:t>2025/8/31</a:t>
            </a:fld>
            <a:endParaRPr lang="zh-CN" altLang="en-US" dirty="0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255405-58E2-4673-9538-DD3B9B264C11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3421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4AF8A3-456C-4E6C-A16D-30794E88C830}" type="datetime1">
              <a:rPr lang="zh-CN" altLang="en-US"/>
              <a:t>2025/8/31</a:t>
            </a:fld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0C269-E132-4BE1-B979-135F4A43B7F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955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295400"/>
            <a:ext cx="10363200" cy="16002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3086101"/>
            <a:ext cx="10363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Author(s)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70ACC9-F0AB-4798-9CD7-355D71A425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5029200"/>
            <a:ext cx="10363200" cy="1143000"/>
          </a:xfrm>
          <a:prstGeom prst="rect">
            <a:avLst/>
          </a:prstGeom>
        </p:spPr>
        <p:txBody>
          <a:bodyPr/>
          <a:lstStyle>
            <a:lvl1pPr algn="ctr"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 dirty="0"/>
              <a:t>Affiliation(s)</a:t>
            </a:r>
          </a:p>
        </p:txBody>
      </p:sp>
    </p:spTree>
    <p:extLst>
      <p:ext uri="{BB962C8B-B14F-4D97-AF65-F5344CB8AC3E}">
        <p14:creationId xmlns:p14="http://schemas.microsoft.com/office/powerpoint/2010/main" val="37813742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761B3-B586-4B8F-A9E9-61EA08581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65131"/>
            <a:ext cx="10210800" cy="701675"/>
          </a:xfrm>
          <a:prstGeom prst="rect">
            <a:avLst/>
          </a:prstGeom>
        </p:spPr>
        <p:txBody>
          <a:bodyPr/>
          <a:lstStyle>
            <a:lvl1pPr algn="l"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ja-JP" dirty="0"/>
              <a:t>Click to edit Master title style</a:t>
            </a:r>
            <a:endParaRPr kumimoji="1" lang="ja-JP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6BD71-65C3-478D-93E8-128C6CB7E2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219200"/>
            <a:ext cx="10515600" cy="4953000"/>
          </a:xfrm>
          <a:prstGeom prst="rect">
            <a:avLst/>
          </a:prstGeom>
        </p:spPr>
        <p:txBody>
          <a:bodyPr/>
          <a:lstStyle>
            <a:lvl1pPr marL="402421" indent="-402421">
              <a:buFont typeface="Wingdings" panose="05000000000000000000" pitchFamily="2" charset="2"/>
              <a:buChar char="n"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75068" indent="-332177">
              <a:buSzPct val="90000"/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42951" indent="-257168">
              <a:buFont typeface="Arial" panose="020B0604020202020204" pitchFamily="34" charset="0"/>
              <a:buChar char="−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kumimoji="1" lang="en-US" altLang="ja-JP" dirty="0"/>
              <a:t>Click to edit Master text styles</a:t>
            </a:r>
          </a:p>
          <a:p>
            <a:pPr lvl="1"/>
            <a:r>
              <a:rPr kumimoji="1" lang="en-US" altLang="ja-JP" dirty="0"/>
              <a:t>Second level</a:t>
            </a:r>
          </a:p>
          <a:p>
            <a:pPr lvl="2"/>
            <a:r>
              <a:rPr kumimoji="1" lang="en-US" altLang="ja-JP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295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ags" Target="../tags/tag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16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15.xml"/><Relationship Id="rId9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7C7E81F-6CDF-4F1C-9B68-82C81EABD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2ABF14-2A88-4C10-B5DC-379550082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E0F767-33F5-4402-806B-1264E09E2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148E8-CA9B-42A2-847B-2E15ECD3CBC7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720651-ADF5-4C4A-A910-8B38DB0BC4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1404C0-DB02-4390-BC5C-8C8FE6DF6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9CC5C-FC50-4A54-9D9F-2C522D117D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01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9"/>
            </p:custDataLst>
          </p:nvPr>
        </p:nvSpPr>
        <p:spPr>
          <a:xfrm>
            <a:off x="0" y="6237288"/>
            <a:ext cx="12192000" cy="620712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11" name="矩形 10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2192000" cy="90805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11144253" y="6357938"/>
            <a:ext cx="480483" cy="360362"/>
          </a:xfrm>
          <a:prstGeom prst="ellipse">
            <a:avLst/>
          </a:prstGeom>
          <a:solidFill>
            <a:srgbClr val="0A41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9" name="标题占位符 1"/>
          <p:cNvSpPr>
            <a:spLocks noGrp="1"/>
          </p:cNvSpPr>
          <p:nvPr>
            <p:ph type="title"/>
          </p:nvPr>
        </p:nvSpPr>
        <p:spPr bwMode="auto">
          <a:xfrm>
            <a:off x="609603" y="223838"/>
            <a:ext cx="87249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341438"/>
            <a:ext cx="10972800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37E52844-4327-4055-A3C8-49C907DEF340}" type="datetime1">
              <a:rPr lang="zh-CN" altLang="en-US"/>
              <a:t>2025/8/31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89220" y="6356355"/>
            <a:ext cx="590549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4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EA8957C2-AF6F-4D31-BB8A-D74B12D1140C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1033" name="矩形 14"/>
          <p:cNvSpPr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-2117" y="908052"/>
            <a:ext cx="12194117" cy="36513"/>
          </a:xfrm>
          <a:prstGeom prst="rect">
            <a:avLst/>
          </a:prstGeom>
          <a:solidFill>
            <a:srgbClr val="0A419B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34" name="矩形 18"/>
          <p:cNvSpPr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-2117" y="6200780"/>
            <a:ext cx="12194117" cy="34925"/>
          </a:xfrm>
          <a:prstGeom prst="rect">
            <a:avLst/>
          </a:prstGeom>
          <a:solidFill>
            <a:srgbClr val="0A419B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35" name="页脚占位符 16"/>
          <p:cNvSpPr txBox="1"/>
          <p:nvPr userDrawn="1"/>
        </p:nvSpPr>
        <p:spPr bwMode="auto">
          <a:xfrm>
            <a:off x="4559301" y="6356350"/>
            <a:ext cx="6242051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1600" dirty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ASIC Design, by Shanshan Liu</a:t>
            </a:r>
          </a:p>
        </p:txBody>
      </p:sp>
    </p:spTree>
    <p:extLst>
      <p:ext uri="{BB962C8B-B14F-4D97-AF65-F5344CB8AC3E}">
        <p14:creationId xmlns:p14="http://schemas.microsoft.com/office/powerpoint/2010/main" val="3291240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189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377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566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754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pynq.readthedocs.io/en/latest/" TargetMode="External"/><Relationship Id="rId4" Type="http://schemas.openxmlformats.org/officeDocument/2006/relationships/image" Target="../media/image1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F23483-BE9D-40F5-84A8-EFCDE103A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3F05A0-1103-4E3D-A057-E85C641F7362}" type="datetime1">
              <a:rPr lang="zh-CN" altLang="en-US" smtClean="0"/>
              <a:t>2025/8/31</a:t>
            </a:fld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0B685C-EE4F-4D13-A67B-8F443DB8AD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8255405-58E2-4673-9538-DD3B9B264C11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C6117A82-9B5D-5C4B-8500-AB0C9CD31A91}"/>
              </a:ext>
            </a:extLst>
          </p:cNvPr>
          <p:cNvSpPr txBox="1">
            <a:spLocks/>
          </p:cNvSpPr>
          <p:nvPr/>
        </p:nvSpPr>
        <p:spPr>
          <a:xfrm>
            <a:off x="1442721" y="2176408"/>
            <a:ext cx="9144000" cy="300704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5400" dirty="0"/>
              <a:t>Project: FPGA-based AI</a:t>
            </a:r>
            <a:r>
              <a:rPr lang="zh-CN" altLang="en-US" sz="5400" dirty="0"/>
              <a:t> </a:t>
            </a:r>
            <a:r>
              <a:rPr lang="en-US" altLang="zh-CN" sz="5400" dirty="0"/>
              <a:t>Accelerator Design</a:t>
            </a:r>
            <a:endParaRPr lang="zh-CN" altLang="en-US" sz="5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060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/>
          <p:cNvSpPr>
            <a:spLocks noGrp="1"/>
          </p:cNvSpPr>
          <p:nvPr>
            <p:ph type="title"/>
          </p:nvPr>
        </p:nvSpPr>
        <p:spPr>
          <a:xfrm>
            <a:off x="1524000" y="223840"/>
            <a:ext cx="9144000" cy="615951"/>
          </a:xfrm>
        </p:spPr>
        <p:txBody>
          <a:bodyPr/>
          <a:lstStyle/>
          <a:p>
            <a:pPr algn="ctr"/>
            <a:r>
              <a:rPr lang="en-US" altLang="zh-CN" dirty="0"/>
              <a:t>Project: FPGA-based AI</a:t>
            </a:r>
            <a:r>
              <a:rPr lang="zh-CN" altLang="en-US" dirty="0"/>
              <a:t> </a:t>
            </a:r>
            <a:r>
              <a:rPr lang="en-US" altLang="zh-CN" dirty="0"/>
              <a:t>Accelerator Design</a:t>
            </a:r>
            <a:endParaRPr lang="zh-CN" altLang="en-US" dirty="0"/>
          </a:p>
        </p:txBody>
      </p:sp>
      <p:sp>
        <p:nvSpPr>
          <p:cNvPr id="72708" name="日期占位符 3"/>
          <p:cNvSpPr>
            <a:spLocks noGrp="1"/>
          </p:cNvSpPr>
          <p:nvPr>
            <p:ph type="dt" sz="quarter" idx="10"/>
          </p:nvPr>
        </p:nvSpPr>
        <p:spPr bwMode="auto">
          <a:xfrm>
            <a:off x="1981200" y="6356354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FB449B4D-3E19-466F-9940-4AFB84EBBC3E}" type="datetime1">
              <a:rPr lang="zh-CN" altLang="en-US" smtClean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2025/8/31</a:t>
            </a:fld>
            <a:endParaRPr lang="zh-CN" altLang="en-US" dirty="0">
              <a:solidFill>
                <a:srgbClr val="0A41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709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F8C3583-6A76-4BE5-B0A4-8A796BCDD59F}" type="slidenum">
              <a:rPr lang="zh-CN" altLang="en-US" sz="1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eaLnBrk="1" hangingPunct="1"/>
              <a:t>2</a:t>
            </a:fld>
            <a:endParaRPr lang="zh-CN" altLang="en-US" sz="11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9D469F3-2CBE-D049-BDF8-AD402B584A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9" t="11289" r="2456" b="8463"/>
          <a:stretch/>
        </p:blipFill>
        <p:spPr>
          <a:xfrm>
            <a:off x="1347231" y="3823403"/>
            <a:ext cx="2551872" cy="173370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5F4435E-C2C4-7A42-B997-B87229337EE3}"/>
              </a:ext>
            </a:extLst>
          </p:cNvPr>
          <p:cNvSpPr/>
          <p:nvPr/>
        </p:nvSpPr>
        <p:spPr>
          <a:xfrm>
            <a:off x="4912591" y="4782328"/>
            <a:ext cx="67671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/>
              <a:t>基于</a:t>
            </a:r>
            <a:r>
              <a:rPr lang="en-US" altLang="zh-CN" sz="2400" b="1" dirty="0"/>
              <a:t>FPGA</a:t>
            </a:r>
            <a:r>
              <a:rPr lang="zh-CN" altLang="en-US" sz="2400" b="1" dirty="0"/>
              <a:t>的</a:t>
            </a:r>
            <a:r>
              <a:rPr lang="en-US" altLang="zh-CN" sz="2400" b="1" dirty="0"/>
              <a:t>AI</a:t>
            </a:r>
            <a:r>
              <a:rPr lang="zh-CN" altLang="en-US" sz="2400" b="1" dirty="0"/>
              <a:t>加速器设计：任务分解图（</a:t>
            </a:r>
            <a:r>
              <a:rPr lang="en-US" altLang="zh-CN" sz="2400" b="1" dirty="0"/>
              <a:t>8 Labs</a:t>
            </a:r>
            <a:r>
              <a:rPr lang="zh-CN" altLang="en-US" sz="2400" b="1" dirty="0"/>
              <a:t>）</a:t>
            </a:r>
            <a:endParaRPr lang="zh-CN" altLang="en-US" sz="24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DDA8896-AE24-DA42-B516-D65A9435EF20}"/>
              </a:ext>
            </a:extLst>
          </p:cNvPr>
          <p:cNvSpPr/>
          <p:nvPr/>
        </p:nvSpPr>
        <p:spPr>
          <a:xfrm>
            <a:off x="1347231" y="5673350"/>
            <a:ext cx="33297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PYNQ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FPGA</a:t>
            </a:r>
            <a:r>
              <a:rPr lang="zh-CN" altLang="en-US" sz="2400" b="1" dirty="0"/>
              <a:t>开发板</a:t>
            </a:r>
            <a:endParaRPr lang="zh-CN" altLang="en-US" sz="2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F219D3F-F959-2246-B62B-3CDE5DDF2348}"/>
              </a:ext>
            </a:extLst>
          </p:cNvPr>
          <p:cNvSpPr/>
          <p:nvPr/>
        </p:nvSpPr>
        <p:spPr>
          <a:xfrm>
            <a:off x="1089891" y="3205359"/>
            <a:ext cx="32604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/>
              <a:t>神经网络（分类任务）</a:t>
            </a:r>
            <a:endParaRPr lang="zh-CN" altLang="en-US" sz="24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37FFBEF-1BB7-EF4A-A859-143FB76FDF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7231" y="1205202"/>
            <a:ext cx="2551872" cy="1953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上弧形箭头 13">
            <a:extLst>
              <a:ext uri="{FF2B5EF4-FFF2-40B4-BE49-F238E27FC236}">
                <a16:creationId xmlns:a16="http://schemas.microsoft.com/office/drawing/2014/main" id="{8ED513A8-26A4-1D46-982D-BF6F5465BFA7}"/>
              </a:ext>
            </a:extLst>
          </p:cNvPr>
          <p:cNvSpPr/>
          <p:nvPr/>
        </p:nvSpPr>
        <p:spPr>
          <a:xfrm rot="16200000">
            <a:off x="3654530" y="2899751"/>
            <a:ext cx="1552035" cy="886851"/>
          </a:xfrm>
          <a:prstGeom prst="curvedUp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671B41-0619-F548-8ADB-9B3BF1403645}"/>
              </a:ext>
            </a:extLst>
          </p:cNvPr>
          <p:cNvSpPr/>
          <p:nvPr/>
        </p:nvSpPr>
        <p:spPr>
          <a:xfrm>
            <a:off x="3072295" y="2597151"/>
            <a:ext cx="5421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accent5"/>
                </a:solidFill>
              </a:rPr>
              <a:t>AI</a:t>
            </a:r>
            <a:endParaRPr lang="zh-CN" altLang="en-US" sz="3200" dirty="0">
              <a:solidFill>
                <a:schemeClr val="accent5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F05FC21-76F5-2A4A-955B-76D76002E7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2591" y="1100961"/>
            <a:ext cx="6198737" cy="35871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2" descr="https://timgsa.baidu.com/timg?image&amp;quality=80&amp;size=b9999_10000&amp;sec=1536248231654&amp;di=ca9134e56424345d506424d88d1bf5cf&amp;imgtype=0&amp;src=http%3A%2F%2Fww2.sinaimg.cn%2Forj480%2F6a8a5823gw1f17xxhoeo0j20go09egly.jpg">
            <a:extLst>
              <a:ext uri="{FF2B5EF4-FFF2-40B4-BE49-F238E27FC236}">
                <a16:creationId xmlns:a16="http://schemas.microsoft.com/office/drawing/2014/main" id="{AA6B4DB6-9C41-254F-ABE6-F7066ED722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12" b="25549"/>
          <a:stretch/>
        </p:blipFill>
        <p:spPr bwMode="auto">
          <a:xfrm>
            <a:off x="6437502" y="5505164"/>
            <a:ext cx="1804825" cy="618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7B9AA680-016A-C94A-B4F7-B68A06AAF905}"/>
              </a:ext>
            </a:extLst>
          </p:cNvPr>
          <p:cNvSpPr/>
          <p:nvPr/>
        </p:nvSpPr>
        <p:spPr>
          <a:xfrm>
            <a:off x="4912591" y="5677917"/>
            <a:ext cx="33297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EDA</a:t>
            </a:r>
            <a:r>
              <a:rPr lang="zh-CN" altLang="en-US" sz="2400" b="1" dirty="0"/>
              <a:t>软件：</a:t>
            </a:r>
            <a:endParaRPr lang="zh-CN" alt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3201653"/>
      </p:ext>
    </p:extLst>
  </p:cSld>
  <p:clrMapOvr>
    <a:masterClrMapping/>
  </p:clrMapOvr>
  <p:transition advTm="1715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1524000" y="223840"/>
            <a:ext cx="9144000" cy="615951"/>
          </a:xfrm>
        </p:spPr>
        <p:txBody>
          <a:bodyPr/>
          <a:lstStyle/>
          <a:p>
            <a:pPr algn="ctr" eaLnBrk="1" hangingPunct="1"/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endParaRPr lang="zh-CN" altLang="en-US" dirty="0"/>
          </a:p>
        </p:txBody>
      </p:sp>
      <p:sp>
        <p:nvSpPr>
          <p:cNvPr id="8196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32" indent="-285744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2971" indent="-228594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160" indent="-228594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349" indent="-228594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914377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19832871-3CF0-4CDF-B9D2-699991AEFBC2}" type="datetime1">
              <a:rPr lang="zh-CN" altLang="en-US" sz="1400">
                <a:solidFill>
                  <a:srgbClr val="0A419B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2025/8/31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8197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32" indent="-285744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2971" indent="-228594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160" indent="-228594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349" indent="-228594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914377">
              <a:spcBef>
                <a:spcPct val="0"/>
              </a:spcBef>
              <a:buNone/>
              <a:defRPr/>
            </a:pPr>
            <a:fld id="{A07A51BB-5878-4A21-AE78-03CDE018153E}" type="slidenum">
              <a:rPr lang="zh-CN" altLang="en-US" sz="1400">
                <a:solidFill>
                  <a:srgbClr val="FFFFFF"/>
                </a:solidFill>
              </a:rPr>
              <a:pPr defTabSz="914377">
                <a:spcBef>
                  <a:spcPct val="0"/>
                </a:spcBef>
                <a:buNone/>
                <a:defRPr/>
              </a:pPr>
              <a:t>3</a:t>
            </a:fld>
            <a:endParaRPr lang="zh-CN" altLang="en-US" sz="1400" dirty="0">
              <a:solidFill>
                <a:srgbClr val="FFFFFF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68DC29-B754-4119-848D-88AB8D781C1F}"/>
              </a:ext>
            </a:extLst>
          </p:cNvPr>
          <p:cNvSpPr txBox="1"/>
          <p:nvPr/>
        </p:nvSpPr>
        <p:spPr>
          <a:xfrm>
            <a:off x="698556" y="1021708"/>
            <a:ext cx="11110444" cy="1158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lnSpc>
                <a:spcPct val="130000"/>
              </a:lnSpc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分类功能：工业轴承异常判断，根据传感器采集的轴承振动信号，</a:t>
            </a:r>
            <a:b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判断是否工作异常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6B58C0-7EB8-45A2-92DB-3EA045A8E619}"/>
              </a:ext>
            </a:extLst>
          </p:cNvPr>
          <p:cNvSpPr txBox="1"/>
          <p:nvPr/>
        </p:nvSpPr>
        <p:spPr>
          <a:xfrm>
            <a:off x="3592946" y="3724796"/>
            <a:ext cx="1652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输入数据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8EF3D95-4179-4F5D-8612-4EF93B71C522}"/>
              </a:ext>
            </a:extLst>
          </p:cNvPr>
          <p:cNvSpPr txBox="1"/>
          <p:nvPr/>
        </p:nvSpPr>
        <p:spPr>
          <a:xfrm>
            <a:off x="9790489" y="3657040"/>
            <a:ext cx="20967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分类结果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377"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（正常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异常）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2D86111-BF52-D445-920B-A3168AC6E3BC}"/>
              </a:ext>
            </a:extLst>
          </p:cNvPr>
          <p:cNvGrpSpPr/>
          <p:nvPr/>
        </p:nvGrpSpPr>
        <p:grpSpPr>
          <a:xfrm>
            <a:off x="698556" y="4136091"/>
            <a:ext cx="2463503" cy="1847629"/>
            <a:chOff x="9154541" y="5066877"/>
            <a:chExt cx="2525228" cy="1893922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BEFB11BA-8A6A-4FF3-81AB-7BE5B2D74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54541" y="5066877"/>
              <a:ext cx="2525228" cy="1893922"/>
            </a:xfrm>
            <a:prstGeom prst="rect">
              <a:avLst/>
            </a:prstGeom>
          </p:spPr>
        </p:pic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0282AE4-9553-4371-98D7-4E5153D023EA}"/>
                </a:ext>
              </a:extLst>
            </p:cNvPr>
            <p:cNvSpPr txBox="1"/>
            <p:nvPr/>
          </p:nvSpPr>
          <p:spPr>
            <a:xfrm>
              <a:off x="10839103" y="6471808"/>
              <a:ext cx="8263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异常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5FC20B3-3BF2-C14A-B67E-CBCCA03128EE}"/>
              </a:ext>
            </a:extLst>
          </p:cNvPr>
          <p:cNvGrpSpPr/>
          <p:nvPr/>
        </p:nvGrpSpPr>
        <p:grpSpPr>
          <a:xfrm>
            <a:off x="658094" y="2239901"/>
            <a:ext cx="2544554" cy="1779455"/>
            <a:chOff x="664094" y="3810957"/>
            <a:chExt cx="2634217" cy="1842159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461B26A4-FDA0-4181-8E23-1EF0AD76A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4094" y="3810957"/>
              <a:ext cx="2634217" cy="1842159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B70BD48C-726C-4B15-A98E-6B87F1CE9DD3}"/>
                </a:ext>
              </a:extLst>
            </p:cNvPr>
            <p:cNvSpPr txBox="1"/>
            <p:nvPr/>
          </p:nvSpPr>
          <p:spPr>
            <a:xfrm>
              <a:off x="2417469" y="5198111"/>
              <a:ext cx="8263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正常</a:t>
              </a:r>
            </a:p>
          </p:txBody>
        </p:sp>
      </p:grpSp>
      <p:sp>
        <p:nvSpPr>
          <p:cNvPr id="7" name="右箭头 6">
            <a:extLst>
              <a:ext uri="{FF2B5EF4-FFF2-40B4-BE49-F238E27FC236}">
                <a16:creationId xmlns:a16="http://schemas.microsoft.com/office/drawing/2014/main" id="{B4F52A65-F588-CC4B-897F-EB34303281CD}"/>
              </a:ext>
            </a:extLst>
          </p:cNvPr>
          <p:cNvSpPr/>
          <p:nvPr/>
        </p:nvSpPr>
        <p:spPr>
          <a:xfrm>
            <a:off x="5100925" y="3787855"/>
            <a:ext cx="623151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右箭头 21">
            <a:extLst>
              <a:ext uri="{FF2B5EF4-FFF2-40B4-BE49-F238E27FC236}">
                <a16:creationId xmlns:a16="http://schemas.microsoft.com/office/drawing/2014/main" id="{B72ACE64-70C3-3243-B608-508A442C5747}"/>
              </a:ext>
            </a:extLst>
          </p:cNvPr>
          <p:cNvSpPr/>
          <p:nvPr/>
        </p:nvSpPr>
        <p:spPr>
          <a:xfrm>
            <a:off x="9290848" y="3787855"/>
            <a:ext cx="623151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0510AD1-3167-EA43-BE6E-C27A60AB17EE}"/>
              </a:ext>
            </a:extLst>
          </p:cNvPr>
          <p:cNvSpPr txBox="1"/>
          <p:nvPr/>
        </p:nvSpPr>
        <p:spPr>
          <a:xfrm>
            <a:off x="5942221" y="5568611"/>
            <a:ext cx="313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神经网络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B3A8BC68-EDAF-6548-B1C4-52AB5A9043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3885" y="3132240"/>
            <a:ext cx="2987153" cy="2286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17E85AC9-18F0-884A-8E2A-2AB6FB53F083}"/>
              </a:ext>
            </a:extLst>
          </p:cNvPr>
          <p:cNvSpPr txBox="1"/>
          <p:nvPr/>
        </p:nvSpPr>
        <p:spPr>
          <a:xfrm>
            <a:off x="7760610" y="2374335"/>
            <a:ext cx="1652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模型参数</a:t>
            </a:r>
          </a:p>
        </p:txBody>
      </p:sp>
      <p:sp>
        <p:nvSpPr>
          <p:cNvPr id="23" name="右箭头 22">
            <a:extLst>
              <a:ext uri="{FF2B5EF4-FFF2-40B4-BE49-F238E27FC236}">
                <a16:creationId xmlns:a16="http://schemas.microsoft.com/office/drawing/2014/main" id="{2E3483D5-4A4F-064E-9D25-B6D0EC696799}"/>
              </a:ext>
            </a:extLst>
          </p:cNvPr>
          <p:cNvSpPr/>
          <p:nvPr/>
        </p:nvSpPr>
        <p:spPr>
          <a:xfrm rot="5400000">
            <a:off x="7134673" y="2371931"/>
            <a:ext cx="623151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6916832"/>
      </p:ext>
    </p:extLst>
  </p:cSld>
  <p:clrMapOvr>
    <a:masterClrMapping/>
  </p:clrMapOvr>
  <p:transition advTm="235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1A9A0-8DD2-4CC2-9698-44054552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1" y="163516"/>
            <a:ext cx="8724900" cy="615951"/>
          </a:xfrm>
        </p:spPr>
        <p:txBody>
          <a:bodyPr/>
          <a:lstStyle/>
          <a:p>
            <a:pPr algn="ctr"/>
            <a:r>
              <a:rPr lang="zh-CN" altLang="en-US" dirty="0"/>
              <a:t>实验总览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932CCD-0F1F-493C-BC32-575A6EFB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2025/8/31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DB0522-4269-4B37-A2AC-473E5BCE7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751C4E3-1246-4F92-92D7-2DEA4465A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43" y="1307031"/>
            <a:ext cx="7564055" cy="424393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24A281E-3F65-B44C-8419-3F7BCE5D049E}"/>
              </a:ext>
            </a:extLst>
          </p:cNvPr>
          <p:cNvSpPr/>
          <p:nvPr/>
        </p:nvSpPr>
        <p:spPr>
          <a:xfrm>
            <a:off x="7919661" y="1153948"/>
            <a:ext cx="4165588" cy="4886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PS (Processing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 </a:t>
            </a:r>
            <a:r>
              <a:rPr kumimoji="1" lang="en-US" altLang="zh-CN" sz="2200" b="1" dirty="0">
                <a:solidFill>
                  <a:schemeClr val="tx1"/>
                </a:solidFill>
              </a:rPr>
              <a:t>System)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 </a:t>
            </a:r>
            <a:br>
              <a:rPr kumimoji="1" lang="en-US" altLang="zh-CN" sz="2200" b="1" dirty="0">
                <a:solidFill>
                  <a:schemeClr val="tx1"/>
                </a:solidFill>
              </a:rPr>
            </a:br>
            <a:r>
              <a:rPr kumimoji="1" lang="zh-CN" altLang="en-US" sz="2200" b="1" dirty="0">
                <a:solidFill>
                  <a:schemeClr val="tx1"/>
                </a:solidFill>
              </a:rPr>
              <a:t>处理器，</a:t>
            </a:r>
            <a:r>
              <a:rPr kumimoji="1" lang="en-US" altLang="zh-CN" sz="2200" b="1" dirty="0">
                <a:solidFill>
                  <a:schemeClr val="tx1"/>
                </a:solidFill>
              </a:rPr>
              <a:t>ARM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核，负责控制</a:t>
            </a: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PL (Programmable Logic) </a:t>
            </a:r>
            <a:br>
              <a:rPr kumimoji="1" lang="en-US" altLang="zh-CN" sz="2200" b="1" dirty="0">
                <a:solidFill>
                  <a:schemeClr val="tx1"/>
                </a:solidFill>
              </a:rPr>
            </a:br>
            <a:r>
              <a:rPr kumimoji="1" lang="zh-CN" altLang="en-US" sz="2200" b="1" dirty="0">
                <a:solidFill>
                  <a:schemeClr val="tx1"/>
                </a:solidFill>
              </a:rPr>
              <a:t>可编程逻辑，负责计算</a:t>
            </a:r>
            <a:endParaRPr kumimoji="1" lang="en-US" altLang="zh-CN" sz="2200" b="1" dirty="0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186FF1DB-1353-A948-8E0C-68D03AD95503}"/>
              </a:ext>
            </a:extLst>
          </p:cNvPr>
          <p:cNvSpPr/>
          <p:nvPr/>
        </p:nvSpPr>
        <p:spPr>
          <a:xfrm>
            <a:off x="461818" y="1307032"/>
            <a:ext cx="6963871" cy="908606"/>
          </a:xfrm>
          <a:prstGeom prst="rect">
            <a:avLst/>
          </a:prstGeom>
          <a:noFill/>
          <a:ln w="476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D89A9AF-2FA2-C140-9135-2C9A9974C691}"/>
              </a:ext>
            </a:extLst>
          </p:cNvPr>
          <p:cNvSpPr/>
          <p:nvPr/>
        </p:nvSpPr>
        <p:spPr>
          <a:xfrm>
            <a:off x="295743" y="2307916"/>
            <a:ext cx="7278075" cy="3187720"/>
          </a:xfrm>
          <a:prstGeom prst="rect">
            <a:avLst/>
          </a:prstGeom>
          <a:noFill/>
          <a:ln w="476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3023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8" grpId="0" animBg="1"/>
      <p:bldP spid="7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1A9A0-8DD2-4CC2-9698-44054552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1" y="163516"/>
            <a:ext cx="8724900" cy="615951"/>
          </a:xfrm>
        </p:spPr>
        <p:txBody>
          <a:bodyPr/>
          <a:lstStyle/>
          <a:p>
            <a:pPr algn="ctr"/>
            <a:r>
              <a:rPr lang="zh-CN" altLang="en-US" dirty="0"/>
              <a:t>实验总览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932CCD-0F1F-493C-BC32-575A6EFB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2025/8/31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DB0522-4269-4B37-A2AC-473E5BCE7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751C4E3-1246-4F92-92D7-2DEA4465A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43" y="1307031"/>
            <a:ext cx="7564055" cy="424393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24A281E-3F65-B44C-8419-3F7BCE5D049E}"/>
              </a:ext>
            </a:extLst>
          </p:cNvPr>
          <p:cNvSpPr/>
          <p:nvPr/>
        </p:nvSpPr>
        <p:spPr>
          <a:xfrm>
            <a:off x="7919661" y="1153948"/>
            <a:ext cx="4165588" cy="4886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PS (Processing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 </a:t>
            </a:r>
            <a:r>
              <a:rPr kumimoji="1" lang="en-US" altLang="zh-CN" sz="2200" b="1" dirty="0">
                <a:solidFill>
                  <a:schemeClr val="tx1"/>
                </a:solidFill>
              </a:rPr>
              <a:t>System)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 </a:t>
            </a:r>
            <a:br>
              <a:rPr kumimoji="1" lang="en-US" altLang="zh-CN" sz="2200" b="1" dirty="0">
                <a:solidFill>
                  <a:schemeClr val="tx1"/>
                </a:solidFill>
              </a:rPr>
            </a:br>
            <a:r>
              <a:rPr kumimoji="1" lang="zh-CN" altLang="en-US" sz="2200" b="1" dirty="0">
                <a:solidFill>
                  <a:schemeClr val="tx1"/>
                </a:solidFill>
              </a:rPr>
              <a:t>处理器，</a:t>
            </a:r>
            <a:r>
              <a:rPr kumimoji="1" lang="en-US" altLang="zh-CN" sz="2200" b="1" dirty="0">
                <a:solidFill>
                  <a:schemeClr val="tx1"/>
                </a:solidFill>
              </a:rPr>
              <a:t>ARM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核，负责控制</a:t>
            </a: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PL (Programmable Logic) </a:t>
            </a:r>
            <a:br>
              <a:rPr kumimoji="1" lang="en-US" altLang="zh-CN" sz="2200" b="1" dirty="0">
                <a:solidFill>
                  <a:schemeClr val="tx1"/>
                </a:solidFill>
              </a:rPr>
            </a:br>
            <a:r>
              <a:rPr kumimoji="1" lang="zh-CN" altLang="en-US" sz="2200" b="1" dirty="0">
                <a:solidFill>
                  <a:schemeClr val="tx1"/>
                </a:solidFill>
              </a:rPr>
              <a:t>可编程逻辑，负责计算</a:t>
            </a: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DMA (Direct Memory Access) 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负责搬运数据</a:t>
            </a: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sz="2200" b="1" dirty="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D89A9AF-2FA2-C140-9135-2C9A9974C691}"/>
              </a:ext>
            </a:extLst>
          </p:cNvPr>
          <p:cNvSpPr/>
          <p:nvPr/>
        </p:nvSpPr>
        <p:spPr>
          <a:xfrm>
            <a:off x="6086764" y="2817091"/>
            <a:ext cx="1320800" cy="2050474"/>
          </a:xfrm>
          <a:prstGeom prst="rect">
            <a:avLst/>
          </a:prstGeom>
          <a:noFill/>
          <a:ln w="476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1323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1A9A0-8DD2-4CC2-9698-44054552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1" y="163516"/>
            <a:ext cx="8724900" cy="615951"/>
          </a:xfrm>
        </p:spPr>
        <p:txBody>
          <a:bodyPr/>
          <a:lstStyle/>
          <a:p>
            <a:pPr algn="ctr"/>
            <a:r>
              <a:rPr lang="zh-CN" altLang="en-US" dirty="0"/>
              <a:t>实验总览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932CCD-0F1F-493C-BC32-575A6EFB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2025/8/31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DB0522-4269-4B37-A2AC-473E5BCE7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751C4E3-1246-4F92-92D7-2DEA4465A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43" y="1307031"/>
            <a:ext cx="7564055" cy="424393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24A281E-3F65-B44C-8419-3F7BCE5D049E}"/>
              </a:ext>
            </a:extLst>
          </p:cNvPr>
          <p:cNvSpPr/>
          <p:nvPr/>
        </p:nvSpPr>
        <p:spPr>
          <a:xfrm>
            <a:off x="7919661" y="1153948"/>
            <a:ext cx="4165588" cy="4886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PS (Processing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 </a:t>
            </a:r>
            <a:r>
              <a:rPr kumimoji="1" lang="en-US" altLang="zh-CN" sz="2200" b="1" dirty="0">
                <a:solidFill>
                  <a:schemeClr val="tx1"/>
                </a:solidFill>
              </a:rPr>
              <a:t>System)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 </a:t>
            </a:r>
            <a:br>
              <a:rPr kumimoji="1" lang="en-US" altLang="zh-CN" sz="2200" b="1" dirty="0">
                <a:solidFill>
                  <a:schemeClr val="tx1"/>
                </a:solidFill>
              </a:rPr>
            </a:br>
            <a:r>
              <a:rPr kumimoji="1" lang="zh-CN" altLang="en-US" sz="2200" b="1" dirty="0">
                <a:solidFill>
                  <a:schemeClr val="tx1"/>
                </a:solidFill>
              </a:rPr>
              <a:t>处理器，</a:t>
            </a:r>
            <a:r>
              <a:rPr kumimoji="1" lang="en-US" altLang="zh-CN" sz="2200" b="1" dirty="0">
                <a:solidFill>
                  <a:schemeClr val="tx1"/>
                </a:solidFill>
              </a:rPr>
              <a:t>ARM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核，负责控制</a:t>
            </a: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PL (Programmable Logic) </a:t>
            </a:r>
            <a:br>
              <a:rPr kumimoji="1" lang="en-US" altLang="zh-CN" sz="2200" b="1" dirty="0">
                <a:solidFill>
                  <a:schemeClr val="tx1"/>
                </a:solidFill>
              </a:rPr>
            </a:br>
            <a:r>
              <a:rPr kumimoji="1" lang="zh-CN" altLang="en-US" sz="2200" b="1" dirty="0">
                <a:solidFill>
                  <a:schemeClr val="tx1"/>
                </a:solidFill>
              </a:rPr>
              <a:t>可编程逻辑，负责计算</a:t>
            </a: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DMA (Direct Memory Access) 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负责搬运数据</a:t>
            </a: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NPU (Neural Processing Unit)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 神经网络处理单元</a:t>
            </a: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sz="2200" b="1" dirty="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D89A9AF-2FA2-C140-9135-2C9A9974C691}"/>
              </a:ext>
            </a:extLst>
          </p:cNvPr>
          <p:cNvSpPr/>
          <p:nvPr/>
        </p:nvSpPr>
        <p:spPr>
          <a:xfrm>
            <a:off x="471055" y="2456873"/>
            <a:ext cx="4812145" cy="2854036"/>
          </a:xfrm>
          <a:prstGeom prst="rect">
            <a:avLst/>
          </a:prstGeom>
          <a:noFill/>
          <a:ln w="476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800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1A9A0-8DD2-4CC2-9698-44054552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1" y="163516"/>
            <a:ext cx="8724900" cy="615951"/>
          </a:xfrm>
        </p:spPr>
        <p:txBody>
          <a:bodyPr/>
          <a:lstStyle/>
          <a:p>
            <a:pPr algn="ctr"/>
            <a:r>
              <a:rPr lang="zh-CN" altLang="en-US" dirty="0"/>
              <a:t>实验总览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932CCD-0F1F-493C-BC32-575A6EFB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2025/8/31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DB0522-4269-4B37-A2AC-473E5BCE7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751C4E3-1246-4F92-92D7-2DEA4465A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43" y="1307031"/>
            <a:ext cx="7564055" cy="424393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24A281E-3F65-B44C-8419-3F7BCE5D049E}"/>
              </a:ext>
            </a:extLst>
          </p:cNvPr>
          <p:cNvSpPr/>
          <p:nvPr/>
        </p:nvSpPr>
        <p:spPr>
          <a:xfrm>
            <a:off x="7919661" y="1153948"/>
            <a:ext cx="4165588" cy="4886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PS (Processing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 </a:t>
            </a:r>
            <a:r>
              <a:rPr kumimoji="1" lang="en-US" altLang="zh-CN" sz="2200" b="1" dirty="0">
                <a:solidFill>
                  <a:schemeClr val="tx1"/>
                </a:solidFill>
              </a:rPr>
              <a:t>System)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 </a:t>
            </a:r>
            <a:br>
              <a:rPr kumimoji="1" lang="en-US" altLang="zh-CN" sz="2200" b="1" dirty="0">
                <a:solidFill>
                  <a:schemeClr val="tx1"/>
                </a:solidFill>
              </a:rPr>
            </a:br>
            <a:r>
              <a:rPr kumimoji="1" lang="zh-CN" altLang="en-US" sz="2200" b="1" dirty="0">
                <a:solidFill>
                  <a:schemeClr val="tx1"/>
                </a:solidFill>
              </a:rPr>
              <a:t>处理器，</a:t>
            </a:r>
            <a:r>
              <a:rPr kumimoji="1" lang="en-US" altLang="zh-CN" sz="2200" b="1" dirty="0">
                <a:solidFill>
                  <a:schemeClr val="tx1"/>
                </a:solidFill>
              </a:rPr>
              <a:t>ARM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核，负责控制</a:t>
            </a: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PL (Programmable Logic) </a:t>
            </a:r>
            <a:br>
              <a:rPr kumimoji="1" lang="en-US" altLang="zh-CN" sz="2200" b="1" dirty="0">
                <a:solidFill>
                  <a:schemeClr val="tx1"/>
                </a:solidFill>
              </a:rPr>
            </a:br>
            <a:r>
              <a:rPr kumimoji="1" lang="zh-CN" altLang="en-US" sz="2200" b="1" dirty="0">
                <a:solidFill>
                  <a:schemeClr val="tx1"/>
                </a:solidFill>
              </a:rPr>
              <a:t>可编程逻辑，负责计算</a:t>
            </a: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DMA (Direct Memory Access) 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负责搬运数据</a:t>
            </a: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NPU (Neural Processing Unit)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 神经网络处理单元</a:t>
            </a: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FIFO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 缓存，负责缓冲数据</a:t>
            </a: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CONV/FC 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卷积</a:t>
            </a:r>
            <a:r>
              <a:rPr kumimoji="1" lang="en-US" altLang="zh-CN" sz="2200" b="1" dirty="0">
                <a:solidFill>
                  <a:schemeClr val="tx1"/>
                </a:solidFill>
              </a:rPr>
              <a:t>/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全连接层</a:t>
            </a:r>
            <a:br>
              <a:rPr kumimoji="1" lang="en-US" altLang="zh-CN" sz="2200" b="1" dirty="0">
                <a:solidFill>
                  <a:schemeClr val="tx1"/>
                </a:solidFill>
              </a:rPr>
            </a:br>
            <a:r>
              <a:rPr kumimoji="1" lang="zh-CN" altLang="en-US" sz="2200" b="1" dirty="0">
                <a:solidFill>
                  <a:schemeClr val="tx1"/>
                </a:solidFill>
              </a:rPr>
              <a:t>负责神经元计算</a:t>
            </a: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BRAM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 存储器</a:t>
            </a:r>
            <a:br>
              <a:rPr kumimoji="1" lang="en-US" altLang="zh-CN" sz="2200" b="1" dirty="0">
                <a:solidFill>
                  <a:schemeClr val="tx1"/>
                </a:solidFill>
              </a:rPr>
            </a:br>
            <a:r>
              <a:rPr kumimoji="1" lang="zh-CN" altLang="en-US" sz="2200" b="1" dirty="0">
                <a:solidFill>
                  <a:schemeClr val="tx1"/>
                </a:solidFill>
              </a:rPr>
              <a:t>负责存储模型参数</a:t>
            </a: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sz="2200" b="1" dirty="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D89A9AF-2FA2-C140-9135-2C9A9974C691}"/>
              </a:ext>
            </a:extLst>
          </p:cNvPr>
          <p:cNvSpPr/>
          <p:nvPr/>
        </p:nvSpPr>
        <p:spPr>
          <a:xfrm>
            <a:off x="3971636" y="2817092"/>
            <a:ext cx="969819" cy="766618"/>
          </a:xfrm>
          <a:prstGeom prst="rect">
            <a:avLst/>
          </a:prstGeom>
          <a:noFill/>
          <a:ln w="476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D67526-8B2F-4049-8887-6E9CDB60E199}"/>
              </a:ext>
            </a:extLst>
          </p:cNvPr>
          <p:cNvSpPr/>
          <p:nvPr/>
        </p:nvSpPr>
        <p:spPr>
          <a:xfrm>
            <a:off x="3980871" y="4092802"/>
            <a:ext cx="969819" cy="766618"/>
          </a:xfrm>
          <a:prstGeom prst="rect">
            <a:avLst/>
          </a:prstGeom>
          <a:noFill/>
          <a:ln w="476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4EA725-12BF-9941-A1CB-78C5274CFBF0}"/>
              </a:ext>
            </a:extLst>
          </p:cNvPr>
          <p:cNvSpPr/>
          <p:nvPr/>
        </p:nvSpPr>
        <p:spPr>
          <a:xfrm>
            <a:off x="2322945" y="2817092"/>
            <a:ext cx="1306946" cy="2042328"/>
          </a:xfrm>
          <a:prstGeom prst="rect">
            <a:avLst/>
          </a:prstGeom>
          <a:noFill/>
          <a:ln w="476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18184C-EB2C-644B-9ADA-03A1EE8FED06}"/>
              </a:ext>
            </a:extLst>
          </p:cNvPr>
          <p:cNvSpPr/>
          <p:nvPr/>
        </p:nvSpPr>
        <p:spPr>
          <a:xfrm>
            <a:off x="577619" y="3429000"/>
            <a:ext cx="946382" cy="792018"/>
          </a:xfrm>
          <a:prstGeom prst="rect">
            <a:avLst/>
          </a:prstGeom>
          <a:noFill/>
          <a:ln w="476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300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1A9A0-8DD2-4CC2-9698-44054552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1" y="163516"/>
            <a:ext cx="8724900" cy="615951"/>
          </a:xfrm>
        </p:spPr>
        <p:txBody>
          <a:bodyPr/>
          <a:lstStyle/>
          <a:p>
            <a:pPr algn="ctr"/>
            <a:r>
              <a:rPr lang="zh-CN" altLang="en-US" dirty="0"/>
              <a:t>实验总览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932CCD-0F1F-493C-BC32-575A6EFB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2025/8/31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DB0522-4269-4B37-A2AC-473E5BCE7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751C4E3-1246-4F92-92D7-2DEA4465A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43" y="1307031"/>
            <a:ext cx="7564055" cy="424393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24A281E-3F65-B44C-8419-3F7BCE5D049E}"/>
              </a:ext>
            </a:extLst>
          </p:cNvPr>
          <p:cNvSpPr/>
          <p:nvPr/>
        </p:nvSpPr>
        <p:spPr>
          <a:xfrm>
            <a:off x="7919661" y="1153948"/>
            <a:ext cx="4165588" cy="4886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PS (Processing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 </a:t>
            </a:r>
            <a:r>
              <a:rPr kumimoji="1" lang="en-US" altLang="zh-CN" sz="2200" b="1" dirty="0">
                <a:solidFill>
                  <a:schemeClr val="tx1"/>
                </a:solidFill>
              </a:rPr>
              <a:t>System)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 </a:t>
            </a:r>
            <a:br>
              <a:rPr kumimoji="1" lang="en-US" altLang="zh-CN" sz="2200" b="1" dirty="0">
                <a:solidFill>
                  <a:schemeClr val="tx1"/>
                </a:solidFill>
              </a:rPr>
            </a:br>
            <a:r>
              <a:rPr kumimoji="1" lang="zh-CN" altLang="en-US" sz="2200" b="1" dirty="0">
                <a:solidFill>
                  <a:schemeClr val="tx1"/>
                </a:solidFill>
              </a:rPr>
              <a:t>处理器，</a:t>
            </a:r>
            <a:r>
              <a:rPr kumimoji="1" lang="en-US" altLang="zh-CN" sz="2200" b="1" dirty="0">
                <a:solidFill>
                  <a:schemeClr val="tx1"/>
                </a:solidFill>
              </a:rPr>
              <a:t>ARM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核，负责控制</a:t>
            </a: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PL (Programmable Logic) </a:t>
            </a:r>
            <a:br>
              <a:rPr kumimoji="1" lang="en-US" altLang="zh-CN" sz="2200" b="1" dirty="0">
                <a:solidFill>
                  <a:schemeClr val="tx1"/>
                </a:solidFill>
              </a:rPr>
            </a:br>
            <a:r>
              <a:rPr kumimoji="1" lang="zh-CN" altLang="en-US" sz="2200" b="1" dirty="0">
                <a:solidFill>
                  <a:schemeClr val="tx1"/>
                </a:solidFill>
              </a:rPr>
              <a:t>可编程逻辑，负责计算</a:t>
            </a: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DMA (Direct Memory Access) 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负责搬运数据</a:t>
            </a: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NPU (Neural Processing Unit)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 神经网络处理单元</a:t>
            </a: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FIFO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 缓存，负责缓冲数据</a:t>
            </a: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CONV/FC 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卷积</a:t>
            </a:r>
            <a:r>
              <a:rPr kumimoji="1" lang="en-US" altLang="zh-CN" sz="2200" b="1" dirty="0">
                <a:solidFill>
                  <a:schemeClr val="tx1"/>
                </a:solidFill>
              </a:rPr>
              <a:t>/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全连接层</a:t>
            </a:r>
            <a:br>
              <a:rPr kumimoji="1" lang="en-US" altLang="zh-CN" sz="2200" b="1" dirty="0">
                <a:solidFill>
                  <a:schemeClr val="tx1"/>
                </a:solidFill>
              </a:rPr>
            </a:br>
            <a:r>
              <a:rPr kumimoji="1" lang="zh-CN" altLang="en-US" sz="2200" b="1" dirty="0">
                <a:solidFill>
                  <a:schemeClr val="tx1"/>
                </a:solidFill>
              </a:rPr>
              <a:t>负责神经元计算</a:t>
            </a:r>
            <a:endParaRPr kumimoji="1" lang="en-US" altLang="zh-CN" sz="2200" b="1" dirty="0">
              <a:solidFill>
                <a:schemeClr val="tx1"/>
              </a:solidFill>
            </a:endParaRPr>
          </a:p>
          <a:p>
            <a:pPr marL="274320" indent="-2743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chemeClr val="tx1"/>
                </a:solidFill>
              </a:rPr>
              <a:t>BRAM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 </a:t>
            </a:r>
            <a:r>
              <a:rPr kumimoji="1" lang="en-US" altLang="zh-CN" sz="2200" b="1" dirty="0">
                <a:solidFill>
                  <a:schemeClr val="tx1"/>
                </a:solidFill>
              </a:rPr>
              <a:t>(Block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 </a:t>
            </a:r>
            <a:r>
              <a:rPr kumimoji="1" lang="en-US" altLang="zh-CN" sz="2200" b="1" dirty="0">
                <a:solidFill>
                  <a:schemeClr val="tx1"/>
                </a:solidFill>
              </a:rPr>
              <a:t>RAM) </a:t>
            </a:r>
            <a:r>
              <a:rPr kumimoji="1" lang="zh-CN" altLang="en-US" sz="2200" b="1" dirty="0">
                <a:solidFill>
                  <a:schemeClr val="tx1"/>
                </a:solidFill>
              </a:rPr>
              <a:t>块存储器</a:t>
            </a:r>
            <a:br>
              <a:rPr kumimoji="1" lang="en-US" altLang="zh-CN" sz="2200" b="1" dirty="0">
                <a:solidFill>
                  <a:schemeClr val="tx1"/>
                </a:solidFill>
              </a:rPr>
            </a:br>
            <a:r>
              <a:rPr kumimoji="1" lang="zh-CN" altLang="en-US" sz="2200" b="1" dirty="0">
                <a:solidFill>
                  <a:schemeClr val="tx1"/>
                </a:solidFill>
              </a:rPr>
              <a:t>负责存储模型参数</a:t>
            </a:r>
            <a:endParaRPr kumimoji="1" lang="en-US" altLang="zh-CN" sz="2200" b="1" dirty="0">
              <a:solidFill>
                <a:schemeClr val="tx1"/>
              </a:solidFill>
            </a:endParaRPr>
          </a:p>
        </p:txBody>
      </p:sp>
      <p:sp>
        <p:nvSpPr>
          <p:cNvPr id="12" name="下箭头 11">
            <a:extLst>
              <a:ext uri="{FF2B5EF4-FFF2-40B4-BE49-F238E27FC236}">
                <a16:creationId xmlns:a16="http://schemas.microsoft.com/office/drawing/2014/main" id="{C55210CC-B4EA-F34B-B80B-991D0539FCD5}"/>
              </a:ext>
            </a:extLst>
          </p:cNvPr>
          <p:cNvSpPr/>
          <p:nvPr/>
        </p:nvSpPr>
        <p:spPr>
          <a:xfrm>
            <a:off x="6502400" y="2235200"/>
            <a:ext cx="166255" cy="581891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1DB4B289-E064-3E4A-8477-6AD84CDC68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926" y="1379128"/>
            <a:ext cx="1089891" cy="762182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68100AFF-0617-8842-81C9-0BADD82AA7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400" y="3990264"/>
            <a:ext cx="1080655" cy="827168"/>
          </a:xfrm>
          <a:prstGeom prst="rect">
            <a:avLst/>
          </a:prstGeom>
          <a:effectLst/>
        </p:spPr>
      </p:pic>
      <p:sp>
        <p:nvSpPr>
          <p:cNvPr id="51" name="下箭头 50">
            <a:extLst>
              <a:ext uri="{FF2B5EF4-FFF2-40B4-BE49-F238E27FC236}">
                <a16:creationId xmlns:a16="http://schemas.microsoft.com/office/drawing/2014/main" id="{D659BFD8-A5B0-664D-94D8-B708EA28B2A8}"/>
              </a:ext>
            </a:extLst>
          </p:cNvPr>
          <p:cNvSpPr/>
          <p:nvPr/>
        </p:nvSpPr>
        <p:spPr>
          <a:xfrm rot="5400000">
            <a:off x="5419517" y="2624943"/>
            <a:ext cx="166255" cy="1186711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下箭头 51">
            <a:extLst>
              <a:ext uri="{FF2B5EF4-FFF2-40B4-BE49-F238E27FC236}">
                <a16:creationId xmlns:a16="http://schemas.microsoft.com/office/drawing/2014/main" id="{9DD7082D-B19E-CD49-8391-FD1DDEDCCE01}"/>
              </a:ext>
            </a:extLst>
          </p:cNvPr>
          <p:cNvSpPr/>
          <p:nvPr/>
        </p:nvSpPr>
        <p:spPr>
          <a:xfrm rot="5400000">
            <a:off x="3722254" y="3052043"/>
            <a:ext cx="166256" cy="332509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F8D342EF-41BF-6C4E-A7FD-812AB15B43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2265" y="2981217"/>
            <a:ext cx="752923" cy="561502"/>
          </a:xfrm>
          <a:prstGeom prst="rect">
            <a:avLst/>
          </a:prstGeom>
        </p:spPr>
      </p:pic>
      <p:sp>
        <p:nvSpPr>
          <p:cNvPr id="56" name="下箭头 55">
            <a:extLst>
              <a:ext uri="{FF2B5EF4-FFF2-40B4-BE49-F238E27FC236}">
                <a16:creationId xmlns:a16="http://schemas.microsoft.com/office/drawing/2014/main" id="{4866F9DE-BD89-854A-A914-276C671BD126}"/>
              </a:ext>
            </a:extLst>
          </p:cNvPr>
          <p:cNvSpPr/>
          <p:nvPr/>
        </p:nvSpPr>
        <p:spPr>
          <a:xfrm rot="16200000">
            <a:off x="1820691" y="3464760"/>
            <a:ext cx="161120" cy="723323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下箭头 56">
            <a:extLst>
              <a:ext uri="{FF2B5EF4-FFF2-40B4-BE49-F238E27FC236}">
                <a16:creationId xmlns:a16="http://schemas.microsoft.com/office/drawing/2014/main" id="{C556CAE4-8AC9-3541-8CF6-F233D3A66F39}"/>
              </a:ext>
            </a:extLst>
          </p:cNvPr>
          <p:cNvSpPr/>
          <p:nvPr/>
        </p:nvSpPr>
        <p:spPr>
          <a:xfrm rot="16200000">
            <a:off x="5434626" y="3930514"/>
            <a:ext cx="174384" cy="1148369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下箭头 57">
            <a:extLst>
              <a:ext uri="{FF2B5EF4-FFF2-40B4-BE49-F238E27FC236}">
                <a16:creationId xmlns:a16="http://schemas.microsoft.com/office/drawing/2014/main" id="{627ACBCB-22F4-684C-BC33-72BEC043A742}"/>
              </a:ext>
            </a:extLst>
          </p:cNvPr>
          <p:cNvSpPr/>
          <p:nvPr/>
        </p:nvSpPr>
        <p:spPr>
          <a:xfrm rot="16200000">
            <a:off x="3731489" y="4305565"/>
            <a:ext cx="166256" cy="332509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下箭头 58">
            <a:extLst>
              <a:ext uri="{FF2B5EF4-FFF2-40B4-BE49-F238E27FC236}">
                <a16:creationId xmlns:a16="http://schemas.microsoft.com/office/drawing/2014/main" id="{8CB0BB5C-D0D8-974B-AA73-30969C280964}"/>
              </a:ext>
            </a:extLst>
          </p:cNvPr>
          <p:cNvSpPr/>
          <p:nvPr/>
        </p:nvSpPr>
        <p:spPr>
          <a:xfrm rot="10800000">
            <a:off x="7047344" y="2199174"/>
            <a:ext cx="166255" cy="581891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下箭头 59">
            <a:extLst>
              <a:ext uri="{FF2B5EF4-FFF2-40B4-BE49-F238E27FC236}">
                <a16:creationId xmlns:a16="http://schemas.microsoft.com/office/drawing/2014/main" id="{82A88AD5-F2A3-E94E-BBF8-B1D9A5425654}"/>
              </a:ext>
            </a:extLst>
          </p:cNvPr>
          <p:cNvSpPr/>
          <p:nvPr/>
        </p:nvSpPr>
        <p:spPr>
          <a:xfrm rot="16200000">
            <a:off x="7520205" y="1595250"/>
            <a:ext cx="194453" cy="383484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5879224-A906-484E-B414-388267DE8736}"/>
              </a:ext>
            </a:extLst>
          </p:cNvPr>
          <p:cNvSpPr/>
          <p:nvPr/>
        </p:nvSpPr>
        <p:spPr>
          <a:xfrm>
            <a:off x="5492640" y="2380703"/>
            <a:ext cx="1251698" cy="338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</a:rPr>
              <a:t>输入数据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91C50729-3738-8C42-9289-98A184AA60EA}"/>
              </a:ext>
            </a:extLst>
          </p:cNvPr>
          <p:cNvSpPr/>
          <p:nvPr/>
        </p:nvSpPr>
        <p:spPr>
          <a:xfrm>
            <a:off x="2323034" y="2247679"/>
            <a:ext cx="1316093" cy="6796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</a:rPr>
              <a:t>网络计算</a:t>
            </a:r>
            <a:br>
              <a:rPr kumimoji="1" lang="en-US" altLang="zh-CN" sz="2000" b="1" dirty="0">
                <a:solidFill>
                  <a:schemeClr val="tx1"/>
                </a:solidFill>
              </a:rPr>
            </a:br>
            <a:r>
              <a:rPr kumimoji="1" lang="zh-CN" altLang="en-US" sz="2000" b="1" dirty="0">
                <a:solidFill>
                  <a:schemeClr val="tx1"/>
                </a:solidFill>
              </a:rPr>
              <a:t>（乘、加）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B0955C8-8D10-8A40-BF36-E5775C26EAED}"/>
              </a:ext>
            </a:extLst>
          </p:cNvPr>
          <p:cNvSpPr/>
          <p:nvPr/>
        </p:nvSpPr>
        <p:spPr>
          <a:xfrm>
            <a:off x="923904" y="4084046"/>
            <a:ext cx="1264767" cy="602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</a:rPr>
              <a:t>模型参数加载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9621E23-B346-254A-93C8-AFA4A0304ADF}"/>
              </a:ext>
            </a:extLst>
          </p:cNvPr>
          <p:cNvSpPr/>
          <p:nvPr/>
        </p:nvSpPr>
        <p:spPr>
          <a:xfrm>
            <a:off x="3833438" y="4950275"/>
            <a:ext cx="1251009" cy="3236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</a:rPr>
              <a:t>缓存结果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DEC1576-AC47-3342-9B38-2FE432094EB0}"/>
              </a:ext>
            </a:extLst>
          </p:cNvPr>
          <p:cNvSpPr/>
          <p:nvPr/>
        </p:nvSpPr>
        <p:spPr>
          <a:xfrm>
            <a:off x="7505484" y="1324998"/>
            <a:ext cx="1270171" cy="345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</a:rPr>
              <a:t>结果输出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10EF6AF-4AEA-7A45-B309-7F1E36968514}"/>
              </a:ext>
            </a:extLst>
          </p:cNvPr>
          <p:cNvSpPr/>
          <p:nvPr/>
        </p:nvSpPr>
        <p:spPr>
          <a:xfrm>
            <a:off x="6845340" y="2384063"/>
            <a:ext cx="1320288" cy="3348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</a:rPr>
              <a:t>数据回写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C4C580A-9C39-7545-AF47-8EB0DC023E92}"/>
              </a:ext>
            </a:extLst>
          </p:cNvPr>
          <p:cNvSpPr/>
          <p:nvPr/>
        </p:nvSpPr>
        <p:spPr>
          <a:xfrm>
            <a:off x="3833438" y="2380703"/>
            <a:ext cx="1251009" cy="338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</a:rPr>
              <a:t>接收数据</a:t>
            </a:r>
          </a:p>
        </p:txBody>
      </p:sp>
    </p:spTree>
    <p:extLst>
      <p:ext uri="{BB962C8B-B14F-4D97-AF65-F5344CB8AC3E}">
        <p14:creationId xmlns:p14="http://schemas.microsoft.com/office/powerpoint/2010/main" val="4012975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1" grpId="0" animBg="1"/>
      <p:bldP spid="52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1A9A0-8DD2-4CC2-9698-44054552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1" y="163516"/>
            <a:ext cx="8724900" cy="615951"/>
          </a:xfrm>
        </p:spPr>
        <p:txBody>
          <a:bodyPr/>
          <a:lstStyle/>
          <a:p>
            <a:pPr algn="ctr"/>
            <a:r>
              <a:rPr lang="zh-CN" altLang="en-US" dirty="0"/>
              <a:t>实验总览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932CCD-0F1F-493C-BC32-575A6EFB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2025/8/31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DB0522-4269-4B37-A2AC-473E5BCE7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751C4E3-1246-4F92-92D7-2DEA4465A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43" y="1307031"/>
            <a:ext cx="7564055" cy="4243939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FAF61EC8-CCEC-4A7A-A1C0-BECD9BF84AA6}"/>
              </a:ext>
            </a:extLst>
          </p:cNvPr>
          <p:cNvSpPr/>
          <p:nvPr/>
        </p:nvSpPr>
        <p:spPr>
          <a:xfrm>
            <a:off x="6636041" y="1988358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5009E70-65ED-450C-942C-44FC44E4785A}"/>
              </a:ext>
            </a:extLst>
          </p:cNvPr>
          <p:cNvSpPr/>
          <p:nvPr/>
        </p:nvSpPr>
        <p:spPr>
          <a:xfrm>
            <a:off x="4258256" y="3361426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9741A8E-ED95-44E7-B008-FB44F64C279A}"/>
              </a:ext>
            </a:extLst>
          </p:cNvPr>
          <p:cNvSpPr/>
          <p:nvPr/>
        </p:nvSpPr>
        <p:spPr>
          <a:xfrm>
            <a:off x="2560755" y="3167063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2F7D292-84DB-4363-A417-1AC5014B8AA8}"/>
              </a:ext>
            </a:extLst>
          </p:cNvPr>
          <p:cNvSpPr/>
          <p:nvPr/>
        </p:nvSpPr>
        <p:spPr>
          <a:xfrm>
            <a:off x="2946283" y="3167062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60413AA-6C79-476F-BB4D-869CB502C8EA}"/>
              </a:ext>
            </a:extLst>
          </p:cNvPr>
          <p:cNvSpPr/>
          <p:nvPr/>
        </p:nvSpPr>
        <p:spPr>
          <a:xfrm>
            <a:off x="5421459" y="4973411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13" name="îŝ1ïďè">
            <a:extLst>
              <a:ext uri="{FF2B5EF4-FFF2-40B4-BE49-F238E27FC236}">
                <a16:creationId xmlns:a16="http://schemas.microsoft.com/office/drawing/2014/main" id="{417C7FD8-CCC6-4FE5-B535-317862F9C18D}"/>
              </a:ext>
            </a:extLst>
          </p:cNvPr>
          <p:cNvSpPr/>
          <p:nvPr/>
        </p:nvSpPr>
        <p:spPr bwMode="auto">
          <a:xfrm flipH="1">
            <a:off x="7929087" y="1083861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14" name="i$ļîḋé">
            <a:extLst>
              <a:ext uri="{FF2B5EF4-FFF2-40B4-BE49-F238E27FC236}">
                <a16:creationId xmlns:a16="http://schemas.microsoft.com/office/drawing/2014/main" id="{323E9450-CA93-4F0D-B8EC-B7A6631C6345}"/>
              </a:ext>
            </a:extLst>
          </p:cNvPr>
          <p:cNvSpPr txBox="1"/>
          <p:nvPr/>
        </p:nvSpPr>
        <p:spPr>
          <a:xfrm>
            <a:off x="7852887" y="1083859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1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15" name="îŝ1ïďè">
            <a:extLst>
              <a:ext uri="{FF2B5EF4-FFF2-40B4-BE49-F238E27FC236}">
                <a16:creationId xmlns:a16="http://schemas.microsoft.com/office/drawing/2014/main" id="{F30A0383-89BA-4BAE-B005-DBC73EFB6C4F}"/>
              </a:ext>
            </a:extLst>
          </p:cNvPr>
          <p:cNvSpPr/>
          <p:nvPr/>
        </p:nvSpPr>
        <p:spPr bwMode="auto">
          <a:xfrm flipH="1">
            <a:off x="7929087" y="1740236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16" name="i$ļîḋé">
            <a:extLst>
              <a:ext uri="{FF2B5EF4-FFF2-40B4-BE49-F238E27FC236}">
                <a16:creationId xmlns:a16="http://schemas.microsoft.com/office/drawing/2014/main" id="{D2C74195-B219-4F0C-BADD-FC1557B6DB1F}"/>
              </a:ext>
            </a:extLst>
          </p:cNvPr>
          <p:cNvSpPr txBox="1"/>
          <p:nvPr/>
        </p:nvSpPr>
        <p:spPr>
          <a:xfrm>
            <a:off x="7852887" y="1740234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2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17" name="îŝ1ïďè">
            <a:extLst>
              <a:ext uri="{FF2B5EF4-FFF2-40B4-BE49-F238E27FC236}">
                <a16:creationId xmlns:a16="http://schemas.microsoft.com/office/drawing/2014/main" id="{0D4CEF20-0BB1-4F0D-B5F0-BE276DB08E8E}"/>
              </a:ext>
            </a:extLst>
          </p:cNvPr>
          <p:cNvSpPr/>
          <p:nvPr/>
        </p:nvSpPr>
        <p:spPr bwMode="auto">
          <a:xfrm flipH="1">
            <a:off x="7929087" y="2396610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18" name="i$ļîḋé">
            <a:extLst>
              <a:ext uri="{FF2B5EF4-FFF2-40B4-BE49-F238E27FC236}">
                <a16:creationId xmlns:a16="http://schemas.microsoft.com/office/drawing/2014/main" id="{8E217F38-C8AC-48AC-B005-0D307A40269F}"/>
              </a:ext>
            </a:extLst>
          </p:cNvPr>
          <p:cNvSpPr txBox="1"/>
          <p:nvPr/>
        </p:nvSpPr>
        <p:spPr>
          <a:xfrm>
            <a:off x="7852887" y="2396609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3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19" name="îŝ1ïďè">
            <a:extLst>
              <a:ext uri="{FF2B5EF4-FFF2-40B4-BE49-F238E27FC236}">
                <a16:creationId xmlns:a16="http://schemas.microsoft.com/office/drawing/2014/main" id="{86254BC4-8353-49A3-AB2A-12253C356207}"/>
              </a:ext>
            </a:extLst>
          </p:cNvPr>
          <p:cNvSpPr/>
          <p:nvPr/>
        </p:nvSpPr>
        <p:spPr bwMode="auto">
          <a:xfrm flipH="1">
            <a:off x="7925679" y="3052986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20" name="i$ļîḋé">
            <a:extLst>
              <a:ext uri="{FF2B5EF4-FFF2-40B4-BE49-F238E27FC236}">
                <a16:creationId xmlns:a16="http://schemas.microsoft.com/office/drawing/2014/main" id="{CA2DF25B-772E-4721-B889-7077B488FB2C}"/>
              </a:ext>
            </a:extLst>
          </p:cNvPr>
          <p:cNvSpPr txBox="1"/>
          <p:nvPr/>
        </p:nvSpPr>
        <p:spPr>
          <a:xfrm>
            <a:off x="7849479" y="3052983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4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21" name="îŝ1ïďè">
            <a:extLst>
              <a:ext uri="{FF2B5EF4-FFF2-40B4-BE49-F238E27FC236}">
                <a16:creationId xmlns:a16="http://schemas.microsoft.com/office/drawing/2014/main" id="{F6A382F7-EF98-4A7F-ADFC-AC31522267EC}"/>
              </a:ext>
            </a:extLst>
          </p:cNvPr>
          <p:cNvSpPr/>
          <p:nvPr/>
        </p:nvSpPr>
        <p:spPr bwMode="auto">
          <a:xfrm flipH="1">
            <a:off x="7925679" y="3709361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22" name="i$ļîḋé">
            <a:extLst>
              <a:ext uri="{FF2B5EF4-FFF2-40B4-BE49-F238E27FC236}">
                <a16:creationId xmlns:a16="http://schemas.microsoft.com/office/drawing/2014/main" id="{4094AB01-E4ED-4059-84B4-9CBD4D8BA440}"/>
              </a:ext>
            </a:extLst>
          </p:cNvPr>
          <p:cNvSpPr txBox="1"/>
          <p:nvPr/>
        </p:nvSpPr>
        <p:spPr>
          <a:xfrm>
            <a:off x="7849479" y="3709359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5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23" name="îŝ1ïďè">
            <a:extLst>
              <a:ext uri="{FF2B5EF4-FFF2-40B4-BE49-F238E27FC236}">
                <a16:creationId xmlns:a16="http://schemas.microsoft.com/office/drawing/2014/main" id="{35C02ED7-1B4A-4D48-B7F0-D14875155395}"/>
              </a:ext>
            </a:extLst>
          </p:cNvPr>
          <p:cNvSpPr/>
          <p:nvPr/>
        </p:nvSpPr>
        <p:spPr bwMode="auto">
          <a:xfrm flipH="1">
            <a:off x="7925679" y="4365736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24" name="i$ļîḋé">
            <a:extLst>
              <a:ext uri="{FF2B5EF4-FFF2-40B4-BE49-F238E27FC236}">
                <a16:creationId xmlns:a16="http://schemas.microsoft.com/office/drawing/2014/main" id="{3A97E3BF-5AF3-434F-BBFF-D221CE61BF76}"/>
              </a:ext>
            </a:extLst>
          </p:cNvPr>
          <p:cNvSpPr txBox="1"/>
          <p:nvPr/>
        </p:nvSpPr>
        <p:spPr>
          <a:xfrm>
            <a:off x="7849479" y="4365734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6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016B268-2AA9-434D-B9C4-157BC9405273}"/>
              </a:ext>
            </a:extLst>
          </p:cNvPr>
          <p:cNvSpPr txBox="1"/>
          <p:nvPr/>
        </p:nvSpPr>
        <p:spPr>
          <a:xfrm>
            <a:off x="8500980" y="1104793"/>
            <a:ext cx="322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PS-PL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交互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72E9DCD-C010-4251-B11E-BCF50AAD38BC}"/>
              </a:ext>
            </a:extLst>
          </p:cNvPr>
          <p:cNvSpPr txBox="1"/>
          <p:nvPr/>
        </p:nvSpPr>
        <p:spPr>
          <a:xfrm>
            <a:off x="8504145" y="2403324"/>
            <a:ext cx="3693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3D9C907-E1D6-42E5-BE91-40529D2B77A4}"/>
              </a:ext>
            </a:extLst>
          </p:cNvPr>
          <p:cNvSpPr txBox="1"/>
          <p:nvPr/>
        </p:nvSpPr>
        <p:spPr>
          <a:xfrm>
            <a:off x="8503530" y="3068372"/>
            <a:ext cx="350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层网络计算模块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993AF48-8E5C-41A6-8EE0-EAD2666ADA6A}"/>
              </a:ext>
            </a:extLst>
          </p:cNvPr>
          <p:cNvSpPr txBox="1"/>
          <p:nvPr/>
        </p:nvSpPr>
        <p:spPr>
          <a:xfrm>
            <a:off x="8503530" y="3740376"/>
            <a:ext cx="350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层网络计算模块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0C937C-7E78-45F0-92FB-A2FD4CF9A66B}"/>
              </a:ext>
            </a:extLst>
          </p:cNvPr>
          <p:cNvSpPr txBox="1"/>
          <p:nvPr/>
        </p:nvSpPr>
        <p:spPr>
          <a:xfrm>
            <a:off x="8487256" y="5065695"/>
            <a:ext cx="322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实现网络数据流控制等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B9DE3211-94EC-44A5-AB4F-377502E7EEA6}"/>
              </a:ext>
            </a:extLst>
          </p:cNvPr>
          <p:cNvSpPr/>
          <p:nvPr/>
        </p:nvSpPr>
        <p:spPr>
          <a:xfrm>
            <a:off x="2790706" y="4155330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FDDCCF9-3974-4870-A989-DBA2A68B17D8}"/>
              </a:ext>
            </a:extLst>
          </p:cNvPr>
          <p:cNvSpPr txBox="1"/>
          <p:nvPr/>
        </p:nvSpPr>
        <p:spPr>
          <a:xfrm>
            <a:off x="8500392" y="4396512"/>
            <a:ext cx="3626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数据截位方式对网络结果的影响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020D858A-EAE1-4F30-8199-2E02DADBAECE}"/>
              </a:ext>
            </a:extLst>
          </p:cNvPr>
          <p:cNvSpPr/>
          <p:nvPr/>
        </p:nvSpPr>
        <p:spPr>
          <a:xfrm>
            <a:off x="1680891" y="3633789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36" name="îŝ1ïďè">
            <a:extLst>
              <a:ext uri="{FF2B5EF4-FFF2-40B4-BE49-F238E27FC236}">
                <a16:creationId xmlns:a16="http://schemas.microsoft.com/office/drawing/2014/main" id="{7BAE189C-4A30-40B8-A8C0-9FAA120A9FD8}"/>
              </a:ext>
            </a:extLst>
          </p:cNvPr>
          <p:cNvSpPr/>
          <p:nvPr/>
        </p:nvSpPr>
        <p:spPr bwMode="auto">
          <a:xfrm flipH="1">
            <a:off x="7925679" y="5022110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37" name="i$ļîḋé">
            <a:extLst>
              <a:ext uri="{FF2B5EF4-FFF2-40B4-BE49-F238E27FC236}">
                <a16:creationId xmlns:a16="http://schemas.microsoft.com/office/drawing/2014/main" id="{EB810ADF-6DE6-4F0A-A4C6-3D891F99CC85}"/>
              </a:ext>
            </a:extLst>
          </p:cNvPr>
          <p:cNvSpPr txBox="1"/>
          <p:nvPr/>
        </p:nvSpPr>
        <p:spPr>
          <a:xfrm>
            <a:off x="7849479" y="5022109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7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50E798A-A6E1-47D0-9F34-FB740B4A8822}"/>
              </a:ext>
            </a:extLst>
          </p:cNvPr>
          <p:cNvSpPr txBox="1"/>
          <p:nvPr/>
        </p:nvSpPr>
        <p:spPr>
          <a:xfrm>
            <a:off x="8507212" y="5724777"/>
            <a:ext cx="322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系统整合</a:t>
            </a: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490299A7-E6D9-5D44-B542-1F78C559AAC0}"/>
              </a:ext>
            </a:extLst>
          </p:cNvPr>
          <p:cNvSpPr/>
          <p:nvPr/>
        </p:nvSpPr>
        <p:spPr>
          <a:xfrm>
            <a:off x="4258256" y="3745588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1" name="îŝ1ïďè">
            <a:extLst>
              <a:ext uri="{FF2B5EF4-FFF2-40B4-BE49-F238E27FC236}">
                <a16:creationId xmlns:a16="http://schemas.microsoft.com/office/drawing/2014/main" id="{B00D667A-5407-4F47-970B-C1ECE085AD41}"/>
              </a:ext>
            </a:extLst>
          </p:cNvPr>
          <p:cNvSpPr/>
          <p:nvPr/>
        </p:nvSpPr>
        <p:spPr bwMode="auto">
          <a:xfrm flipH="1">
            <a:off x="7925679" y="5663751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42" name="i$ļîḋé">
            <a:extLst>
              <a:ext uri="{FF2B5EF4-FFF2-40B4-BE49-F238E27FC236}">
                <a16:creationId xmlns:a16="http://schemas.microsoft.com/office/drawing/2014/main" id="{0904133D-C1CE-094E-97FD-137C921414B7}"/>
              </a:ext>
            </a:extLst>
          </p:cNvPr>
          <p:cNvSpPr txBox="1"/>
          <p:nvPr/>
        </p:nvSpPr>
        <p:spPr>
          <a:xfrm>
            <a:off x="7849479" y="5663750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8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4A9A546-EB80-F94E-95B8-5B3E553F52A9}"/>
              </a:ext>
            </a:extLst>
          </p:cNvPr>
          <p:cNvSpPr txBox="1"/>
          <p:nvPr/>
        </p:nvSpPr>
        <p:spPr>
          <a:xfrm>
            <a:off x="8500980" y="1761046"/>
            <a:ext cx="362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Verilog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基础：逻辑单元设计</a:t>
            </a:r>
          </a:p>
        </p:txBody>
      </p:sp>
    </p:spTree>
    <p:extLst>
      <p:ext uri="{BB962C8B-B14F-4D97-AF65-F5344CB8AC3E}">
        <p14:creationId xmlns:p14="http://schemas.microsoft.com/office/powerpoint/2010/main" val="2519965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1A9A0-8DD2-4CC2-9698-44054552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1" y="163516"/>
            <a:ext cx="8724900" cy="615951"/>
          </a:xfrm>
        </p:spPr>
        <p:txBody>
          <a:bodyPr/>
          <a:lstStyle/>
          <a:p>
            <a:pPr algn="ctr"/>
            <a:r>
              <a:rPr lang="zh-CN" altLang="en-US" dirty="0"/>
              <a:t>实验工具介绍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932CCD-0F1F-493C-BC32-575A6EFB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2025/8/31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DB0522-4269-4B37-A2AC-473E5BCE7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ECE33AA-5D08-4AFF-91FE-EFA05E2512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2" y="1060167"/>
            <a:ext cx="4543425" cy="340623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E56A12C-A073-419F-88FA-2E6DCD3C21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891" y="1060170"/>
            <a:ext cx="2040137" cy="152950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DCDF4ED-1012-489F-8715-60C7090F8D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266" y="1062215"/>
            <a:ext cx="2040137" cy="152950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BC1A742-3D31-48ED-8245-DDD55DE443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891" y="3701654"/>
            <a:ext cx="2040137" cy="152950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E740B88-D11F-4009-A646-230DDBF9FC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435944" y="3585511"/>
            <a:ext cx="1529505" cy="177704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FD1632E2-DED9-410E-9D88-895FFA580F61}"/>
              </a:ext>
            </a:extLst>
          </p:cNvPr>
          <p:cNvSpPr txBox="1"/>
          <p:nvPr/>
        </p:nvSpPr>
        <p:spPr>
          <a:xfrm>
            <a:off x="5867401" y="2763284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电源线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8A7913C-5BBF-4E70-B5C9-186E97A49B6C}"/>
              </a:ext>
            </a:extLst>
          </p:cNvPr>
          <p:cNvSpPr txBox="1"/>
          <p:nvPr/>
        </p:nvSpPr>
        <p:spPr>
          <a:xfrm>
            <a:off x="5867401" y="5409489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网线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07AE62-C788-488E-9D17-3A2D4EF3EBBF}"/>
              </a:ext>
            </a:extLst>
          </p:cNvPr>
          <p:cNvSpPr txBox="1"/>
          <p:nvPr/>
        </p:nvSpPr>
        <p:spPr>
          <a:xfrm>
            <a:off x="9247881" y="5409489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Micro-SD </a:t>
            </a:r>
            <a:r>
              <a:rPr lang="zh-CN" altLang="en-US" dirty="0"/>
              <a:t>卡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141E62D-AFA1-47B7-8728-553513DD003D}"/>
              </a:ext>
            </a:extLst>
          </p:cNvPr>
          <p:cNvSpPr txBox="1"/>
          <p:nvPr/>
        </p:nvSpPr>
        <p:spPr>
          <a:xfrm>
            <a:off x="9267243" y="2689801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USB-UART</a:t>
            </a:r>
            <a:r>
              <a:rPr lang="zh-CN" altLang="en-US" dirty="0"/>
              <a:t>线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A00A2D-7F80-3549-9317-78CB7F30FF05}"/>
              </a:ext>
            </a:extLst>
          </p:cNvPr>
          <p:cNvSpPr txBox="1"/>
          <p:nvPr/>
        </p:nvSpPr>
        <p:spPr>
          <a:xfrm>
            <a:off x="209552" y="4598710"/>
            <a:ext cx="44446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PYNQ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-Z2 FPGA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 Productivity for Zynq)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0062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1A9A0-8DD2-4CC2-9698-44054552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1" y="163516"/>
            <a:ext cx="8724900" cy="615951"/>
          </a:xfrm>
        </p:spPr>
        <p:txBody>
          <a:bodyPr/>
          <a:lstStyle/>
          <a:p>
            <a:pPr algn="ctr"/>
            <a:r>
              <a:rPr lang="en-US" altLang="zh-CN" dirty="0" err="1"/>
              <a:t>Pynq</a:t>
            </a:r>
            <a:r>
              <a:rPr lang="en-US" altLang="zh-CN" dirty="0"/>
              <a:t> z2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932CCD-0F1F-493C-BC32-575A6EFB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2025/8/31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DB0522-4269-4B37-A2AC-473E5BCE7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1B36BB0-39F2-406E-9E1C-0E7F712EB3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3464"/>
          <a:stretch/>
        </p:blipFill>
        <p:spPr>
          <a:xfrm>
            <a:off x="4655126" y="1298706"/>
            <a:ext cx="7145058" cy="294493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3B2F65A-259F-4511-9A07-714E10CBB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83" y="1118424"/>
            <a:ext cx="4409053" cy="330549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52CC210-6AFF-4A34-B0E3-9A0829D0C301}"/>
              </a:ext>
            </a:extLst>
          </p:cNvPr>
          <p:cNvSpPr txBox="1"/>
          <p:nvPr/>
        </p:nvSpPr>
        <p:spPr>
          <a:xfrm>
            <a:off x="1030059" y="4544218"/>
            <a:ext cx="2719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PYNQ-Z2 FPGA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53EA08D-AA35-438C-88DF-CA52AE0739C3}"/>
              </a:ext>
            </a:extLst>
          </p:cNvPr>
          <p:cNvSpPr txBox="1"/>
          <p:nvPr/>
        </p:nvSpPr>
        <p:spPr>
          <a:xfrm>
            <a:off x="4655126" y="4810935"/>
            <a:ext cx="7444512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用户手册见“资料”文件夹下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更多介绍：</a:t>
            </a:r>
            <a:r>
              <a:rPr lang="e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https://pynq.readthedocs.io/en/latest/</a:t>
            </a:r>
            <a:r>
              <a:rPr lang="e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7442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640CFE4-3703-4596-A30B-CEBC927FC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448A6F-EF6D-43C5-879E-E51D28D116D3}" type="datetime1">
              <a:rPr lang="zh-CN" altLang="en-US" smtClean="0"/>
              <a:t>2025/8/31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A73FA9-F6E4-48DC-B7B8-FA96471E97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A055D0-29A2-478C-A993-069FB039F74D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9FF076-1399-4930-B2E6-18A2323716DC}"/>
              </a:ext>
            </a:extLst>
          </p:cNvPr>
          <p:cNvSpPr txBox="1"/>
          <p:nvPr/>
        </p:nvSpPr>
        <p:spPr>
          <a:xfrm>
            <a:off x="1204915" y="2767284"/>
            <a:ext cx="97821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Lab1</a:t>
            </a:r>
            <a:r>
              <a:rPr lang="zh-CN" altLang="en-US" sz="8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8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zh-CN" altLang="en-US" sz="8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8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</a:t>
            </a:r>
            <a:r>
              <a:rPr lang="zh-CN" altLang="en-US" sz="8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交互</a:t>
            </a:r>
          </a:p>
        </p:txBody>
      </p:sp>
    </p:spTree>
    <p:extLst>
      <p:ext uri="{BB962C8B-B14F-4D97-AF65-F5344CB8AC3E}">
        <p14:creationId xmlns:p14="http://schemas.microsoft.com/office/powerpoint/2010/main" val="3718905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1A9A0-8DD2-4CC2-9698-44054552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1" y="163516"/>
            <a:ext cx="8724900" cy="615951"/>
          </a:xfrm>
        </p:spPr>
        <p:txBody>
          <a:bodyPr/>
          <a:lstStyle/>
          <a:p>
            <a:pPr algn="ctr"/>
            <a:r>
              <a:rPr lang="en-US" altLang="zh-CN" dirty="0"/>
              <a:t>Lab 1: PS-PL</a:t>
            </a:r>
            <a:r>
              <a:rPr lang="zh-CN" altLang="en-US" dirty="0"/>
              <a:t>交互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3A3FEA-176E-4A42-94DD-FD3D6FDDC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856" y="1316267"/>
            <a:ext cx="3754523" cy="284813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任务要求：</a:t>
            </a:r>
            <a:br>
              <a:rPr lang="en-US" altLang="zh-CN" dirty="0"/>
            </a:br>
            <a:r>
              <a:rPr lang="zh-CN" altLang="en-US" dirty="0"/>
              <a:t>基于</a:t>
            </a:r>
            <a:r>
              <a:rPr lang="en-US" altLang="zh-CN" dirty="0"/>
              <a:t>PS-PL</a:t>
            </a:r>
            <a:r>
              <a:rPr lang="zh-CN" altLang="en-US" dirty="0"/>
              <a:t>交互，用</a:t>
            </a:r>
            <a:r>
              <a:rPr lang="en-US" altLang="zh-CN" dirty="0"/>
              <a:t>LED</a:t>
            </a:r>
            <a:r>
              <a:rPr lang="zh-CN" altLang="en-US" dirty="0"/>
              <a:t>显示二进制数字</a:t>
            </a:r>
            <a:r>
              <a:rPr lang="en-US" altLang="zh-CN" dirty="0"/>
              <a:t>(</a:t>
            </a:r>
            <a:r>
              <a:rPr lang="zh-CN" altLang="en-US" dirty="0"/>
              <a:t>学号末位）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932CCD-0F1F-493C-BC32-575A6EFB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2025/8/31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DB0522-4269-4B37-A2AC-473E5BCE7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03BF043-9876-8745-AD92-5085CE424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616" y="1316267"/>
            <a:ext cx="7564055" cy="4243939"/>
          </a:xfrm>
          <a:prstGeom prst="rect">
            <a:avLst/>
          </a:prstGeom>
        </p:spPr>
      </p:pic>
      <p:sp>
        <p:nvSpPr>
          <p:cNvPr id="15" name="椭圆 14">
            <a:extLst>
              <a:ext uri="{FF2B5EF4-FFF2-40B4-BE49-F238E27FC236}">
                <a16:creationId xmlns:a16="http://schemas.microsoft.com/office/drawing/2014/main" id="{4039D728-A8BF-CF45-A48A-54F84207ED7E}"/>
              </a:ext>
            </a:extLst>
          </p:cNvPr>
          <p:cNvSpPr/>
          <p:nvPr/>
        </p:nvSpPr>
        <p:spPr>
          <a:xfrm>
            <a:off x="10616914" y="1997594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706E76-6CEC-794F-A035-D47B197FA383}"/>
              </a:ext>
            </a:extLst>
          </p:cNvPr>
          <p:cNvSpPr/>
          <p:nvPr/>
        </p:nvSpPr>
        <p:spPr>
          <a:xfrm>
            <a:off x="4551452" y="2589088"/>
            <a:ext cx="3082248" cy="2661006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LED</a:t>
            </a:r>
            <a:r>
              <a:rPr kumimoji="1" lang="zh-CN" altLang="en-US" dirty="0"/>
              <a:t>控制</a:t>
            </a:r>
          </a:p>
        </p:txBody>
      </p:sp>
      <p:sp>
        <p:nvSpPr>
          <p:cNvPr id="9" name="下箭头 8">
            <a:extLst>
              <a:ext uri="{FF2B5EF4-FFF2-40B4-BE49-F238E27FC236}">
                <a16:creationId xmlns:a16="http://schemas.microsoft.com/office/drawing/2014/main" id="{F41586F1-2A89-5345-B7F1-47EE9EF41346}"/>
              </a:ext>
            </a:extLst>
          </p:cNvPr>
          <p:cNvSpPr/>
          <p:nvPr/>
        </p:nvSpPr>
        <p:spPr>
          <a:xfrm>
            <a:off x="10476424" y="2245677"/>
            <a:ext cx="166255" cy="581891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下箭头 9">
            <a:extLst>
              <a:ext uri="{FF2B5EF4-FFF2-40B4-BE49-F238E27FC236}">
                <a16:creationId xmlns:a16="http://schemas.microsoft.com/office/drawing/2014/main" id="{6F76167C-79D5-C64B-BEE3-E7950EB6A7AA}"/>
              </a:ext>
            </a:extLst>
          </p:cNvPr>
          <p:cNvSpPr/>
          <p:nvPr/>
        </p:nvSpPr>
        <p:spPr>
          <a:xfrm rot="5400000">
            <a:off x="9393541" y="2635420"/>
            <a:ext cx="166255" cy="1186711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下箭头 10">
            <a:extLst>
              <a:ext uri="{FF2B5EF4-FFF2-40B4-BE49-F238E27FC236}">
                <a16:creationId xmlns:a16="http://schemas.microsoft.com/office/drawing/2014/main" id="{2D2D89C3-C20F-7C4E-B488-94FD5433481B}"/>
              </a:ext>
            </a:extLst>
          </p:cNvPr>
          <p:cNvSpPr/>
          <p:nvPr/>
        </p:nvSpPr>
        <p:spPr>
          <a:xfrm rot="5400000">
            <a:off x="7696278" y="3062520"/>
            <a:ext cx="166256" cy="332509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下箭头 11">
            <a:extLst>
              <a:ext uri="{FF2B5EF4-FFF2-40B4-BE49-F238E27FC236}">
                <a16:creationId xmlns:a16="http://schemas.microsoft.com/office/drawing/2014/main" id="{90B3A189-922C-D944-8800-44B52BC7CDBA}"/>
              </a:ext>
            </a:extLst>
          </p:cNvPr>
          <p:cNvSpPr/>
          <p:nvPr/>
        </p:nvSpPr>
        <p:spPr>
          <a:xfrm rot="16200000">
            <a:off x="9408650" y="3940991"/>
            <a:ext cx="174384" cy="1148369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下箭头 12">
            <a:extLst>
              <a:ext uri="{FF2B5EF4-FFF2-40B4-BE49-F238E27FC236}">
                <a16:creationId xmlns:a16="http://schemas.microsoft.com/office/drawing/2014/main" id="{9B27E9BF-7DC8-E748-A072-0174A51EDBAD}"/>
              </a:ext>
            </a:extLst>
          </p:cNvPr>
          <p:cNvSpPr/>
          <p:nvPr/>
        </p:nvSpPr>
        <p:spPr>
          <a:xfrm rot="16200000">
            <a:off x="7705513" y="4316042"/>
            <a:ext cx="166256" cy="332509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下箭头 15">
            <a:extLst>
              <a:ext uri="{FF2B5EF4-FFF2-40B4-BE49-F238E27FC236}">
                <a16:creationId xmlns:a16="http://schemas.microsoft.com/office/drawing/2014/main" id="{0EB6BCB8-2D42-B74B-B911-258A6C95BD16}"/>
              </a:ext>
            </a:extLst>
          </p:cNvPr>
          <p:cNvSpPr/>
          <p:nvPr/>
        </p:nvSpPr>
        <p:spPr>
          <a:xfrm rot="10800000">
            <a:off x="11021368" y="2209651"/>
            <a:ext cx="166255" cy="581891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9994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1A9A0-8DD2-4CC2-9698-44054552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1" y="163516"/>
            <a:ext cx="8724900" cy="615951"/>
          </a:xfrm>
        </p:spPr>
        <p:txBody>
          <a:bodyPr/>
          <a:lstStyle/>
          <a:p>
            <a:pPr algn="ctr"/>
            <a:r>
              <a:rPr lang="en-US" altLang="zh-CN" dirty="0"/>
              <a:t>Lab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 实验步骤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3A3FEA-176E-4A42-94DD-FD3D6FDDC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712" y="1006632"/>
            <a:ext cx="10972800" cy="4005977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dirty="0"/>
              <a:t>环境搭建：在计算机上搭建</a:t>
            </a:r>
            <a:r>
              <a:rPr lang="en-US" altLang="zh-CN" dirty="0"/>
              <a:t>PYNQ</a:t>
            </a:r>
            <a:r>
              <a:rPr lang="zh-CN" altLang="en-US" dirty="0"/>
              <a:t>平台</a:t>
            </a:r>
            <a:endParaRPr lang="en-US" altLang="zh-CN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dirty="0"/>
              <a:t>创建项目工程：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               </a:t>
            </a:r>
            <a:endParaRPr lang="en-US" altLang="zh-CN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dirty="0"/>
              <a:t>下板验证：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932CCD-0F1F-493C-BC32-575A6EFB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2025/8/31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DB0522-4269-4B37-A2AC-473E5BCE7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14</a:t>
            </a:fld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E6FF656-50FC-024A-AFA0-DDC578612824}"/>
              </a:ext>
            </a:extLst>
          </p:cNvPr>
          <p:cNvGrpSpPr/>
          <p:nvPr/>
        </p:nvGrpSpPr>
        <p:grpSpPr>
          <a:xfrm>
            <a:off x="8579563" y="2327397"/>
            <a:ext cx="3294604" cy="783565"/>
            <a:chOff x="6875978" y="2039839"/>
            <a:chExt cx="4405410" cy="1047751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D27BA285-32F0-5A4C-9079-955F63307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75978" y="2039840"/>
              <a:ext cx="1977776" cy="1047750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E476C3DC-A411-5844-8D95-A164145C1C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20732" b="-3930"/>
            <a:stretch/>
          </p:blipFill>
          <p:spPr>
            <a:xfrm>
              <a:off x="8913438" y="2547184"/>
              <a:ext cx="2367950" cy="540406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15CEFC01-3A91-934C-A872-84FEA37DD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13438" y="2039839"/>
              <a:ext cx="1485886" cy="467335"/>
            </a:xfrm>
            <a:prstGeom prst="rect">
              <a:avLst/>
            </a:prstGeom>
          </p:spPr>
        </p:pic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1E30DDE9-51D2-2D40-A281-897A2E048526}"/>
              </a:ext>
            </a:extLst>
          </p:cNvPr>
          <p:cNvSpPr/>
          <p:nvPr/>
        </p:nvSpPr>
        <p:spPr>
          <a:xfrm>
            <a:off x="788029" y="3027589"/>
            <a:ext cx="10639451" cy="6624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Design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（把所有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整合、自动连线等生成最终顶层设计）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37F2531-E31A-4646-828A-47BE4CFB3F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016" y="3720069"/>
            <a:ext cx="3365270" cy="239015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F977F8F-6656-D541-BBAF-6CA553A54A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9883" y="5114776"/>
            <a:ext cx="1536457" cy="995451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74EFDE81-2D83-9C4D-BD2C-C5FC324C8AD6}"/>
              </a:ext>
            </a:extLst>
          </p:cNvPr>
          <p:cNvSpPr/>
          <p:nvPr/>
        </p:nvSpPr>
        <p:spPr>
          <a:xfrm>
            <a:off x="788029" y="2431330"/>
            <a:ext cx="7691529" cy="6624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控制逻辑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5291274-73B5-674C-8979-79AD30D8C17D}"/>
              </a:ext>
            </a:extLst>
          </p:cNvPr>
          <p:cNvSpPr/>
          <p:nvPr/>
        </p:nvSpPr>
        <p:spPr>
          <a:xfrm>
            <a:off x="788029" y="4460366"/>
            <a:ext cx="5003171" cy="1308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端控制，修改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代码，点亮学号末尾数字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902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1A9A0-8DD2-4CC2-9698-44054552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1" y="163516"/>
            <a:ext cx="8724900" cy="615951"/>
          </a:xfrm>
        </p:spPr>
        <p:txBody>
          <a:bodyPr/>
          <a:lstStyle/>
          <a:p>
            <a:pPr algn="ctr"/>
            <a:r>
              <a:rPr lang="en-US" altLang="zh-CN" dirty="0"/>
              <a:t>Lab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 功能展示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3A3FEA-176E-4A42-94DD-FD3D6FDDC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155" y="1090005"/>
            <a:ext cx="10972800" cy="12493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拨动</a:t>
            </a:r>
            <a:r>
              <a:rPr lang="en-US" altLang="zh-CN" dirty="0"/>
              <a:t>Switch 0</a:t>
            </a:r>
            <a:r>
              <a:rPr lang="zh-CN" altLang="en-US" dirty="0"/>
              <a:t>，</a:t>
            </a:r>
            <a:r>
              <a:rPr lang="en-US" altLang="zh-CN" dirty="0"/>
              <a:t>PL</a:t>
            </a:r>
            <a:r>
              <a:rPr lang="zh-CN" altLang="en-US" dirty="0"/>
              <a:t>端发送数据到</a:t>
            </a:r>
            <a:r>
              <a:rPr lang="en-US" altLang="zh-CN" dirty="0"/>
              <a:t>PS</a:t>
            </a:r>
            <a:r>
              <a:rPr lang="zh-CN" altLang="en-US" dirty="0"/>
              <a:t>端存储器，</a:t>
            </a:r>
            <a:r>
              <a:rPr lang="en-US" altLang="zh-CN" dirty="0"/>
              <a:t>PS</a:t>
            </a:r>
            <a:r>
              <a:rPr lang="zh-CN" altLang="en-US" dirty="0"/>
              <a:t>端收到相应数据后向</a:t>
            </a:r>
            <a:r>
              <a:rPr lang="en-US" altLang="zh-CN" dirty="0"/>
              <a:t>PL</a:t>
            </a:r>
            <a:r>
              <a:rPr lang="zh-CN" altLang="en-US" dirty="0"/>
              <a:t>端发送点亮</a:t>
            </a:r>
            <a:r>
              <a:rPr lang="en-US" altLang="zh-CN" dirty="0"/>
              <a:t>LED</a:t>
            </a:r>
            <a:r>
              <a:rPr lang="zh-CN" altLang="en-US" dirty="0"/>
              <a:t>的指令，</a:t>
            </a:r>
            <a:r>
              <a:rPr lang="en-US" altLang="zh-CN" dirty="0"/>
              <a:t>LED</a:t>
            </a:r>
            <a:r>
              <a:rPr lang="zh-CN" altLang="en-US" dirty="0"/>
              <a:t>按照要求顺利亮起。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932CCD-0F1F-493C-BC32-575A6EFB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2025/8/31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DB0522-4269-4B37-A2AC-473E5BCE7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E74A605-B7EE-0944-B6FA-4F8A9F124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72" y="2649906"/>
            <a:ext cx="4561610" cy="29725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71607BE-0DA0-144A-965D-867D4C396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555" y="2649906"/>
            <a:ext cx="4624697" cy="297258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5576418-6078-B147-AE1E-41D3910E48DA}"/>
              </a:ext>
            </a:extLst>
          </p:cNvPr>
          <p:cNvSpPr/>
          <p:nvPr/>
        </p:nvSpPr>
        <p:spPr>
          <a:xfrm>
            <a:off x="1906086" y="5622487"/>
            <a:ext cx="24881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将</a:t>
            </a:r>
            <a:r>
              <a:rPr lang="en" altLang="zh-CN">
                <a:latin typeface="DengXian" panose="02010600030101010101" pitchFamily="2" charset="-122"/>
                <a:ea typeface="DengXian" panose="02010600030101010101" pitchFamily="2" charset="-122"/>
              </a:rPr>
              <a:t>switch0</a:t>
            </a: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向上拨动至</a:t>
            </a: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1 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E9D2D57-B324-BA49-88AE-C7A93AEE4A38}"/>
              </a:ext>
            </a:extLst>
          </p:cNvPr>
          <p:cNvSpPr/>
          <p:nvPr/>
        </p:nvSpPr>
        <p:spPr>
          <a:xfrm>
            <a:off x="6783912" y="5622487"/>
            <a:ext cx="31806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以数字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10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为例，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LED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显示效果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620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1A9A0-8DD2-4CC2-9698-44054552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1" y="163516"/>
            <a:ext cx="8724900" cy="615951"/>
          </a:xfrm>
        </p:spPr>
        <p:txBody>
          <a:bodyPr/>
          <a:lstStyle/>
          <a:p>
            <a:pPr algn="ctr"/>
            <a:r>
              <a:rPr lang="zh-CN" altLang="en-US" dirty="0"/>
              <a:t>提供资料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3A3FEA-176E-4A42-94DD-FD3D6FDDC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573" y="3518109"/>
            <a:ext cx="10972800" cy="1826317"/>
          </a:xfrm>
        </p:spPr>
        <p:txBody>
          <a:bodyPr/>
          <a:lstStyle/>
          <a:p>
            <a:r>
              <a:rPr lang="en-US" altLang="zh-CN" dirty="0"/>
              <a:t>codes</a:t>
            </a:r>
            <a:r>
              <a:rPr lang="zh-CN" altLang="en-US" dirty="0"/>
              <a:t>：源代码</a:t>
            </a:r>
            <a:endParaRPr lang="en-US" altLang="zh-CN" dirty="0"/>
          </a:p>
          <a:p>
            <a:r>
              <a:rPr lang="en-US" altLang="zh-CN" dirty="0"/>
              <a:t>Pynq_z2</a:t>
            </a:r>
            <a:r>
              <a:rPr lang="zh-CN" altLang="en-US" dirty="0"/>
              <a:t>：</a:t>
            </a:r>
            <a:r>
              <a:rPr lang="en-US" altLang="zh-CN" dirty="0"/>
              <a:t>FPGA</a:t>
            </a:r>
            <a:r>
              <a:rPr lang="zh-CN" altLang="en-US" dirty="0"/>
              <a:t>的相关介绍，包括用户手册、</a:t>
            </a:r>
            <a:r>
              <a:rPr lang="en-US" altLang="zh-CN" dirty="0"/>
              <a:t>datasheet</a:t>
            </a:r>
            <a:r>
              <a:rPr lang="zh-CN" altLang="en-US" dirty="0"/>
              <a:t>等</a:t>
            </a:r>
            <a:endParaRPr lang="en-US" altLang="zh-CN" dirty="0"/>
          </a:p>
          <a:p>
            <a:r>
              <a:rPr lang="en-US" altLang="zh-CN" dirty="0"/>
              <a:t>AXI_DMA</a:t>
            </a:r>
            <a:r>
              <a:rPr lang="zh-CN" altLang="en-US" dirty="0"/>
              <a:t>：</a:t>
            </a:r>
            <a:r>
              <a:rPr lang="en-US" altLang="zh-CN" dirty="0"/>
              <a:t>DMA</a:t>
            </a:r>
            <a:r>
              <a:rPr lang="zh-CN" altLang="en-US" dirty="0"/>
              <a:t> </a:t>
            </a:r>
            <a:r>
              <a:rPr lang="en-US" altLang="zh-CN" dirty="0"/>
              <a:t>IP</a:t>
            </a:r>
            <a:r>
              <a:rPr lang="zh-CN" altLang="en-US" dirty="0"/>
              <a:t>核相关介绍</a:t>
            </a:r>
            <a:endParaRPr lang="en-US" altLang="zh-CN" dirty="0"/>
          </a:p>
          <a:p>
            <a:r>
              <a:rPr lang="zh-CN" altLang="en-US" dirty="0"/>
              <a:t>实验一指导书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932CCD-0F1F-493C-BC32-575A6EFB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2025/8/31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DB0522-4269-4B37-A2AC-473E5BCE7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ACCF283-CDB7-D54D-8D61-E36FC6100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10" y="1234573"/>
            <a:ext cx="4308735" cy="182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9188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.OVuE4M0eShAMUGQUG_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.OVuE4M0eShAMUGQUG_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RsYDZtvEqI3i0jhiOFr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RsYDZtvEqI3i0jhiOFr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|0.1|0|0.2|0|0.2|0.2|0.1|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|0|0.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3272</TotalTime>
  <Words>705</Words>
  <Application>Microsoft Macintosh PowerPoint</Application>
  <PresentationFormat>宽屏</PresentationFormat>
  <Paragraphs>153</Paragraphs>
  <Slides>16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DengXian</vt:lpstr>
      <vt:lpstr>DengXian</vt:lpstr>
      <vt:lpstr>等线 Light</vt:lpstr>
      <vt:lpstr>宋体</vt:lpstr>
      <vt:lpstr>微软雅黑</vt:lpstr>
      <vt:lpstr>Arial</vt:lpstr>
      <vt:lpstr>Calibri</vt:lpstr>
      <vt:lpstr>Impact</vt:lpstr>
      <vt:lpstr>Wingdings</vt:lpstr>
      <vt:lpstr>Office 主题​​</vt:lpstr>
      <vt:lpstr>1_自定义设计方案</vt:lpstr>
      <vt:lpstr>PowerPoint 演示文稿</vt:lpstr>
      <vt:lpstr>Project: FPGA-based AI Accelerator Design</vt:lpstr>
      <vt:lpstr>AI Model</vt:lpstr>
      <vt:lpstr>实验总览</vt:lpstr>
      <vt:lpstr>实验总览</vt:lpstr>
      <vt:lpstr>实验总览</vt:lpstr>
      <vt:lpstr>实验总览</vt:lpstr>
      <vt:lpstr>实验总览</vt:lpstr>
      <vt:lpstr>实验总览</vt:lpstr>
      <vt:lpstr>实验工具介绍</vt:lpstr>
      <vt:lpstr>Pynq z2</vt:lpstr>
      <vt:lpstr>PowerPoint 演示文稿</vt:lpstr>
      <vt:lpstr>Lab 1: PS-PL交互</vt:lpstr>
      <vt:lpstr>Lab 1 实验步骤</vt:lpstr>
      <vt:lpstr>Lab 1 功能展示</vt:lpstr>
      <vt:lpstr>提供资料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模型任务</dc:title>
  <dc:creator>升旭 王</dc:creator>
  <cp:lastModifiedBy>Shanshan Liu</cp:lastModifiedBy>
  <cp:revision>154</cp:revision>
  <dcterms:created xsi:type="dcterms:W3CDTF">2025-07-23T12:13:30Z</dcterms:created>
  <dcterms:modified xsi:type="dcterms:W3CDTF">2025-08-31T10:03:39Z</dcterms:modified>
</cp:coreProperties>
</file>