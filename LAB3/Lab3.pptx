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1088" r:id="rId2"/>
    <p:sldId id="1526" r:id="rId3"/>
    <p:sldId id="1037" r:id="rId4"/>
    <p:sldId id="1043" r:id="rId5"/>
    <p:sldId id="1091" r:id="rId6"/>
    <p:sldId id="1094" r:id="rId7"/>
    <p:sldId id="1095" r:id="rId8"/>
    <p:sldId id="1096" r:id="rId9"/>
    <p:sldId id="265" r:id="rId10"/>
    <p:sldId id="1092" r:id="rId11"/>
    <p:sldId id="1093" r:id="rId12"/>
    <p:sldId id="1097" r:id="rId13"/>
    <p:sldId id="1098" r:id="rId14"/>
    <p:sldId id="1078" r:id="rId15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20E151D-60A5-456F-8DB5-288D9A0094BF}">
          <p14:sldIdLst>
            <p14:sldId id="1088"/>
            <p14:sldId id="1526"/>
            <p14:sldId id="1037"/>
            <p14:sldId id="1043"/>
            <p14:sldId id="1091"/>
            <p14:sldId id="1094"/>
            <p14:sldId id="1095"/>
            <p14:sldId id="1096"/>
            <p14:sldId id="265"/>
            <p14:sldId id="1092"/>
            <p14:sldId id="1093"/>
            <p14:sldId id="1097"/>
            <p14:sldId id="1098"/>
            <p14:sldId id="10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EFFCD"/>
    <a:srgbClr val="DA251C"/>
    <a:srgbClr val="3366CC"/>
    <a:srgbClr val="0A419B"/>
    <a:srgbClr val="003399"/>
    <a:srgbClr val="FFFF00"/>
    <a:srgbClr val="FF6600"/>
    <a:srgbClr val="EC6D04"/>
    <a:srgbClr val="205B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17" autoAdjust="0"/>
    <p:restoredTop sz="82392" autoAdjust="0"/>
  </p:normalViewPr>
  <p:slideViewPr>
    <p:cSldViewPr snapToGrid="0" showGuides="1">
      <p:cViewPr varScale="1">
        <p:scale>
          <a:sx n="173" d="100"/>
          <a:sy n="173" d="100"/>
        </p:scale>
        <p:origin x="184" y="2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284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AE214BB-C80D-459F-A2FF-DB8287B752C6}" type="datetimeFigureOut">
              <a:rPr lang="zh-CN" altLang="en-US"/>
              <a:t>2025/9/12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C723EAB-BBF5-45C8-B856-A5A0D81726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F3B7210-6216-4B0A-9A14-C1252A5B3EA0}" type="datetimeFigureOut">
              <a:rPr lang="zh-CN" altLang="en-US"/>
              <a:t>2025/9/12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F5FAF35-A6C5-4015-8BCC-58EF4616C707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054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E2B0D-BEAF-9EC1-84FF-21DBE454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04BC966E-B063-835B-1315-46766551A3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76FF8FC3-4416-D0C1-6EA4-54912951C2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9B36E581-C838-7C24-6DC3-D73C10D75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016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602ED-1DD6-7BCE-C238-79B7CC6FD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3265C9F1-E9EE-29D9-CE77-4E8D7C4ABA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6B44D592-DE0B-ACEC-8FCE-A5808049F3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3AA6AE3C-449B-C812-D390-829BB5C51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745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FDDB-D059-002C-1913-743082D6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BB8EA0CB-47CA-9688-C4F1-191B7BB5C5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8E2B6E8-C781-E3DC-F1C1-CEBA0F7522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6CF7C439-5F63-8C46-BD39-E69304B1C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446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8DDB0-A47F-E638-5EF1-D3CFABB4E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C9E2319C-4B5A-11E5-B26F-4716E8A194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4D072C66-973F-1BBC-EDC6-4E294B4E4E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1F7F1528-3FE5-1469-84B4-3EE017F25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813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D2DC0-B98A-43ED-94F1-B6E207EF189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073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75979-9123-053C-0811-3309AA6B7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EE81FB50-C593-8132-6894-61ADF57C3C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E14DABEB-6503-CB87-F4BD-2AF669D5D6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471C3A3A-D1E1-ACB9-5B79-F6CD3DB66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319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CEE76-10B4-EE3A-C05E-D8D28CAB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A46EEB2D-09C2-A64C-2AC1-075357B698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56F247BD-E873-9E2A-D6B0-4721F437D4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1180E01D-29B0-59F8-3900-2C27038D3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001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391AF-6808-155F-777A-23B253DB1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EE5419D3-45FE-FAE3-4A2B-5903FCE716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3AC88DFA-B087-B153-88E9-1793F3C2DC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A8D0B000-7D6C-B72F-3087-6EC4DC6DD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46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76EC2-1038-2AE4-041F-ACDABA705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24CE5786-A16E-9771-7A66-E38EA0662D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B58B9C3B-4D2C-4D8B-88B8-014256A350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41023B09-D170-0172-9762-124B5FB7E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856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2025 Fall Semester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C62BC-DB2A-49EF-95E2-6A8FF8AD668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2025</a:t>
            </a:r>
            <a:r>
              <a:rPr lang="zh-CN" altLang="en-US" dirty="0"/>
              <a:t> </a:t>
            </a:r>
            <a:r>
              <a:rPr lang="en-US" altLang="zh-CN" dirty="0"/>
              <a:t>Fall Semester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40AC-DCFE-45A7-8879-CACC57DABA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2025 Fall Semester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055D0-29A2-478C-A993-069FB039F74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2025 Fall Semester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55405-58E2-4673-9538-DD3B9B264C1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2025 Fall Semester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0C269-E132-4BE1-B979-135F4A43B7F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0" y="6237288"/>
            <a:ext cx="9144000" cy="62071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9144000" cy="90805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8358188" y="6357938"/>
            <a:ext cx="360362" cy="360362"/>
          </a:xfrm>
          <a:prstGeom prst="ellipse">
            <a:avLst/>
          </a:prstGeom>
          <a:solidFill>
            <a:srgbClr val="0A4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23838"/>
            <a:ext cx="65436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341438"/>
            <a:ext cx="82296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dirty="0"/>
              <a:t>2025 Fall Semester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16913" y="6356350"/>
            <a:ext cx="4429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4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A8957C2-AF6F-4D31-BB8A-D74B12D1140C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33" name="矩形 14"/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-1588" y="908050"/>
            <a:ext cx="9145588" cy="36513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4" name="矩形 18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-1588" y="6200775"/>
            <a:ext cx="9145588" cy="34925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5" name="页脚占位符 16"/>
          <p:cNvSpPr txBox="1"/>
          <p:nvPr userDrawn="1"/>
        </p:nvSpPr>
        <p:spPr bwMode="auto">
          <a:xfrm>
            <a:off x="3419475" y="6356350"/>
            <a:ext cx="4681538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1600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ASIC Design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40CFE4-3703-4596-A30B-CEBC927FC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fld id="{7E448A6F-EF6D-43C5-879E-E51D28D116D3}" type="datetime1">
              <a:rPr lang="zh-CN" altLang="en-US" sz="1050"/>
              <a:pPr defTabSz="685800">
                <a:defRPr/>
              </a:pPr>
              <a:t>2025/9/12</a:t>
            </a:fld>
            <a:endParaRPr lang="zh-CN" altLang="en-US" sz="105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9FF076-1399-4930-B2E6-18A2323716DC}"/>
              </a:ext>
            </a:extLst>
          </p:cNvPr>
          <p:cNvSpPr txBox="1"/>
          <p:nvPr/>
        </p:nvSpPr>
        <p:spPr>
          <a:xfrm>
            <a:off x="167641" y="2602290"/>
            <a:ext cx="8709660" cy="119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Lab3: </a:t>
            </a:r>
            <a:r>
              <a:rPr lang="zh-CN" altLang="en-US" sz="5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en-US" altLang="zh-CN" sz="5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lang="zh-CN" altLang="en-US" sz="5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与异步</a:t>
            </a:r>
            <a:r>
              <a:rPr lang="en-US" altLang="zh-CN" sz="5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endParaRPr lang="zh-CN" altLang="en-US" sz="5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111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163" y="979888"/>
            <a:ext cx="6543675" cy="461963"/>
          </a:xfrm>
        </p:spPr>
        <p:txBody>
          <a:bodyPr/>
          <a:lstStyle/>
          <a:p>
            <a:pPr algn="ctr"/>
            <a:r>
              <a:rPr lang="zh-CN" altLang="en-US" sz="3000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2025/9/12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51C4E3-1246-4F92-92D7-2DEA446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08" y="1837524"/>
            <a:ext cx="5673041" cy="3182954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FAF61EC8-CCEC-4A7A-A1C0-BECD9BF84AA6}"/>
              </a:ext>
            </a:extLst>
          </p:cNvPr>
          <p:cNvSpPr/>
          <p:nvPr/>
        </p:nvSpPr>
        <p:spPr>
          <a:xfrm>
            <a:off x="4977031" y="2348519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5009E70-65ED-450C-942C-44FC44E4785A}"/>
              </a:ext>
            </a:extLst>
          </p:cNvPr>
          <p:cNvSpPr/>
          <p:nvPr/>
        </p:nvSpPr>
        <p:spPr>
          <a:xfrm>
            <a:off x="3193693" y="3378320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2</a:t>
            </a:r>
            <a:endParaRPr lang="zh-CN" altLang="en-US" sz="16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9741A8E-ED95-44E7-B008-FB44F64C279A}"/>
              </a:ext>
            </a:extLst>
          </p:cNvPr>
          <p:cNvSpPr/>
          <p:nvPr/>
        </p:nvSpPr>
        <p:spPr>
          <a:xfrm>
            <a:off x="1920567" y="3232548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4</a:t>
            </a:r>
            <a:endParaRPr lang="zh-CN" altLang="en-US" sz="16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2F7D292-84DB-4363-A417-1AC5014B8AA8}"/>
              </a:ext>
            </a:extLst>
          </p:cNvPr>
          <p:cNvSpPr/>
          <p:nvPr/>
        </p:nvSpPr>
        <p:spPr>
          <a:xfrm>
            <a:off x="2209713" y="3232547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5</a:t>
            </a:r>
            <a:endParaRPr lang="zh-CN" altLang="en-US" sz="16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60413AA-6C79-476F-BB4D-869CB502C8EA}"/>
              </a:ext>
            </a:extLst>
          </p:cNvPr>
          <p:cNvSpPr/>
          <p:nvPr/>
        </p:nvSpPr>
        <p:spPr>
          <a:xfrm>
            <a:off x="4066095" y="4587309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8</a:t>
            </a:r>
            <a:endParaRPr lang="zh-CN" altLang="en-US" sz="1600" dirty="0"/>
          </a:p>
        </p:txBody>
      </p:sp>
      <p:sp>
        <p:nvSpPr>
          <p:cNvPr id="13" name="îŝ1ïďè">
            <a:extLst>
              <a:ext uri="{FF2B5EF4-FFF2-40B4-BE49-F238E27FC236}">
                <a16:creationId xmlns:a16="http://schemas.microsoft.com/office/drawing/2014/main" id="{417C7FD8-CCC6-4FE5-B535-317862F9C18D}"/>
              </a:ext>
            </a:extLst>
          </p:cNvPr>
          <p:cNvSpPr/>
          <p:nvPr/>
        </p:nvSpPr>
        <p:spPr bwMode="auto">
          <a:xfrm flipH="1">
            <a:off x="5946816" y="1670146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14" name="i$ļîḋé">
            <a:extLst>
              <a:ext uri="{FF2B5EF4-FFF2-40B4-BE49-F238E27FC236}">
                <a16:creationId xmlns:a16="http://schemas.microsoft.com/office/drawing/2014/main" id="{323E9450-CA93-4F0D-B8EC-B7A6631C6345}"/>
              </a:ext>
            </a:extLst>
          </p:cNvPr>
          <p:cNvSpPr txBox="1"/>
          <p:nvPr/>
        </p:nvSpPr>
        <p:spPr>
          <a:xfrm>
            <a:off x="5889666" y="1639367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1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15" name="îŝ1ïďè">
            <a:extLst>
              <a:ext uri="{FF2B5EF4-FFF2-40B4-BE49-F238E27FC236}">
                <a16:creationId xmlns:a16="http://schemas.microsoft.com/office/drawing/2014/main" id="{F30A0383-89BA-4BAE-B005-DBC73EFB6C4F}"/>
              </a:ext>
            </a:extLst>
          </p:cNvPr>
          <p:cNvSpPr/>
          <p:nvPr/>
        </p:nvSpPr>
        <p:spPr bwMode="auto">
          <a:xfrm flipH="1">
            <a:off x="5946816" y="2162428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16" name="i$ļîḋé">
            <a:extLst>
              <a:ext uri="{FF2B5EF4-FFF2-40B4-BE49-F238E27FC236}">
                <a16:creationId xmlns:a16="http://schemas.microsoft.com/office/drawing/2014/main" id="{D2C74195-B219-4F0C-BADD-FC1557B6DB1F}"/>
              </a:ext>
            </a:extLst>
          </p:cNvPr>
          <p:cNvSpPr txBox="1"/>
          <p:nvPr/>
        </p:nvSpPr>
        <p:spPr>
          <a:xfrm>
            <a:off x="5889666" y="2131649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2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17" name="îŝ1ïďè">
            <a:extLst>
              <a:ext uri="{FF2B5EF4-FFF2-40B4-BE49-F238E27FC236}">
                <a16:creationId xmlns:a16="http://schemas.microsoft.com/office/drawing/2014/main" id="{0D4CEF20-0BB1-4F0D-B5F0-BE276DB08E8E}"/>
              </a:ext>
            </a:extLst>
          </p:cNvPr>
          <p:cNvSpPr/>
          <p:nvPr/>
        </p:nvSpPr>
        <p:spPr bwMode="auto">
          <a:xfrm flipH="1">
            <a:off x="5946816" y="2654708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18" name="i$ļîḋé">
            <a:extLst>
              <a:ext uri="{FF2B5EF4-FFF2-40B4-BE49-F238E27FC236}">
                <a16:creationId xmlns:a16="http://schemas.microsoft.com/office/drawing/2014/main" id="{8E217F38-C8AC-48AC-B005-0D307A40269F}"/>
              </a:ext>
            </a:extLst>
          </p:cNvPr>
          <p:cNvSpPr txBox="1"/>
          <p:nvPr/>
        </p:nvSpPr>
        <p:spPr>
          <a:xfrm>
            <a:off x="5889666" y="2623930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6"/>
                </a:solidFill>
                <a:latin typeface="Impact" panose="020B0806030902050204" pitchFamily="34" charset="0"/>
              </a:rPr>
              <a:t>3</a:t>
            </a:r>
            <a:endParaRPr lang="zh-CN" altLang="en-US" sz="1600" dirty="0">
              <a:solidFill>
                <a:schemeClr val="accent6"/>
              </a:solidFill>
              <a:latin typeface="Impact" panose="020B0806030902050204" pitchFamily="34" charset="0"/>
            </a:endParaRPr>
          </a:p>
        </p:txBody>
      </p:sp>
      <p:sp>
        <p:nvSpPr>
          <p:cNvPr id="19" name="îŝ1ïďè">
            <a:extLst>
              <a:ext uri="{FF2B5EF4-FFF2-40B4-BE49-F238E27FC236}">
                <a16:creationId xmlns:a16="http://schemas.microsoft.com/office/drawing/2014/main" id="{86254BC4-8353-49A3-AB2A-12253C356207}"/>
              </a:ext>
            </a:extLst>
          </p:cNvPr>
          <p:cNvSpPr/>
          <p:nvPr/>
        </p:nvSpPr>
        <p:spPr bwMode="auto">
          <a:xfrm flipH="1">
            <a:off x="5944260" y="3146990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0" name="i$ļîḋé">
            <a:extLst>
              <a:ext uri="{FF2B5EF4-FFF2-40B4-BE49-F238E27FC236}">
                <a16:creationId xmlns:a16="http://schemas.microsoft.com/office/drawing/2014/main" id="{CA2DF25B-772E-4721-B889-7077B488FB2C}"/>
              </a:ext>
            </a:extLst>
          </p:cNvPr>
          <p:cNvSpPr txBox="1"/>
          <p:nvPr/>
        </p:nvSpPr>
        <p:spPr>
          <a:xfrm>
            <a:off x="5887110" y="3116210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4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21" name="îŝ1ïďè">
            <a:extLst>
              <a:ext uri="{FF2B5EF4-FFF2-40B4-BE49-F238E27FC236}">
                <a16:creationId xmlns:a16="http://schemas.microsoft.com/office/drawing/2014/main" id="{F6A382F7-EF98-4A7F-ADFC-AC31522267EC}"/>
              </a:ext>
            </a:extLst>
          </p:cNvPr>
          <p:cNvSpPr/>
          <p:nvPr/>
        </p:nvSpPr>
        <p:spPr bwMode="auto">
          <a:xfrm flipH="1">
            <a:off x="5944260" y="3639271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2" name="i$ļîḋé">
            <a:extLst>
              <a:ext uri="{FF2B5EF4-FFF2-40B4-BE49-F238E27FC236}">
                <a16:creationId xmlns:a16="http://schemas.microsoft.com/office/drawing/2014/main" id="{4094AB01-E4ED-4059-84B4-9CBD4D8BA440}"/>
              </a:ext>
            </a:extLst>
          </p:cNvPr>
          <p:cNvSpPr txBox="1"/>
          <p:nvPr/>
        </p:nvSpPr>
        <p:spPr>
          <a:xfrm>
            <a:off x="5887110" y="3608492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5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23" name="îŝ1ïďè">
            <a:extLst>
              <a:ext uri="{FF2B5EF4-FFF2-40B4-BE49-F238E27FC236}">
                <a16:creationId xmlns:a16="http://schemas.microsoft.com/office/drawing/2014/main" id="{35C02ED7-1B4A-4D48-B7F0-D14875155395}"/>
              </a:ext>
            </a:extLst>
          </p:cNvPr>
          <p:cNvSpPr/>
          <p:nvPr/>
        </p:nvSpPr>
        <p:spPr bwMode="auto">
          <a:xfrm flipH="1">
            <a:off x="5944260" y="4131553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4" name="i$ļîḋé">
            <a:extLst>
              <a:ext uri="{FF2B5EF4-FFF2-40B4-BE49-F238E27FC236}">
                <a16:creationId xmlns:a16="http://schemas.microsoft.com/office/drawing/2014/main" id="{3A97E3BF-5AF3-434F-BBFF-D221CE61BF76}"/>
              </a:ext>
            </a:extLst>
          </p:cNvPr>
          <p:cNvSpPr txBox="1"/>
          <p:nvPr/>
        </p:nvSpPr>
        <p:spPr>
          <a:xfrm>
            <a:off x="5887110" y="4100774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6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016B268-2AA9-434D-B9C4-157BC9405273}"/>
              </a:ext>
            </a:extLst>
          </p:cNvPr>
          <p:cNvSpPr txBox="1"/>
          <p:nvPr/>
        </p:nvSpPr>
        <p:spPr>
          <a:xfrm>
            <a:off x="6375736" y="1685845"/>
            <a:ext cx="2419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PS-PL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72E9DCD-C010-4251-B11E-BCF50AAD38BC}"/>
              </a:ext>
            </a:extLst>
          </p:cNvPr>
          <p:cNvSpPr txBox="1"/>
          <p:nvPr/>
        </p:nvSpPr>
        <p:spPr>
          <a:xfrm>
            <a:off x="6378109" y="2659743"/>
            <a:ext cx="2769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endParaRPr lang="zh-CN" altLang="en-US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3D9C907-E1D6-42E5-BE91-40529D2B77A4}"/>
              </a:ext>
            </a:extLst>
          </p:cNvPr>
          <p:cNvSpPr txBox="1"/>
          <p:nvPr/>
        </p:nvSpPr>
        <p:spPr>
          <a:xfrm>
            <a:off x="6377648" y="3158529"/>
            <a:ext cx="2627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层网络计算模块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993AF48-8E5C-41A6-8EE0-EAD2666ADA6A}"/>
              </a:ext>
            </a:extLst>
          </p:cNvPr>
          <p:cNvSpPr txBox="1"/>
          <p:nvPr/>
        </p:nvSpPr>
        <p:spPr>
          <a:xfrm>
            <a:off x="6377648" y="3662532"/>
            <a:ext cx="2627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层网络计算模块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0C937C-7E78-45F0-92FB-A2FD4CF9A66B}"/>
              </a:ext>
            </a:extLst>
          </p:cNvPr>
          <p:cNvSpPr txBox="1"/>
          <p:nvPr/>
        </p:nvSpPr>
        <p:spPr>
          <a:xfrm>
            <a:off x="6365443" y="4656521"/>
            <a:ext cx="2419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实现网络数据流控制等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9DE3211-94EC-44A5-AB4F-377502E7EEA6}"/>
              </a:ext>
            </a:extLst>
          </p:cNvPr>
          <p:cNvSpPr/>
          <p:nvPr/>
        </p:nvSpPr>
        <p:spPr>
          <a:xfrm>
            <a:off x="2093030" y="3973748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6</a:t>
            </a:r>
            <a:endParaRPr lang="zh-CN" altLang="en-US" sz="16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DDCCF9-3974-4870-A989-DBA2A68B17D8}"/>
              </a:ext>
            </a:extLst>
          </p:cNvPr>
          <p:cNvSpPr txBox="1"/>
          <p:nvPr/>
        </p:nvSpPr>
        <p:spPr>
          <a:xfrm>
            <a:off x="6375294" y="4154634"/>
            <a:ext cx="2720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数据截位方式对网络结果的影响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20D858A-EAE1-4F30-8199-2E02DADBAECE}"/>
              </a:ext>
            </a:extLst>
          </p:cNvPr>
          <p:cNvSpPr/>
          <p:nvPr/>
        </p:nvSpPr>
        <p:spPr>
          <a:xfrm>
            <a:off x="1260669" y="3582592"/>
            <a:ext cx="350045" cy="35004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7</a:t>
            </a:r>
            <a:endParaRPr lang="zh-CN" altLang="en-US" sz="1600" dirty="0"/>
          </a:p>
        </p:txBody>
      </p:sp>
      <p:sp>
        <p:nvSpPr>
          <p:cNvPr id="36" name="îŝ1ïďè">
            <a:extLst>
              <a:ext uri="{FF2B5EF4-FFF2-40B4-BE49-F238E27FC236}">
                <a16:creationId xmlns:a16="http://schemas.microsoft.com/office/drawing/2014/main" id="{7BAE189C-4A30-40B8-A8C0-9FAA120A9FD8}"/>
              </a:ext>
            </a:extLst>
          </p:cNvPr>
          <p:cNvSpPr/>
          <p:nvPr/>
        </p:nvSpPr>
        <p:spPr bwMode="auto">
          <a:xfrm flipH="1">
            <a:off x="5944260" y="4623833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37" name="i$ļîḋé">
            <a:extLst>
              <a:ext uri="{FF2B5EF4-FFF2-40B4-BE49-F238E27FC236}">
                <a16:creationId xmlns:a16="http://schemas.microsoft.com/office/drawing/2014/main" id="{EB810ADF-6DE6-4F0A-A4C6-3D891F99CC85}"/>
              </a:ext>
            </a:extLst>
          </p:cNvPr>
          <p:cNvSpPr txBox="1"/>
          <p:nvPr/>
        </p:nvSpPr>
        <p:spPr>
          <a:xfrm>
            <a:off x="5887110" y="4593055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7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50E798A-A6E1-47D0-9F34-FB740B4A8822}"/>
              </a:ext>
            </a:extLst>
          </p:cNvPr>
          <p:cNvSpPr txBox="1"/>
          <p:nvPr/>
        </p:nvSpPr>
        <p:spPr>
          <a:xfrm>
            <a:off x="6380410" y="5150833"/>
            <a:ext cx="2419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系统整合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490299A7-E6D9-5D44-B542-1F78C559AAC0}"/>
              </a:ext>
            </a:extLst>
          </p:cNvPr>
          <p:cNvSpPr/>
          <p:nvPr/>
        </p:nvSpPr>
        <p:spPr>
          <a:xfrm>
            <a:off x="3193693" y="3666442"/>
            <a:ext cx="350045" cy="35004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3</a:t>
            </a:r>
            <a:endParaRPr lang="zh-CN" altLang="en-US" sz="1600" dirty="0"/>
          </a:p>
        </p:txBody>
      </p:sp>
      <p:sp>
        <p:nvSpPr>
          <p:cNvPr id="41" name="îŝ1ïďè">
            <a:extLst>
              <a:ext uri="{FF2B5EF4-FFF2-40B4-BE49-F238E27FC236}">
                <a16:creationId xmlns:a16="http://schemas.microsoft.com/office/drawing/2014/main" id="{B00D667A-5407-4F47-970B-C1ECE085AD41}"/>
              </a:ext>
            </a:extLst>
          </p:cNvPr>
          <p:cNvSpPr/>
          <p:nvPr/>
        </p:nvSpPr>
        <p:spPr bwMode="auto">
          <a:xfrm flipH="1">
            <a:off x="5944260" y="5105064"/>
            <a:ext cx="433388" cy="380918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68580" tIns="34290" rIns="68580" bIns="3429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8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42" name="i$ļîḋé">
            <a:extLst>
              <a:ext uri="{FF2B5EF4-FFF2-40B4-BE49-F238E27FC236}">
                <a16:creationId xmlns:a16="http://schemas.microsoft.com/office/drawing/2014/main" id="{0904133D-C1CE-094E-97FD-137C921414B7}"/>
              </a:ext>
            </a:extLst>
          </p:cNvPr>
          <p:cNvSpPr txBox="1"/>
          <p:nvPr/>
        </p:nvSpPr>
        <p:spPr>
          <a:xfrm>
            <a:off x="5887110" y="5074286"/>
            <a:ext cx="4333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/>
                </a:solidFill>
                <a:latin typeface="Impact" panose="020B0806030902050204" pitchFamily="34" charset="0"/>
              </a:rPr>
              <a:t>8</a:t>
            </a:r>
            <a:endParaRPr lang="zh-CN" altLang="en-US" sz="1600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4A9A546-EB80-F94E-95B8-5B3E553F52A9}"/>
              </a:ext>
            </a:extLst>
          </p:cNvPr>
          <p:cNvSpPr txBox="1"/>
          <p:nvPr/>
        </p:nvSpPr>
        <p:spPr>
          <a:xfrm>
            <a:off x="6375735" y="2178035"/>
            <a:ext cx="2719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Verilog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基础：逻辑单元设计</a:t>
            </a:r>
          </a:p>
        </p:txBody>
      </p:sp>
    </p:spTree>
    <p:extLst>
      <p:ext uri="{BB962C8B-B14F-4D97-AF65-F5344CB8AC3E}">
        <p14:creationId xmlns:p14="http://schemas.microsoft.com/office/powerpoint/2010/main" val="2550542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0" y="64330"/>
            <a:ext cx="9144000" cy="775458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同步异步</a:t>
            </a:r>
            <a:r>
              <a:rPr lang="en-US" altLang="zh-CN" dirty="0"/>
              <a:t>FIFO</a:t>
            </a:r>
            <a:r>
              <a:rPr lang="zh-CN" altLang="en-US" dirty="0"/>
              <a:t>设计实验</a:t>
            </a:r>
          </a:p>
        </p:txBody>
      </p:sp>
      <p:sp>
        <p:nvSpPr>
          <p:cNvPr id="819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2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352FDA-8685-694F-A97B-593F376467B5}"/>
              </a:ext>
            </a:extLst>
          </p:cNvPr>
          <p:cNvSpPr txBox="1"/>
          <p:nvPr/>
        </p:nvSpPr>
        <p:spPr>
          <a:xfrm>
            <a:off x="240224" y="1160090"/>
            <a:ext cx="8717026" cy="4643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ea typeface="微软雅黑" panose="020B0503020204020204" pitchFamily="34" charset="-122"/>
              </a:rPr>
              <a:t>课堂练习目的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ea typeface="微软雅黑" panose="020B0503020204020204" pitchFamily="34" charset="-122"/>
              </a:rPr>
              <a:t>完成同步</a:t>
            </a:r>
            <a:r>
              <a:rPr lang="en" altLang="zh-CN" sz="2400" dirty="0">
                <a:ea typeface="微软雅黑" panose="020B0503020204020204" pitchFamily="34" charset="-122"/>
              </a:rPr>
              <a:t>FIFO</a:t>
            </a:r>
            <a:r>
              <a:rPr lang="zh-CN" altLang="en-US" sz="2400" dirty="0">
                <a:ea typeface="微软雅黑" panose="020B0503020204020204" pitchFamily="34" charset="-122"/>
              </a:rPr>
              <a:t>设计与仿真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ea typeface="微软雅黑" panose="020B0503020204020204" pitchFamily="34" charset="-122"/>
              </a:rPr>
              <a:t>完成异步</a:t>
            </a:r>
            <a:r>
              <a:rPr lang="en" altLang="zh-CN" sz="2400" dirty="0">
                <a:ea typeface="微软雅黑" panose="020B0503020204020204" pitchFamily="34" charset="-122"/>
              </a:rPr>
              <a:t>FIFO</a:t>
            </a:r>
            <a:r>
              <a:rPr lang="zh-CN" altLang="en-US" sz="2400" dirty="0">
                <a:ea typeface="微软雅黑" panose="020B0503020204020204" pitchFamily="34" charset="-122"/>
              </a:rPr>
              <a:t>设计与仿真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ea typeface="微软雅黑" panose="020B0503020204020204" pitchFamily="34" charset="-122"/>
              </a:rPr>
              <a:t>学会使用 </a:t>
            </a:r>
            <a:r>
              <a:rPr lang="en" altLang="zh-CN" sz="2400" dirty="0" err="1">
                <a:ea typeface="微软雅黑" panose="020B0503020204020204" pitchFamily="34" charset="-122"/>
              </a:rPr>
              <a:t>readmemb</a:t>
            </a:r>
            <a:r>
              <a:rPr lang="en" altLang="zh-CN" sz="2400" dirty="0"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ea typeface="微软雅黑" panose="020B0503020204020204" pitchFamily="34" charset="-122"/>
              </a:rPr>
              <a:t>和 </a:t>
            </a:r>
            <a:r>
              <a:rPr lang="en" altLang="zh-CN" sz="2400" dirty="0" err="1">
                <a:ea typeface="微软雅黑" panose="020B0503020204020204" pitchFamily="34" charset="-122"/>
              </a:rPr>
              <a:t>fwrite</a:t>
            </a:r>
            <a:r>
              <a:rPr lang="zh-CN" altLang="en-US" sz="2400" dirty="0">
                <a:ea typeface="微软雅黑" panose="020B0503020204020204" pitchFamily="34" charset="-122"/>
              </a:rPr>
              <a:t>函数读写文件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ea typeface="微软雅黑" panose="020B0503020204020204" pitchFamily="34" charset="-122"/>
              </a:rPr>
              <a:t>实验任务</a:t>
            </a:r>
            <a:endParaRPr lang="en-US" altLang="zh-CN" sz="2800" b="1" dirty="0"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微软雅黑" panose="020B0503020204020204" pitchFamily="34" charset="-122"/>
              </a:rPr>
              <a:t>根据</a:t>
            </a:r>
            <a:r>
              <a:rPr lang="en-US" altLang="zh-CN" sz="2400" dirty="0">
                <a:ea typeface="微软雅黑" panose="020B0503020204020204" pitchFamily="34" charset="-122"/>
              </a:rPr>
              <a:t>PPT</a:t>
            </a:r>
            <a:r>
              <a:rPr lang="zh-CN" altLang="en-US" sz="2400" dirty="0">
                <a:ea typeface="微软雅黑" panose="020B0503020204020204" pitchFamily="34" charset="-122"/>
              </a:rPr>
              <a:t>自行敲入设计代码，并进行仿真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微软雅黑" panose="020B0503020204020204" pitchFamily="34" charset="-122"/>
              </a:rPr>
              <a:t>助教验收</a:t>
            </a:r>
            <a:r>
              <a:rPr lang="en-US" altLang="zh-CN" sz="2400" dirty="0"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ea typeface="微软雅黑" panose="020B0503020204020204" pitchFamily="34" charset="-122"/>
              </a:rPr>
              <a:t>个波形图</a:t>
            </a:r>
          </a:p>
        </p:txBody>
      </p:sp>
    </p:spTree>
    <p:custDataLst>
      <p:tags r:id="rId1"/>
    </p:custDataLst>
  </p:cSld>
  <p:clrMapOvr>
    <a:masterClrMapping/>
  </p:clrMapOvr>
  <p:transition advTm="23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A2B1D55-A9AD-E84A-93E1-322A514DD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211" y="1422759"/>
            <a:ext cx="3293256" cy="4697962"/>
          </a:xfrm>
          <a:prstGeom prst="rect">
            <a:avLst/>
          </a:prstGeom>
        </p:spPr>
      </p:pic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0" y="64330"/>
            <a:ext cx="9144000" cy="775458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同步</a:t>
            </a:r>
            <a:r>
              <a:rPr lang="en-US" altLang="zh-CN" dirty="0"/>
              <a:t>FIFO</a:t>
            </a:r>
            <a:r>
              <a:rPr lang="zh-CN" altLang="en-US" dirty="0"/>
              <a:t>（</a:t>
            </a:r>
            <a:r>
              <a:rPr lang="en-US" altLang="zh-CN" dirty="0" err="1"/>
              <a:t>syn_fifo</a:t>
            </a:r>
            <a:r>
              <a:rPr lang="zh-CN" altLang="en-US" dirty="0"/>
              <a:t>）</a:t>
            </a:r>
          </a:p>
        </p:txBody>
      </p:sp>
      <p:sp>
        <p:nvSpPr>
          <p:cNvPr id="8196" name="日期占位符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3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8E4157-8FBF-A979-4FF8-7DA2248942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8542" y="1406135"/>
            <a:ext cx="3789770" cy="469375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8ED4457E-734F-C110-D8DE-91BDC0D01C7E}"/>
              </a:ext>
            </a:extLst>
          </p:cNvPr>
          <p:cNvSpPr/>
          <p:nvPr/>
        </p:nvSpPr>
        <p:spPr>
          <a:xfrm>
            <a:off x="932370" y="1422759"/>
            <a:ext cx="3029464" cy="8263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Oval 2">
            <a:extLst>
              <a:ext uri="{FF2B5EF4-FFF2-40B4-BE49-F238E27FC236}">
                <a16:creationId xmlns:a16="http://schemas.microsoft.com/office/drawing/2014/main" id="{0231414F-B754-721C-7031-9CF8BA59C5DB}"/>
              </a:ext>
            </a:extLst>
          </p:cNvPr>
          <p:cNvSpPr/>
          <p:nvPr/>
        </p:nvSpPr>
        <p:spPr>
          <a:xfrm>
            <a:off x="4027445" y="1524831"/>
            <a:ext cx="433062" cy="46226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1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B2606DAC-CCAB-A75E-75D1-AC798A4EEB38}"/>
              </a:ext>
            </a:extLst>
          </p:cNvPr>
          <p:cNvSpPr/>
          <p:nvPr/>
        </p:nvSpPr>
        <p:spPr>
          <a:xfrm>
            <a:off x="942798" y="4697769"/>
            <a:ext cx="3019036" cy="14021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2F82FE5D-61AA-D4B9-CF06-73039177518C}"/>
              </a:ext>
            </a:extLst>
          </p:cNvPr>
          <p:cNvSpPr/>
          <p:nvPr/>
        </p:nvSpPr>
        <p:spPr>
          <a:xfrm>
            <a:off x="4050575" y="4812277"/>
            <a:ext cx="444011" cy="4391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2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096C0A42-8951-B46D-A645-437AA54EFAC1}"/>
              </a:ext>
            </a:extLst>
          </p:cNvPr>
          <p:cNvSpPr/>
          <p:nvPr/>
        </p:nvSpPr>
        <p:spPr>
          <a:xfrm>
            <a:off x="4918451" y="1551305"/>
            <a:ext cx="3469861" cy="2141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Oval 11">
            <a:extLst>
              <a:ext uri="{FF2B5EF4-FFF2-40B4-BE49-F238E27FC236}">
                <a16:creationId xmlns:a16="http://schemas.microsoft.com/office/drawing/2014/main" id="{3DBE528A-902B-DA58-B0D3-4F17EA011B62}"/>
              </a:ext>
            </a:extLst>
          </p:cNvPr>
          <p:cNvSpPr/>
          <p:nvPr/>
        </p:nvSpPr>
        <p:spPr>
          <a:xfrm>
            <a:off x="8526347" y="1551701"/>
            <a:ext cx="458561" cy="46226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3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257A152D-0790-2206-5A6F-0CA453638F95}"/>
              </a:ext>
            </a:extLst>
          </p:cNvPr>
          <p:cNvSpPr/>
          <p:nvPr/>
        </p:nvSpPr>
        <p:spPr>
          <a:xfrm>
            <a:off x="4918451" y="3032272"/>
            <a:ext cx="3469862" cy="3186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D580FA7D-50AD-9DF9-7794-FC70A460C0D5}"/>
              </a:ext>
            </a:extLst>
          </p:cNvPr>
          <p:cNvSpPr/>
          <p:nvPr/>
        </p:nvSpPr>
        <p:spPr>
          <a:xfrm>
            <a:off x="8526347" y="2924747"/>
            <a:ext cx="419525" cy="43084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4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EDDEA6-2F30-ED45-8747-D5016B7F33B2}"/>
              </a:ext>
            </a:extLst>
          </p:cNvPr>
          <p:cNvSpPr/>
          <p:nvPr/>
        </p:nvSpPr>
        <p:spPr>
          <a:xfrm>
            <a:off x="3888584" y="201396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参数化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AD1EC0-7F9A-9A4B-AD62-530821B4D273}"/>
              </a:ext>
            </a:extLst>
          </p:cNvPr>
          <p:cNvSpPr/>
          <p:nvPr/>
        </p:nvSpPr>
        <p:spPr>
          <a:xfrm>
            <a:off x="3414426" y="525144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指针与地址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641C922-8E96-5C47-AB06-DFCB8BCDF6CC}"/>
              </a:ext>
            </a:extLst>
          </p:cNvPr>
          <p:cNvSpPr/>
          <p:nvPr/>
        </p:nvSpPr>
        <p:spPr>
          <a:xfrm>
            <a:off x="7439687" y="1997261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" b="1" dirty="0">
                <a:solidFill>
                  <a:srgbClr val="C00000"/>
                </a:solidFill>
              </a:rPr>
              <a:t>定义</a:t>
            </a:r>
            <a:r>
              <a:rPr lang="en" altLang="zh-CN" b="1" dirty="0">
                <a:solidFill>
                  <a:srgbClr val="C00000"/>
                </a:solidFill>
              </a:rPr>
              <a:t>RAM </a:t>
            </a:r>
            <a:r>
              <a:rPr lang="zh-CN" altLang="en-US" b="1" dirty="0">
                <a:solidFill>
                  <a:srgbClr val="C00000"/>
                </a:solidFill>
              </a:rPr>
              <a:t>阵列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081F86-0D33-5F40-9A6C-F23955C40D20}"/>
              </a:ext>
            </a:extLst>
          </p:cNvPr>
          <p:cNvSpPr/>
          <p:nvPr/>
        </p:nvSpPr>
        <p:spPr>
          <a:xfrm>
            <a:off x="7320707" y="3383679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1" dirty="0">
                <a:solidFill>
                  <a:srgbClr val="C00000"/>
                </a:solidFill>
              </a:rPr>
              <a:t>RAM </a:t>
            </a:r>
            <a:r>
              <a:rPr lang="zh-CN" altLang="en-US" b="1" dirty="0">
                <a:solidFill>
                  <a:srgbClr val="C00000"/>
                </a:solidFill>
              </a:rPr>
              <a:t>逐项清零</a:t>
            </a:r>
          </a:p>
        </p:txBody>
      </p:sp>
      <p:sp>
        <p:nvSpPr>
          <p:cNvPr id="22" name="Oval 13">
            <a:extLst>
              <a:ext uri="{FF2B5EF4-FFF2-40B4-BE49-F238E27FC236}">
                <a16:creationId xmlns:a16="http://schemas.microsoft.com/office/drawing/2014/main" id="{12D2AA95-6CBA-074A-9006-6BDE9B0A1883}"/>
              </a:ext>
            </a:extLst>
          </p:cNvPr>
          <p:cNvSpPr/>
          <p:nvPr/>
        </p:nvSpPr>
        <p:spPr>
          <a:xfrm>
            <a:off x="8526347" y="3941833"/>
            <a:ext cx="419525" cy="43084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5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BF7524-D324-0846-A1CE-04DE51C45D86}"/>
              </a:ext>
            </a:extLst>
          </p:cNvPr>
          <p:cNvSpPr/>
          <p:nvPr/>
        </p:nvSpPr>
        <p:spPr>
          <a:xfrm>
            <a:off x="7764388" y="4447313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此刻写数据</a:t>
            </a: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7AD3B28D-D325-224F-9CAE-4BFF9C7343D3}"/>
              </a:ext>
            </a:extLst>
          </p:cNvPr>
          <p:cNvSpPr/>
          <p:nvPr/>
        </p:nvSpPr>
        <p:spPr>
          <a:xfrm>
            <a:off x="4918451" y="3825398"/>
            <a:ext cx="3469862" cy="6613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 advTm="2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5" grpId="0"/>
      <p:bldP spid="6" grpId="0"/>
      <p:bldP spid="19" grpId="0"/>
      <p:bldP spid="21" grpId="0"/>
      <p:bldP spid="22" grpId="0" animBg="1"/>
      <p:bldP spid="23" grpId="0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442F5-0960-8225-AF99-E6497C42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FE772829-9AA9-F392-0C32-60B2A7974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0"/>
            <a:ext cx="9144000" cy="766268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同步</a:t>
            </a:r>
            <a:r>
              <a:rPr lang="en-US" altLang="zh-CN" dirty="0"/>
              <a:t>FIFO</a:t>
            </a:r>
            <a:r>
              <a:rPr lang="zh-CN" altLang="en-US" dirty="0"/>
              <a:t>（</a:t>
            </a:r>
            <a:r>
              <a:rPr lang="en-US" altLang="zh-CN" dirty="0" err="1"/>
              <a:t>syn_fifo</a:t>
            </a:r>
            <a:r>
              <a:rPr lang="zh-CN" altLang="en-US" dirty="0"/>
              <a:t>）</a:t>
            </a:r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B18B6D9C-F85F-14E9-6F4F-FB8CF9FF5F1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197" name="灯片编号占位符 5">
            <a:extLst>
              <a:ext uri="{FF2B5EF4-FFF2-40B4-BE49-F238E27FC236}">
                <a16:creationId xmlns:a16="http://schemas.microsoft.com/office/drawing/2014/main" id="{CF02618B-C7DD-7F04-91B4-D07B65DFAA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4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EDC015-1154-C5A1-B9EA-5556AD865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10" y="1363978"/>
            <a:ext cx="2780238" cy="4015899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1116CA86-D013-6A78-C0DD-C1AB106DD64F}"/>
              </a:ext>
            </a:extLst>
          </p:cNvPr>
          <p:cNvSpPr/>
          <p:nvPr/>
        </p:nvSpPr>
        <p:spPr>
          <a:xfrm>
            <a:off x="414338" y="2471738"/>
            <a:ext cx="2553210" cy="7025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8C601657-2BB5-E840-D1DB-D6DEE9C06A81}"/>
              </a:ext>
            </a:extLst>
          </p:cNvPr>
          <p:cNvSpPr/>
          <p:nvPr/>
        </p:nvSpPr>
        <p:spPr>
          <a:xfrm>
            <a:off x="2516495" y="1769150"/>
            <a:ext cx="451053" cy="42870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6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34FB0A-0AAA-CD89-E676-AAACCE017A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054" y="1363978"/>
            <a:ext cx="5863925" cy="4015899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BA7C0517-4A71-5100-002E-89C62CB80F2E}"/>
              </a:ext>
            </a:extLst>
          </p:cNvPr>
          <p:cNvSpPr/>
          <p:nvPr/>
        </p:nvSpPr>
        <p:spPr>
          <a:xfrm>
            <a:off x="3337560" y="1363978"/>
            <a:ext cx="5619130" cy="3092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AB0BEE84-30D8-6DD4-3DFF-0A49D37D2CB4}"/>
              </a:ext>
            </a:extLst>
          </p:cNvPr>
          <p:cNvSpPr/>
          <p:nvPr/>
        </p:nvSpPr>
        <p:spPr>
          <a:xfrm>
            <a:off x="6101926" y="1729615"/>
            <a:ext cx="440419" cy="46078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7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B40BC83A-990D-1DC8-A378-BF5EA7B8EB72}"/>
              </a:ext>
            </a:extLst>
          </p:cNvPr>
          <p:cNvSpPr/>
          <p:nvPr/>
        </p:nvSpPr>
        <p:spPr>
          <a:xfrm>
            <a:off x="3337560" y="3436241"/>
            <a:ext cx="5619130" cy="2632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Oval 7">
            <a:extLst>
              <a:ext uri="{FF2B5EF4-FFF2-40B4-BE49-F238E27FC236}">
                <a16:creationId xmlns:a16="http://schemas.microsoft.com/office/drawing/2014/main" id="{029CBA86-5638-504F-4A80-BFB61ADDBF5D}"/>
              </a:ext>
            </a:extLst>
          </p:cNvPr>
          <p:cNvSpPr/>
          <p:nvPr/>
        </p:nvSpPr>
        <p:spPr>
          <a:xfrm>
            <a:off x="6101925" y="3740354"/>
            <a:ext cx="440419" cy="42611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8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21" name="Oval 8">
            <a:extLst>
              <a:ext uri="{FF2B5EF4-FFF2-40B4-BE49-F238E27FC236}">
                <a16:creationId xmlns:a16="http://schemas.microsoft.com/office/drawing/2014/main" id="{83B2984C-B268-1927-D836-2228C53FB534}"/>
              </a:ext>
            </a:extLst>
          </p:cNvPr>
          <p:cNvSpPr/>
          <p:nvPr/>
        </p:nvSpPr>
        <p:spPr>
          <a:xfrm>
            <a:off x="6101925" y="5286244"/>
            <a:ext cx="442912" cy="45430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9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4ADA7E31-EC97-FE02-A5C0-726A9381EAD6}"/>
              </a:ext>
            </a:extLst>
          </p:cNvPr>
          <p:cNvSpPr/>
          <p:nvPr/>
        </p:nvSpPr>
        <p:spPr>
          <a:xfrm>
            <a:off x="3337560" y="4635518"/>
            <a:ext cx="5619130" cy="5727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CC683D-1119-9C48-894A-711687C472D5}"/>
              </a:ext>
            </a:extLst>
          </p:cNvPr>
          <p:cNvSpPr/>
          <p:nvPr/>
        </p:nvSpPr>
        <p:spPr>
          <a:xfrm>
            <a:off x="1748210" y="2135902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此刻读数据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BF55CB-51B2-7B4C-89A5-69FCA3B708F2}"/>
              </a:ext>
            </a:extLst>
          </p:cNvPr>
          <p:cNvSpPr/>
          <p:nvPr/>
        </p:nvSpPr>
        <p:spPr>
          <a:xfrm>
            <a:off x="6496953" y="1768239"/>
            <a:ext cx="2507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未满时，写指针自增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A4DCE0-75D4-C942-BBEB-F51BF8925312}"/>
              </a:ext>
            </a:extLst>
          </p:cNvPr>
          <p:cNvSpPr/>
          <p:nvPr/>
        </p:nvSpPr>
        <p:spPr>
          <a:xfrm>
            <a:off x="6522963" y="3756971"/>
            <a:ext cx="2563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未空时，读指针自增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781DBD-18E4-6649-8144-36B59E87ABC5}"/>
              </a:ext>
            </a:extLst>
          </p:cNvPr>
          <p:cNvSpPr/>
          <p:nvPr/>
        </p:nvSpPr>
        <p:spPr>
          <a:xfrm>
            <a:off x="6542344" y="5368370"/>
            <a:ext cx="1707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满</a:t>
            </a:r>
            <a:r>
              <a:rPr lang="en-US" altLang="zh-CN" b="1" dirty="0">
                <a:solidFill>
                  <a:srgbClr val="C00000"/>
                </a:solidFill>
              </a:rPr>
              <a:t>/</a:t>
            </a:r>
            <a:r>
              <a:rPr lang="zh-CN" altLang="en-US" b="1" dirty="0">
                <a:solidFill>
                  <a:srgbClr val="C00000"/>
                </a:solidFill>
              </a:rPr>
              <a:t>将满</a:t>
            </a:r>
            <a:r>
              <a:rPr lang="en-US" altLang="zh-CN" b="1" dirty="0">
                <a:solidFill>
                  <a:srgbClr val="C00000"/>
                </a:solidFill>
              </a:rPr>
              <a:t>/</a:t>
            </a:r>
            <a:r>
              <a:rPr lang="zh-CN" altLang="en-US" b="1" dirty="0">
                <a:solidFill>
                  <a:srgbClr val="C00000"/>
                </a:solidFill>
              </a:rPr>
              <a:t>空信号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8494298"/>
      </p:ext>
    </p:extLst>
  </p:cSld>
  <p:clrMapOvr>
    <a:masterClrMapping/>
  </p:clrMapOvr>
  <p:transition advTm="2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8" grpId="0" animBg="1"/>
      <p:bldP spid="19" grpId="0" animBg="1"/>
      <p:bldP spid="21" grpId="0" animBg="1"/>
      <p:bldP spid="22" grpId="0" animBg="1"/>
      <p:bldP spid="15" grpId="0"/>
      <p:bldP spid="16" grpId="0"/>
      <p:bldP spid="17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E9DCC-C971-4D4C-0147-FD22513AD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BE6CE4-502D-7D46-8437-94C9EED3B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22" y="1357677"/>
            <a:ext cx="3111602" cy="4823765"/>
          </a:xfrm>
          <a:prstGeom prst="rect">
            <a:avLst/>
          </a:prstGeom>
        </p:spPr>
      </p:pic>
      <p:sp>
        <p:nvSpPr>
          <p:cNvPr id="8194" name="标题 1">
            <a:extLst>
              <a:ext uri="{FF2B5EF4-FFF2-40B4-BE49-F238E27FC236}">
                <a16:creationId xmlns:a16="http://schemas.microsoft.com/office/drawing/2014/main" id="{8BCF36A8-3AA0-B250-C745-F61F98042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915"/>
            <a:ext cx="9144000" cy="793874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异步</a:t>
            </a:r>
            <a:r>
              <a:rPr lang="en-US" altLang="zh-CN" dirty="0"/>
              <a:t>FIFO</a:t>
            </a:r>
            <a:r>
              <a:rPr lang="zh-CN" altLang="en-US" dirty="0"/>
              <a:t>（</a:t>
            </a:r>
            <a:r>
              <a:rPr lang="en-US" altLang="zh-CN" dirty="0" err="1"/>
              <a:t>asy_fifo</a:t>
            </a:r>
            <a:r>
              <a:rPr lang="zh-CN" altLang="en-US" dirty="0"/>
              <a:t>）</a:t>
            </a:r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15CC310F-AD1D-6F39-ABD6-4D2C081F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197" name="灯片编号占位符 5">
            <a:extLst>
              <a:ext uri="{FF2B5EF4-FFF2-40B4-BE49-F238E27FC236}">
                <a16:creationId xmlns:a16="http://schemas.microsoft.com/office/drawing/2014/main" id="{A62B14EF-D4A7-1286-0127-62D98D016D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5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294CA7-5BAE-96A3-93A5-6AD82FEBA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018" y="1357677"/>
            <a:ext cx="4590357" cy="4823764"/>
          </a:xfrm>
          <a:prstGeom prst="rect">
            <a:avLst/>
          </a:prstGeom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61FBBCCA-F3AC-EA52-2D86-2E47627B888B}"/>
              </a:ext>
            </a:extLst>
          </p:cNvPr>
          <p:cNvSpPr/>
          <p:nvPr/>
        </p:nvSpPr>
        <p:spPr>
          <a:xfrm>
            <a:off x="579885" y="2044701"/>
            <a:ext cx="2837268" cy="1803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7E1DAD2E-C2C7-A00C-6EFC-B660E40C5147}"/>
              </a:ext>
            </a:extLst>
          </p:cNvPr>
          <p:cNvSpPr/>
          <p:nvPr/>
        </p:nvSpPr>
        <p:spPr>
          <a:xfrm>
            <a:off x="3465924" y="2628326"/>
            <a:ext cx="536610" cy="54274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1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6AE43A7-B52C-0F2C-BBC9-941719568B06}"/>
              </a:ext>
            </a:extLst>
          </p:cNvPr>
          <p:cNvSpPr/>
          <p:nvPr/>
        </p:nvSpPr>
        <p:spPr>
          <a:xfrm>
            <a:off x="579884" y="4940649"/>
            <a:ext cx="2837268" cy="10791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Oval 10">
            <a:extLst>
              <a:ext uri="{FF2B5EF4-FFF2-40B4-BE49-F238E27FC236}">
                <a16:creationId xmlns:a16="http://schemas.microsoft.com/office/drawing/2014/main" id="{7D46C044-4B51-F5E5-672A-76EBB9E84593}"/>
              </a:ext>
            </a:extLst>
          </p:cNvPr>
          <p:cNvSpPr/>
          <p:nvPr/>
        </p:nvSpPr>
        <p:spPr>
          <a:xfrm>
            <a:off x="3493143" y="4796538"/>
            <a:ext cx="536610" cy="54274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2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EB8867-CE8C-7741-9D5D-99839660A000}"/>
              </a:ext>
            </a:extLst>
          </p:cNvPr>
          <p:cNvSpPr/>
          <p:nvPr/>
        </p:nvSpPr>
        <p:spPr>
          <a:xfrm>
            <a:off x="3398258" y="3229604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双时钟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72439C-F2C1-C548-9428-452FD831C13D}"/>
              </a:ext>
            </a:extLst>
          </p:cNvPr>
          <p:cNvSpPr/>
          <p:nvPr/>
        </p:nvSpPr>
        <p:spPr>
          <a:xfrm>
            <a:off x="3373974" y="5431346"/>
            <a:ext cx="16585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格雷码指针及</a:t>
            </a:r>
            <a:r>
              <a:rPr lang="en-US" altLang="zh-CN" b="1" dirty="0">
                <a:solidFill>
                  <a:srgbClr val="C00000"/>
                </a:solidFill>
              </a:rPr>
              <a:t>2FF</a:t>
            </a:r>
            <a:r>
              <a:rPr lang="zh-CN" altLang="en-US" b="1" dirty="0">
                <a:solidFill>
                  <a:srgbClr val="C00000"/>
                </a:solidFill>
              </a:rPr>
              <a:t>同步指针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987288"/>
      </p:ext>
    </p:extLst>
  </p:cSld>
  <p:clrMapOvr>
    <a:masterClrMapping/>
  </p:clrMapOvr>
  <p:transition advTm="2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 animBg="1"/>
      <p:bldP spid="14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ADC67-12FA-FCF7-916A-8E103B340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F15F467-3E68-4647-F48A-4C62280D4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2761"/>
            <a:ext cx="9144000" cy="787027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异步</a:t>
            </a:r>
            <a:r>
              <a:rPr lang="en-US" altLang="zh-CN" dirty="0"/>
              <a:t>FIFO</a:t>
            </a:r>
            <a:r>
              <a:rPr lang="zh-CN" altLang="en-US" dirty="0"/>
              <a:t>（</a:t>
            </a:r>
            <a:r>
              <a:rPr lang="en-US" altLang="zh-CN" dirty="0" err="1"/>
              <a:t>asy_fifo</a:t>
            </a:r>
            <a:r>
              <a:rPr lang="zh-CN" altLang="en-US" dirty="0"/>
              <a:t>）</a:t>
            </a:r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F551BB0B-45A9-ABCE-5407-4A36A519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197" name="灯片编号占位符 5">
            <a:extLst>
              <a:ext uri="{FF2B5EF4-FFF2-40B4-BE49-F238E27FC236}">
                <a16:creationId xmlns:a16="http://schemas.microsoft.com/office/drawing/2014/main" id="{C54CC82B-3EFE-CD05-3441-65D9E1EE7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6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874391-3DC2-C94D-C7C0-A26FA00B7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363" y="1066680"/>
            <a:ext cx="5094359" cy="4972216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6C074ADC-D041-EC1D-86A4-476A3753822E}"/>
              </a:ext>
            </a:extLst>
          </p:cNvPr>
          <p:cNvSpPr/>
          <p:nvPr/>
        </p:nvSpPr>
        <p:spPr>
          <a:xfrm>
            <a:off x="2062202" y="1540974"/>
            <a:ext cx="4821520" cy="388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3DD5B2D6-D718-8C8C-411F-4F4C54B79F91}"/>
              </a:ext>
            </a:extLst>
          </p:cNvPr>
          <p:cNvSpPr/>
          <p:nvPr/>
        </p:nvSpPr>
        <p:spPr>
          <a:xfrm>
            <a:off x="6978144" y="1473893"/>
            <a:ext cx="588692" cy="58477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3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2FD48427-A0D2-936A-3499-0CCD916A11BC}"/>
              </a:ext>
            </a:extLst>
          </p:cNvPr>
          <p:cNvSpPr/>
          <p:nvPr/>
        </p:nvSpPr>
        <p:spPr>
          <a:xfrm>
            <a:off x="2062202" y="3479800"/>
            <a:ext cx="4821520" cy="8019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9AB5D718-8D20-817B-64E3-F814A53A7D37}"/>
              </a:ext>
            </a:extLst>
          </p:cNvPr>
          <p:cNvSpPr/>
          <p:nvPr/>
        </p:nvSpPr>
        <p:spPr>
          <a:xfrm>
            <a:off x="6978144" y="3552788"/>
            <a:ext cx="588692" cy="58477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4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3F7D4E-9A08-8C4B-9E4D-D8347C089A50}"/>
              </a:ext>
            </a:extLst>
          </p:cNvPr>
          <p:cNvSpPr/>
          <p:nvPr/>
        </p:nvSpPr>
        <p:spPr>
          <a:xfrm>
            <a:off x="5734373" y="2068713"/>
            <a:ext cx="43423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把指针的低位切片当作实际地址</a:t>
            </a:r>
          </a:p>
          <a:p>
            <a:r>
              <a:rPr lang="zh-CN" altLang="en-US" b="1" dirty="0">
                <a:solidFill>
                  <a:srgbClr val="C00000"/>
                </a:solidFill>
              </a:rPr>
              <a:t>（</a:t>
            </a:r>
            <a:r>
              <a:rPr lang="en-US" altLang="zh-CN" b="1" dirty="0">
                <a:solidFill>
                  <a:srgbClr val="C00000"/>
                </a:solidFill>
              </a:rPr>
              <a:t>System Verilog</a:t>
            </a:r>
            <a:r>
              <a:rPr lang="zh-CN" altLang="en-US" b="1" dirty="0">
                <a:solidFill>
                  <a:srgbClr val="C00000"/>
                </a:solidFill>
              </a:rPr>
              <a:t>写法）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178E72-E2DA-F843-818E-2569214A3A8C}"/>
              </a:ext>
            </a:extLst>
          </p:cNvPr>
          <p:cNvSpPr/>
          <p:nvPr/>
        </p:nvSpPr>
        <p:spPr>
          <a:xfrm>
            <a:off x="7598722" y="3660509"/>
            <a:ext cx="14363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2FF</a:t>
            </a:r>
            <a:r>
              <a:rPr lang="zh-CN" altLang="en-US" b="1" dirty="0">
                <a:solidFill>
                  <a:srgbClr val="C00000"/>
                </a:solidFill>
              </a:rPr>
              <a:t>同步器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4109185"/>
      </p:ext>
    </p:extLst>
  </p:cSld>
  <p:clrMapOvr>
    <a:masterClrMapping/>
  </p:clrMapOvr>
  <p:transition advTm="2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BD200-E653-F8D9-BF23-C60764C1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B0314F6F-891E-7080-1D77-71FC9B0B8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0"/>
            <a:ext cx="9144000" cy="766268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异步</a:t>
            </a:r>
            <a:r>
              <a:rPr lang="en-US" altLang="zh-CN" dirty="0"/>
              <a:t>FIFO</a:t>
            </a:r>
            <a:r>
              <a:rPr lang="zh-CN" altLang="en-US" dirty="0"/>
              <a:t>（</a:t>
            </a:r>
            <a:r>
              <a:rPr lang="en-US" altLang="zh-CN" dirty="0" err="1"/>
              <a:t>asy_fifo</a:t>
            </a:r>
            <a:r>
              <a:rPr lang="zh-CN" altLang="en-US" dirty="0"/>
              <a:t>）</a:t>
            </a:r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7341FA33-08C8-69B8-F73D-1F2EFDD5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197" name="灯片编号占位符 5">
            <a:extLst>
              <a:ext uri="{FF2B5EF4-FFF2-40B4-BE49-F238E27FC236}">
                <a16:creationId xmlns:a16="http://schemas.microsoft.com/office/drawing/2014/main" id="{34D01AA1-4ED4-1578-FCE4-3DA778EBED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7</a:t>
            </a:fld>
            <a:endParaRPr lang="zh-CN" altLang="en-US" sz="1400" dirty="0">
              <a:solidFill>
                <a:srgbClr val="FFFFFF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B014E9B-C5B7-AC70-5D94-E291B7D87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79" y="1032368"/>
            <a:ext cx="6638921" cy="5040299"/>
          </a:xfrm>
          <a:prstGeom prst="rect">
            <a:avLst/>
          </a:prstGeom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4BAD05D6-CBAA-2C3A-F530-6F9897F49CAA}"/>
              </a:ext>
            </a:extLst>
          </p:cNvPr>
          <p:cNvSpPr/>
          <p:nvPr/>
        </p:nvSpPr>
        <p:spPr>
          <a:xfrm>
            <a:off x="1543051" y="4840514"/>
            <a:ext cx="6345550" cy="402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Oval 11">
            <a:extLst>
              <a:ext uri="{FF2B5EF4-FFF2-40B4-BE49-F238E27FC236}">
                <a16:creationId xmlns:a16="http://schemas.microsoft.com/office/drawing/2014/main" id="{81B6DDCE-BE88-38F8-FFFA-C2CF79CD3780}"/>
              </a:ext>
            </a:extLst>
          </p:cNvPr>
          <p:cNvSpPr/>
          <p:nvPr/>
        </p:nvSpPr>
        <p:spPr>
          <a:xfrm>
            <a:off x="7991746" y="4781376"/>
            <a:ext cx="508523" cy="49388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5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F84D4EF2-0D0B-4F4D-CEB0-80A40D902E1E}"/>
              </a:ext>
            </a:extLst>
          </p:cNvPr>
          <p:cNvSpPr/>
          <p:nvPr/>
        </p:nvSpPr>
        <p:spPr>
          <a:xfrm>
            <a:off x="1543051" y="5346564"/>
            <a:ext cx="6345549" cy="4635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B87D019D-AE30-6A70-A702-961CC065D696}"/>
              </a:ext>
            </a:extLst>
          </p:cNvPr>
          <p:cNvSpPr/>
          <p:nvPr/>
        </p:nvSpPr>
        <p:spPr>
          <a:xfrm>
            <a:off x="7991745" y="5343582"/>
            <a:ext cx="508523" cy="49388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6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1EF56C-A189-064D-9677-10E23015A71C}"/>
              </a:ext>
            </a:extLst>
          </p:cNvPr>
          <p:cNvSpPr/>
          <p:nvPr/>
        </p:nvSpPr>
        <p:spPr>
          <a:xfrm>
            <a:off x="6555363" y="4863107"/>
            <a:ext cx="14363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格雷码转化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326CFD-8F2A-904F-9FDE-F07359DEE81C}"/>
              </a:ext>
            </a:extLst>
          </p:cNvPr>
          <p:cNvSpPr/>
          <p:nvPr/>
        </p:nvSpPr>
        <p:spPr>
          <a:xfrm>
            <a:off x="5013388" y="5492033"/>
            <a:ext cx="30839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full</a:t>
            </a:r>
            <a:r>
              <a:rPr lang="zh-CN" altLang="en-US" b="1" dirty="0">
                <a:solidFill>
                  <a:srgbClr val="C00000"/>
                </a:solidFill>
              </a:rPr>
              <a:t> 信号判断最高两位不同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8391107"/>
      </p:ext>
    </p:extLst>
  </p:cSld>
  <p:clrMapOvr>
    <a:masterClrMapping/>
  </p:clrMapOvr>
  <p:transition advTm="2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11" grpId="0" animBg="1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2213" y="1028742"/>
            <a:ext cx="4305692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系统函数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CBF208-4D09-40C7-889B-4EEA960EF188}"/>
              </a:ext>
            </a:extLst>
          </p:cNvPr>
          <p:cNvSpPr txBox="1"/>
          <p:nvPr/>
        </p:nvSpPr>
        <p:spPr>
          <a:xfrm>
            <a:off x="162213" y="1490407"/>
            <a:ext cx="81056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readmemb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用于从文本文件中读取二进制数据，并将其存储到一个内存数组中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readmemb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("filename",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memory_array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 </a:t>
            </a: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$fopen </a:t>
            </a: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用于打开一个文件，并返回一个文件句柄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(file_handle)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，文件句柄可以用于后续的文件操作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file_handle = $fopen("filename", "mode");</a:t>
            </a: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mode:</a:t>
            </a:r>
          </a:p>
          <a:p>
            <a:pPr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"r":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以只读模式打开文件。</a:t>
            </a:r>
          </a:p>
          <a:p>
            <a:pPr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"w":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以写模式打开文件，如果文件存在则覆盖。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"a":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以追加模式打开文件。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fclose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用于关闭一个文件句柄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fwrite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用于将数据写入文件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fwrite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(file_handle, "Value = %d\n", 42);</a:t>
            </a: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$signed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用于将无符号数转换为有符号数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FE70D2E-3F46-B645-8C16-27688F08F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950"/>
            <a:ext cx="9144000" cy="793838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仿真文件（</a:t>
            </a:r>
            <a:r>
              <a:rPr lang="en-US" altLang="zh-CN" dirty="0" err="1"/>
              <a:t>tb</a:t>
            </a:r>
            <a:r>
              <a:rPr lang="zh-CN" altLang="en-US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36BC15-4555-9A4C-A2FF-2BD2F92F5B90}"/>
              </a:ext>
            </a:extLst>
          </p:cNvPr>
          <p:cNvSpPr txBox="1"/>
          <p:nvPr/>
        </p:nvSpPr>
        <p:spPr>
          <a:xfrm>
            <a:off x="5177638" y="3188959"/>
            <a:ext cx="3710866" cy="46166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读写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.txt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6D9063-3692-EC48-B41D-8302C1B6B1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869" t="16004" r="28003" b="66909"/>
          <a:stretch/>
        </p:blipFill>
        <p:spPr>
          <a:xfrm>
            <a:off x="4922142" y="3728712"/>
            <a:ext cx="4221858" cy="19316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05B0039-FD13-074A-BD0D-5E6C51B04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634" y="5582226"/>
            <a:ext cx="3779848" cy="510584"/>
          </a:xfrm>
          <a:prstGeom prst="rect">
            <a:avLst/>
          </a:prstGeom>
        </p:spPr>
      </p:pic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EB236D1-FC78-A640-92CF-D5EDD459A9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8316913" y="6356350"/>
            <a:ext cx="44291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8</a:t>
            </a:fld>
            <a:endParaRPr lang="zh-CN" alt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75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9D0AF-2EC6-4CF7-2D85-870BCB35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20C769B-3BBD-70F6-B084-8FD1E303B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950"/>
            <a:ext cx="9144000" cy="793838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同步</a:t>
            </a:r>
            <a:r>
              <a:rPr lang="en-US" altLang="zh-CN" dirty="0"/>
              <a:t>FIFO</a:t>
            </a:r>
            <a:r>
              <a:rPr lang="zh-CN" altLang="en-US" dirty="0"/>
              <a:t>仿真文件（</a:t>
            </a:r>
            <a:r>
              <a:rPr lang="en-US" altLang="zh-CN" dirty="0" err="1"/>
              <a:t>tb_syn_fifo</a:t>
            </a:r>
            <a:r>
              <a:rPr lang="zh-CN" altLang="en-US" dirty="0"/>
              <a:t>）</a:t>
            </a:r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C5A0E87B-1790-CD5D-E4A5-44A9741B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197" name="灯片编号占位符 5">
            <a:extLst>
              <a:ext uri="{FF2B5EF4-FFF2-40B4-BE49-F238E27FC236}">
                <a16:creationId xmlns:a16="http://schemas.microsoft.com/office/drawing/2014/main" id="{7EC9D056-2049-CA1F-CF49-D163488C95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9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C0F4D9-FA1A-8DF3-BA20-2C0418AA1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311" y="1577892"/>
            <a:ext cx="6053514" cy="4029724"/>
          </a:xfrm>
          <a:prstGeom prst="rect">
            <a:avLst/>
          </a:prstGeom>
        </p:spPr>
      </p:pic>
      <p:sp>
        <p:nvSpPr>
          <p:cNvPr id="10" name="Oval 6">
            <a:extLst>
              <a:ext uri="{FF2B5EF4-FFF2-40B4-BE49-F238E27FC236}">
                <a16:creationId xmlns:a16="http://schemas.microsoft.com/office/drawing/2014/main" id="{55650F97-0477-1406-F1C3-D1EB870863C6}"/>
              </a:ext>
            </a:extLst>
          </p:cNvPr>
          <p:cNvSpPr/>
          <p:nvPr/>
        </p:nvSpPr>
        <p:spPr>
          <a:xfrm>
            <a:off x="8316913" y="3759199"/>
            <a:ext cx="442912" cy="42375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1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236C8A72-73A4-7333-D797-41D518D77DC4}"/>
              </a:ext>
            </a:extLst>
          </p:cNvPr>
          <p:cNvSpPr/>
          <p:nvPr/>
        </p:nvSpPr>
        <p:spPr>
          <a:xfrm>
            <a:off x="3050179" y="4232668"/>
            <a:ext cx="5847230" cy="720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A65F93-0BD6-6B4D-B79A-624402423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33" y="1424849"/>
            <a:ext cx="2779578" cy="43358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8708101"/>
      </p:ext>
    </p:extLst>
  </p:cSld>
  <p:clrMapOvr>
    <a:masterClrMapping/>
  </p:clrMapOvr>
  <p:transition advTm="235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5029-90BE-6F79-04C2-32EBB4D74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5C953AA7-518F-FB42-88C1-A7A2517D9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19"/>
            <a:ext cx="9144000" cy="782269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同步</a:t>
            </a:r>
            <a:r>
              <a:rPr lang="en-US" altLang="zh-CN" dirty="0"/>
              <a:t>FIFO</a:t>
            </a:r>
            <a:r>
              <a:rPr lang="zh-CN" altLang="en-US" dirty="0"/>
              <a:t>仿真文件（</a:t>
            </a:r>
            <a:r>
              <a:rPr lang="en-US" altLang="zh-CN" dirty="0" err="1"/>
              <a:t>tb_syn_fifo</a:t>
            </a:r>
            <a:r>
              <a:rPr lang="zh-CN" altLang="en-US" dirty="0"/>
              <a:t>）</a:t>
            </a:r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AB84F163-13AF-84D3-912B-BF9EEEEE49F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197" name="灯片编号占位符 5">
            <a:extLst>
              <a:ext uri="{FF2B5EF4-FFF2-40B4-BE49-F238E27FC236}">
                <a16:creationId xmlns:a16="http://schemas.microsoft.com/office/drawing/2014/main" id="{9E6E74FB-13B5-F8BA-7094-3221A4752C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10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B4E752-D5EF-F2BA-F663-56592B91F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141878"/>
            <a:ext cx="7118350" cy="4538455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2AA6FC87-905A-4FE0-6C2B-F564F2196096}"/>
              </a:ext>
            </a:extLst>
          </p:cNvPr>
          <p:cNvSpPr/>
          <p:nvPr/>
        </p:nvSpPr>
        <p:spPr>
          <a:xfrm>
            <a:off x="548702" y="1141878"/>
            <a:ext cx="6836348" cy="466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B43FA85-3CAA-D2F2-2A51-BA206BF6A433}"/>
              </a:ext>
            </a:extLst>
          </p:cNvPr>
          <p:cNvSpPr/>
          <p:nvPr/>
        </p:nvSpPr>
        <p:spPr>
          <a:xfrm>
            <a:off x="548702" y="1608714"/>
            <a:ext cx="2416748" cy="40716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81E4A814-D604-4E65-06A8-B0585219D583}"/>
              </a:ext>
            </a:extLst>
          </p:cNvPr>
          <p:cNvSpPr/>
          <p:nvPr/>
        </p:nvSpPr>
        <p:spPr>
          <a:xfrm>
            <a:off x="3033057" y="3524045"/>
            <a:ext cx="859493" cy="85110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3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D28C5DE7-C389-AF12-B6EC-3798CB4CC7B4}"/>
              </a:ext>
            </a:extLst>
          </p:cNvPr>
          <p:cNvSpPr/>
          <p:nvPr/>
        </p:nvSpPr>
        <p:spPr>
          <a:xfrm>
            <a:off x="6253457" y="1726653"/>
            <a:ext cx="890293" cy="81874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2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6E28366-9D47-73C6-9E02-496BE484A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354" y="4096596"/>
            <a:ext cx="4572396" cy="1935648"/>
          </a:xfrm>
          <a:prstGeom prst="rect">
            <a:avLst/>
          </a:prstGeom>
        </p:spPr>
      </p:pic>
      <p:sp>
        <p:nvSpPr>
          <p:cNvPr id="13" name="Rectangle 7">
            <a:extLst>
              <a:ext uri="{FF2B5EF4-FFF2-40B4-BE49-F238E27FC236}">
                <a16:creationId xmlns:a16="http://schemas.microsoft.com/office/drawing/2014/main" id="{E7B225D5-0490-EAD7-B3E3-EE1171543E6A}"/>
              </a:ext>
            </a:extLst>
          </p:cNvPr>
          <p:cNvSpPr/>
          <p:nvPr/>
        </p:nvSpPr>
        <p:spPr>
          <a:xfrm>
            <a:off x="4670760" y="4096596"/>
            <a:ext cx="4250990" cy="1226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Oval 8">
            <a:extLst>
              <a:ext uri="{FF2B5EF4-FFF2-40B4-BE49-F238E27FC236}">
                <a16:creationId xmlns:a16="http://schemas.microsoft.com/office/drawing/2014/main" id="{6DBC9AF1-4AEA-46B7-B92D-3CDCCE9549CE}"/>
              </a:ext>
            </a:extLst>
          </p:cNvPr>
          <p:cNvSpPr/>
          <p:nvPr/>
        </p:nvSpPr>
        <p:spPr>
          <a:xfrm>
            <a:off x="7897799" y="3184153"/>
            <a:ext cx="862026" cy="77804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4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2450942"/>
      </p:ext>
    </p:extLst>
  </p:cSld>
  <p:clrMapOvr>
    <a:masterClrMapping/>
  </p:clrMapOvr>
  <p:transition advTm="235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B7FB-7857-ADEB-473D-CB2A7E760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552B50FD-44D6-B420-0F6E-1323B846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899"/>
            <a:ext cx="9144000" cy="747889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异步</a:t>
            </a:r>
            <a:r>
              <a:rPr lang="en-US" altLang="zh-CN" dirty="0"/>
              <a:t>FIFO</a:t>
            </a:r>
            <a:r>
              <a:rPr lang="zh-CN" altLang="en-US" dirty="0"/>
              <a:t>仿真文件（</a:t>
            </a:r>
            <a:r>
              <a:rPr lang="en-US" altLang="zh-CN" dirty="0" err="1"/>
              <a:t>tb_asy_fifo</a:t>
            </a:r>
            <a:r>
              <a:rPr lang="zh-CN" altLang="en-US" dirty="0"/>
              <a:t>）</a:t>
            </a:r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D4C74F68-DA97-A31A-D042-E4B94C72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197" name="灯片编号占位符 5">
            <a:extLst>
              <a:ext uri="{FF2B5EF4-FFF2-40B4-BE49-F238E27FC236}">
                <a16:creationId xmlns:a16="http://schemas.microsoft.com/office/drawing/2014/main" id="{BFFDBB63-216E-7BFF-6647-22F5930814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11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696291-D07C-B597-19AF-41D186E24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263" y="1434364"/>
            <a:ext cx="6961738" cy="4591785"/>
          </a:xfrm>
          <a:prstGeom prst="rect">
            <a:avLst/>
          </a:prstGeom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894D2063-7A02-5A0F-680D-17145F9CD79D}"/>
              </a:ext>
            </a:extLst>
          </p:cNvPr>
          <p:cNvSpPr/>
          <p:nvPr/>
        </p:nvSpPr>
        <p:spPr>
          <a:xfrm>
            <a:off x="2423160" y="2357271"/>
            <a:ext cx="2286000" cy="14654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CEE2729B-83BB-671A-8B09-53C9D7E3AC0D}"/>
              </a:ext>
            </a:extLst>
          </p:cNvPr>
          <p:cNvSpPr/>
          <p:nvPr/>
        </p:nvSpPr>
        <p:spPr>
          <a:xfrm>
            <a:off x="4839144" y="2617700"/>
            <a:ext cx="588692" cy="58477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</a:rPr>
              <a:t>1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33C784B-7662-D334-45A5-54B28EF81B78}"/>
              </a:ext>
            </a:extLst>
          </p:cNvPr>
          <p:cNvSpPr/>
          <p:nvPr/>
        </p:nvSpPr>
        <p:spPr>
          <a:xfrm>
            <a:off x="50800" y="1004248"/>
            <a:ext cx="3599323" cy="3454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注意：</a:t>
            </a:r>
            <a:r>
              <a:rPr lang="en-US" altLang="zh-CN" b="1" dirty="0">
                <a:solidFill>
                  <a:srgbClr val="C00000"/>
                </a:solidFill>
              </a:rPr>
              <a:t>ADDR_WIDTH = 5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220F4EB-3344-834D-B023-9764EE292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22" y="1434364"/>
            <a:ext cx="2184913" cy="44946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5159601"/>
      </p:ext>
    </p:extLst>
  </p:cSld>
  <p:clrMapOvr>
    <a:masterClrMapping/>
  </p:clrMapOvr>
  <p:transition advTm="235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6FBC-5B70-483C-98DE-A73CDE974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A2A65520-5DA6-3725-74F2-0E0B0546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0"/>
            <a:ext cx="9144000" cy="766268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异步</a:t>
            </a:r>
            <a:r>
              <a:rPr lang="en-US" altLang="zh-CN" dirty="0"/>
              <a:t>FIFO</a:t>
            </a:r>
            <a:r>
              <a:rPr lang="zh-CN" altLang="en-US" dirty="0"/>
              <a:t>仿真文件（</a:t>
            </a:r>
            <a:r>
              <a:rPr lang="en-US" altLang="zh-CN" dirty="0" err="1"/>
              <a:t>tb_asy_fifo</a:t>
            </a:r>
            <a:r>
              <a:rPr lang="zh-CN" altLang="en-US" dirty="0"/>
              <a:t>）</a:t>
            </a:r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801B93BB-40A4-F251-82D5-956E9223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 dirty="0">
              <a:solidFill>
                <a:srgbClr val="0A419B"/>
              </a:solidFill>
            </a:endParaRPr>
          </a:p>
        </p:txBody>
      </p:sp>
      <p:sp>
        <p:nvSpPr>
          <p:cNvPr id="8197" name="灯片编号占位符 5">
            <a:extLst>
              <a:ext uri="{FF2B5EF4-FFF2-40B4-BE49-F238E27FC236}">
                <a16:creationId xmlns:a16="http://schemas.microsoft.com/office/drawing/2014/main" id="{ED2D40D6-1E49-D1E5-2E6F-66E3BB8D86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12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009562-C19F-645D-6221-96900823C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82" y="1103665"/>
            <a:ext cx="7656718" cy="492269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4D9A7D8-B6B6-30FD-9E2A-71D8B7EEA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211" y="3176039"/>
            <a:ext cx="3993307" cy="28503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7256155"/>
      </p:ext>
    </p:extLst>
  </p:cSld>
  <p:clrMapOvr>
    <a:masterClrMapping/>
  </p:clrMapOvr>
  <p:transition advTm="235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0" y="55140"/>
            <a:ext cx="9144000" cy="784648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仿真波形</a:t>
            </a:r>
          </a:p>
        </p:txBody>
      </p:sp>
      <p:sp>
        <p:nvSpPr>
          <p:cNvPr id="819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 smtClean="0">
                <a:solidFill>
                  <a:srgbClr val="0A419B"/>
                </a:solidFill>
              </a:rPr>
              <a:t>2025/9/12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13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100" y="1089690"/>
            <a:ext cx="9055100" cy="3442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</a:pPr>
            <a:endParaRPr lang="en-US" altLang="zh-CN" sz="2400" dirty="0">
              <a:solidFill>
                <a:srgbClr val="00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indent="-342900">
              <a:lnSpc>
                <a:spcPts val="33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>
              <a:lnSpc>
                <a:spcPts val="3300"/>
              </a:lnSpc>
            </a:pPr>
            <a:endParaRPr lang="en-US" altLang="zh-CN" sz="2400" dirty="0">
              <a:solidFill>
                <a:srgbClr val="000000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473C0A-C088-047E-B51A-94B1E300DF09}"/>
              </a:ext>
            </a:extLst>
          </p:cNvPr>
          <p:cNvSpPr txBox="1"/>
          <p:nvPr/>
        </p:nvSpPr>
        <p:spPr>
          <a:xfrm>
            <a:off x="50800" y="1008893"/>
            <a:ext cx="3379620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3.1.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syn_fifo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D6697D-D7E3-7DD7-8E40-A2AD0DA51A11}"/>
              </a:ext>
            </a:extLst>
          </p:cNvPr>
          <p:cNvSpPr txBox="1"/>
          <p:nvPr/>
        </p:nvSpPr>
        <p:spPr>
          <a:xfrm>
            <a:off x="63060" y="3339733"/>
            <a:ext cx="3710866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3.2.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asy_fifo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80017E-3B23-9B3B-ADCD-D65F6BD024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281" t="12389" r="13371" b="50676"/>
          <a:stretch>
            <a:fillRect/>
          </a:stretch>
        </p:blipFill>
        <p:spPr>
          <a:xfrm>
            <a:off x="63060" y="3801398"/>
            <a:ext cx="6627395" cy="21865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DDC05A-9366-BCBE-4FFF-5DD3741315B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281" t="11494" r="10947" b="57416"/>
          <a:stretch>
            <a:fillRect/>
          </a:stretch>
        </p:blipFill>
        <p:spPr>
          <a:xfrm>
            <a:off x="50800" y="1470557"/>
            <a:ext cx="6639655" cy="172236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235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8022714-9d48-46de-814f-c7a89ffeb037"/>
  <p:tag name="COMMONDATA" val="eyJoZGlkIjoiOWFlMjAwYmU5M2NhOWVhZjBjYjE4ZjY1YTJkMTFkY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525</Words>
  <Application>Microsoft Macintosh PowerPoint</Application>
  <PresentationFormat>全屏显示(4:3)</PresentationFormat>
  <Paragraphs>149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宋体</vt:lpstr>
      <vt:lpstr>微软雅黑</vt:lpstr>
      <vt:lpstr>Arial</vt:lpstr>
      <vt:lpstr>Calibri</vt:lpstr>
      <vt:lpstr>Impact</vt:lpstr>
      <vt:lpstr>1_自定义设计方案</vt:lpstr>
      <vt:lpstr>PowerPoint 演示文稿</vt:lpstr>
      <vt:lpstr>实验总览</vt:lpstr>
      <vt:lpstr>同步异步FIFO设计实验</vt:lpstr>
      <vt:lpstr>同步FIFO（syn_fifo）</vt:lpstr>
      <vt:lpstr>同步FIFO（syn_fifo）</vt:lpstr>
      <vt:lpstr>异步FIFO（asy_fifo）</vt:lpstr>
      <vt:lpstr>异步FIFO（asy_fifo）</vt:lpstr>
      <vt:lpstr>异步FIFO（asy_fifo）</vt:lpstr>
      <vt:lpstr>仿真文件（tb）</vt:lpstr>
      <vt:lpstr>同步FIFO仿真文件（tb_syn_fifo）</vt:lpstr>
      <vt:lpstr>同步FIFO仿真文件（tb_syn_fifo）</vt:lpstr>
      <vt:lpstr>异步FIFO仿真文件（tb_asy_fifo）</vt:lpstr>
      <vt:lpstr>异步FIFO仿真文件（tb_asy_fifo）</vt:lpstr>
      <vt:lpstr>仿真波形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markshaw</dc:creator>
  <cp:lastModifiedBy>Shanshan Liu</cp:lastModifiedBy>
  <cp:revision>502</cp:revision>
  <cp:lastPrinted>2113-01-01T00:00:00Z</cp:lastPrinted>
  <dcterms:created xsi:type="dcterms:W3CDTF">2113-01-01T00:00:00Z</dcterms:created>
  <dcterms:modified xsi:type="dcterms:W3CDTF">2025-09-12T15:20:43Z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Presentation">
    <vt:lpwstr>广东电网公司清远清城供电局 PPT模板  封面</vt:lpwstr>
  </property>
  <property fmtid="{D5CDD505-2E9C-101B-9397-08002B2CF9AE}" pid="4" name="SlideDescription">
    <vt:lpwstr/>
  </property>
  <property fmtid="{D5CDD505-2E9C-101B-9397-08002B2CF9AE}" pid="5" name="ICV">
    <vt:lpwstr>5BEF0E0BAA06455786554149BE29711A_12</vt:lpwstr>
  </property>
  <property fmtid="{D5CDD505-2E9C-101B-9397-08002B2CF9AE}" pid="6" name="KSOProductBuildVer">
    <vt:lpwstr>2052-11.1.0.14309</vt:lpwstr>
  </property>
</Properties>
</file>