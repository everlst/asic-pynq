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1071" r:id="rId2"/>
    <p:sldId id="1526" r:id="rId3"/>
    <p:sldId id="1072" r:id="rId4"/>
    <p:sldId id="1047" r:id="rId5"/>
    <p:sldId id="1046" r:id="rId6"/>
    <p:sldId id="1092" r:id="rId7"/>
    <p:sldId id="1080" r:id="rId8"/>
    <p:sldId id="1083" r:id="rId9"/>
    <p:sldId id="1093" r:id="rId10"/>
    <p:sldId id="1074" r:id="rId11"/>
    <p:sldId id="1049" r:id="rId12"/>
    <p:sldId id="1527" r:id="rId13"/>
    <p:sldId id="1088" r:id="rId14"/>
    <p:sldId id="1094" r:id="rId15"/>
    <p:sldId id="1095" r:id="rId16"/>
    <p:sldId id="1096" r:id="rId17"/>
    <p:sldId id="1097" r:id="rId18"/>
    <p:sldId id="1087" r:id="rId19"/>
    <p:sldId id="1098" r:id="rId20"/>
    <p:sldId id="1099" r:id="rId21"/>
    <p:sldId id="1109" r:id="rId22"/>
    <p:sldId id="1100" r:id="rId23"/>
    <p:sldId id="1101" r:id="rId24"/>
    <p:sldId id="1102" r:id="rId25"/>
    <p:sldId id="1103" r:id="rId26"/>
    <p:sldId id="1106" r:id="rId27"/>
    <p:sldId id="1107" r:id="rId28"/>
    <p:sldId id="1528" r:id="rId29"/>
    <p:sldId id="1529" r:id="rId30"/>
    <p:sldId id="1530" r:id="rId31"/>
    <p:sldId id="1091" r:id="rId32"/>
    <p:sldId id="1079" r:id="rId33"/>
    <p:sldId id="1108" r:id="rId34"/>
    <p:sldId id="1052" r:id="rId35"/>
    <p:sldId id="1048" r:id="rId36"/>
    <p:sldId id="107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升旭 王" initials="升王" lastIdx="1" clrIdx="0">
    <p:extLst>
      <p:ext uri="{19B8F6BF-5375-455C-9EA6-DF929625EA0E}">
        <p15:presenceInfo xmlns:p15="http://schemas.microsoft.com/office/powerpoint/2012/main" userId="529c2783bb194f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06"/>
  </p:normalViewPr>
  <p:slideViewPr>
    <p:cSldViewPr snapToGrid="0">
      <p:cViewPr varScale="1">
        <p:scale>
          <a:sx n="77" d="100"/>
          <a:sy n="77" d="100"/>
        </p:scale>
        <p:origin x="7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1T00:08:16.069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C965-6104-493C-B2F7-AF9024DE8198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F13B5-1481-4343-848C-FA958163E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122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186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CA1F1C-93C6-49CD-8A3B-9D921FF5C93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E78DB-D598-441A-8C41-B83B1C96FFB3}" type="datetime1">
              <a:rPr lang="zh-CN" altLang="en-US"/>
              <a:t>2025/9/21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C62BC-DB2A-49EF-95E2-6A8FF8AD668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47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5D866-0C96-4B24-86EC-E89A875CE9D0}" type="datetime1">
              <a:rPr lang="zh-CN" altLang="en-US"/>
              <a:t>2025/9/21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40AC-DCFE-45A7-8879-CACC57DABA6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10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48A6F-EF6D-43C5-879E-E51D28D116D3}" type="datetime1">
              <a:rPr lang="zh-CN" altLang="en-US"/>
              <a:t>2025/9/21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055D0-29A2-478C-A993-069FB039F74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01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F05A0-1103-4E3D-A057-E85C641F7362}" type="datetime1">
              <a:rPr lang="zh-CN" altLang="en-US"/>
              <a:t>2025/9/21</a:t>
            </a:fld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55405-58E2-4673-9538-DD3B9B264C1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7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AF8A3-456C-4E6C-A16D-30794E88C830}" type="datetime1">
              <a:rPr lang="zh-CN" altLang="en-US"/>
              <a:t>2025/9/21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0C269-E132-4BE1-B979-135F4A43B7F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46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295400"/>
            <a:ext cx="10363200" cy="16002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086101"/>
            <a:ext cx="10363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Author(s)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0ACC9-F0AB-4798-9CD7-355D71A425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5029200"/>
            <a:ext cx="10363200" cy="1143000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 dirty="0"/>
              <a:t>Affiliation(s)</a:t>
            </a:r>
          </a:p>
        </p:txBody>
      </p:sp>
    </p:spTree>
    <p:extLst>
      <p:ext uri="{BB962C8B-B14F-4D97-AF65-F5344CB8AC3E}">
        <p14:creationId xmlns:p14="http://schemas.microsoft.com/office/powerpoint/2010/main" val="124108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61B3-B586-4B8F-A9E9-61EA0858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7"/>
            <a:ext cx="10210800" cy="701675"/>
          </a:xfrm>
          <a:prstGeom prst="rect">
            <a:avLst/>
          </a:prstGeom>
        </p:spPr>
        <p:txBody>
          <a:bodyPr/>
          <a:lstStyle>
            <a:lvl1pPr algn="l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ja-JP" dirty="0"/>
              <a:t>Click to edit Master title style</a:t>
            </a:r>
            <a:endParaRPr kumimoji="1" lang="ja-JP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6BD71-65C3-478D-93E8-128C6CB7E2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219200"/>
            <a:ext cx="10515600" cy="4953000"/>
          </a:xfrm>
          <a:prstGeom prst="rect">
            <a:avLst/>
          </a:prstGeom>
        </p:spPr>
        <p:txBody>
          <a:bodyPr/>
          <a:lstStyle>
            <a:lvl1pPr marL="402431" indent="-402431">
              <a:buFont typeface="Wingdings" panose="05000000000000000000" pitchFamily="2" charset="2"/>
              <a:buChar char="n"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75085" indent="-332185">
              <a:buSzPct val="90000"/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2975" indent="-257175">
              <a:buFont typeface="Arial" panose="020B0604020202020204" pitchFamily="34" charset="0"/>
              <a:buChar char="−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en-US" altLang="ja-JP" dirty="0"/>
              <a:t>Click to edit Master text styles</a:t>
            </a:r>
          </a:p>
          <a:p>
            <a:pPr lvl="1"/>
            <a:r>
              <a:rPr kumimoji="1" lang="en-US" altLang="ja-JP" dirty="0"/>
              <a:t>Second level</a:t>
            </a:r>
          </a:p>
          <a:p>
            <a:pPr lvl="2"/>
            <a:r>
              <a:rPr kumimoji="1" lang="en-US" altLang="ja-JP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925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9"/>
            </p:custDataLst>
          </p:nvPr>
        </p:nvSpPr>
        <p:spPr>
          <a:xfrm>
            <a:off x="0" y="6237288"/>
            <a:ext cx="12192000" cy="62071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9080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1144251" y="6357938"/>
            <a:ext cx="480483" cy="360362"/>
          </a:xfrm>
          <a:prstGeom prst="ellipse">
            <a:avLst/>
          </a:prstGeom>
          <a:solidFill>
            <a:srgbClr val="0A4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609601" y="223838"/>
            <a:ext cx="87249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341438"/>
            <a:ext cx="109728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37E52844-4327-4055-A3C8-49C907DEF340}" type="datetime1">
              <a:rPr lang="zh-CN" altLang="en-US"/>
              <a:t>2025/9/21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89218" y="6356351"/>
            <a:ext cx="5905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4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A8957C2-AF6F-4D31-BB8A-D74B12D1140C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33" name="矩形 14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-2117" y="908051"/>
            <a:ext cx="12194117" cy="36513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4" name="矩形 18"/>
          <p:cNvSpPr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-2117" y="6200776"/>
            <a:ext cx="12194117" cy="34925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5" name="页脚占位符 16"/>
          <p:cNvSpPr txBox="1"/>
          <p:nvPr userDrawn="1"/>
        </p:nvSpPr>
        <p:spPr bwMode="auto">
          <a:xfrm>
            <a:off x="4559300" y="6356350"/>
            <a:ext cx="6242051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ASIC Design, by Shanshan Liu</a:t>
            </a:r>
          </a:p>
        </p:txBody>
      </p:sp>
    </p:spTree>
    <p:extLst>
      <p:ext uri="{BB962C8B-B14F-4D97-AF65-F5344CB8AC3E}">
        <p14:creationId xmlns:p14="http://schemas.microsoft.com/office/powerpoint/2010/main" val="159516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zhoutaopower/article/details/105257499" TargetMode="External"/><Relationship Id="rId2" Type="http://schemas.openxmlformats.org/officeDocument/2006/relationships/hyperlink" Target="https://zhuanlan.zhihu.com/p/65269354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060512-E767-4FF5-A776-AD2C42E3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3F05A0-1103-4E3D-A057-E85C641F7362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EEB55A5-9631-489F-93AB-981BA2EE9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255405-58E2-4673-9538-DD3B9B264C11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7B7450-9777-4715-BC2D-A11CDDEB50C7}"/>
              </a:ext>
            </a:extLst>
          </p:cNvPr>
          <p:cNvSpPr txBox="1"/>
          <p:nvPr/>
        </p:nvSpPr>
        <p:spPr>
          <a:xfrm>
            <a:off x="1624012" y="1714275"/>
            <a:ext cx="8943975" cy="269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Lab4</a:t>
            </a:r>
          </a:p>
          <a:p>
            <a:pPr algn="ctr">
              <a:lnSpc>
                <a:spcPct val="150000"/>
              </a:lnSpc>
            </a:pPr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一层网络计算模块</a:t>
            </a:r>
          </a:p>
        </p:txBody>
      </p:sp>
    </p:spTree>
    <p:extLst>
      <p:ext uri="{BB962C8B-B14F-4D97-AF65-F5344CB8AC3E}">
        <p14:creationId xmlns:p14="http://schemas.microsoft.com/office/powerpoint/2010/main" val="58477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303" y="337859"/>
            <a:ext cx="6543675" cy="461963"/>
          </a:xfrm>
        </p:spPr>
        <p:txBody>
          <a:bodyPr/>
          <a:lstStyle/>
          <a:p>
            <a:pPr algn="ctr"/>
            <a:r>
              <a:rPr lang="zh-CN" altLang="en-US" sz="3000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51C4E3-1246-4F92-92D7-2DEA446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809" y="1837524"/>
            <a:ext cx="5673041" cy="318295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FAF61EC8-CCEC-4A7A-A1C0-BECD9BF84AA6}"/>
              </a:ext>
            </a:extLst>
          </p:cNvPr>
          <p:cNvSpPr/>
          <p:nvPr/>
        </p:nvSpPr>
        <p:spPr>
          <a:xfrm>
            <a:off x="6501032" y="2348520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5009E70-65ED-450C-942C-44FC44E4785A}"/>
              </a:ext>
            </a:extLst>
          </p:cNvPr>
          <p:cNvSpPr/>
          <p:nvPr/>
        </p:nvSpPr>
        <p:spPr>
          <a:xfrm>
            <a:off x="4717694" y="3378321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2</a:t>
            </a:r>
            <a:endParaRPr lang="zh-CN" altLang="en-US" sz="16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9741A8E-ED95-44E7-B008-FB44F64C279A}"/>
              </a:ext>
            </a:extLst>
          </p:cNvPr>
          <p:cNvSpPr/>
          <p:nvPr/>
        </p:nvSpPr>
        <p:spPr>
          <a:xfrm>
            <a:off x="3444568" y="3232549"/>
            <a:ext cx="350045" cy="35004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4</a:t>
            </a:r>
            <a:endParaRPr lang="zh-CN" altLang="en-US" sz="16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2F7D292-84DB-4363-A417-1AC5014B8AA8}"/>
              </a:ext>
            </a:extLst>
          </p:cNvPr>
          <p:cNvSpPr/>
          <p:nvPr/>
        </p:nvSpPr>
        <p:spPr>
          <a:xfrm>
            <a:off x="3733714" y="3232548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5</a:t>
            </a:r>
            <a:endParaRPr lang="zh-CN" altLang="en-US" sz="16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60413AA-6C79-476F-BB4D-869CB502C8EA}"/>
              </a:ext>
            </a:extLst>
          </p:cNvPr>
          <p:cNvSpPr/>
          <p:nvPr/>
        </p:nvSpPr>
        <p:spPr>
          <a:xfrm>
            <a:off x="5590096" y="4587310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8</a:t>
            </a:r>
            <a:endParaRPr lang="zh-CN" altLang="en-US" sz="1600" dirty="0"/>
          </a:p>
        </p:txBody>
      </p:sp>
      <p:sp>
        <p:nvSpPr>
          <p:cNvPr id="13" name="îŝ1ïďè">
            <a:extLst>
              <a:ext uri="{FF2B5EF4-FFF2-40B4-BE49-F238E27FC236}">
                <a16:creationId xmlns:a16="http://schemas.microsoft.com/office/drawing/2014/main" id="{417C7FD8-CCC6-4FE5-B535-317862F9C18D}"/>
              </a:ext>
            </a:extLst>
          </p:cNvPr>
          <p:cNvSpPr/>
          <p:nvPr/>
        </p:nvSpPr>
        <p:spPr bwMode="auto">
          <a:xfrm flipH="1">
            <a:off x="7470816" y="1670146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14" name="i$ļîḋé">
            <a:extLst>
              <a:ext uri="{FF2B5EF4-FFF2-40B4-BE49-F238E27FC236}">
                <a16:creationId xmlns:a16="http://schemas.microsoft.com/office/drawing/2014/main" id="{323E9450-CA93-4F0D-B8EC-B7A6631C6345}"/>
              </a:ext>
            </a:extLst>
          </p:cNvPr>
          <p:cNvSpPr txBox="1"/>
          <p:nvPr/>
        </p:nvSpPr>
        <p:spPr>
          <a:xfrm>
            <a:off x="7413666" y="1639367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1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15" name="îŝ1ïďè">
            <a:extLst>
              <a:ext uri="{FF2B5EF4-FFF2-40B4-BE49-F238E27FC236}">
                <a16:creationId xmlns:a16="http://schemas.microsoft.com/office/drawing/2014/main" id="{F30A0383-89BA-4BAE-B005-DBC73EFB6C4F}"/>
              </a:ext>
            </a:extLst>
          </p:cNvPr>
          <p:cNvSpPr/>
          <p:nvPr/>
        </p:nvSpPr>
        <p:spPr bwMode="auto">
          <a:xfrm flipH="1">
            <a:off x="7470816" y="2162428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16" name="i$ļîḋé">
            <a:extLst>
              <a:ext uri="{FF2B5EF4-FFF2-40B4-BE49-F238E27FC236}">
                <a16:creationId xmlns:a16="http://schemas.microsoft.com/office/drawing/2014/main" id="{D2C74195-B219-4F0C-BADD-FC1557B6DB1F}"/>
              </a:ext>
            </a:extLst>
          </p:cNvPr>
          <p:cNvSpPr txBox="1"/>
          <p:nvPr/>
        </p:nvSpPr>
        <p:spPr>
          <a:xfrm>
            <a:off x="7413666" y="2131649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2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17" name="îŝ1ïďè">
            <a:extLst>
              <a:ext uri="{FF2B5EF4-FFF2-40B4-BE49-F238E27FC236}">
                <a16:creationId xmlns:a16="http://schemas.microsoft.com/office/drawing/2014/main" id="{0D4CEF20-0BB1-4F0D-B5F0-BE276DB08E8E}"/>
              </a:ext>
            </a:extLst>
          </p:cNvPr>
          <p:cNvSpPr/>
          <p:nvPr/>
        </p:nvSpPr>
        <p:spPr bwMode="auto">
          <a:xfrm flipH="1">
            <a:off x="7470816" y="2654708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18" name="i$ļîḋé">
            <a:extLst>
              <a:ext uri="{FF2B5EF4-FFF2-40B4-BE49-F238E27FC236}">
                <a16:creationId xmlns:a16="http://schemas.microsoft.com/office/drawing/2014/main" id="{8E217F38-C8AC-48AC-B005-0D307A40269F}"/>
              </a:ext>
            </a:extLst>
          </p:cNvPr>
          <p:cNvSpPr txBox="1"/>
          <p:nvPr/>
        </p:nvSpPr>
        <p:spPr>
          <a:xfrm>
            <a:off x="7413666" y="2623930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5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9" name="îŝ1ïďè">
            <a:extLst>
              <a:ext uri="{FF2B5EF4-FFF2-40B4-BE49-F238E27FC236}">
                <a16:creationId xmlns:a16="http://schemas.microsoft.com/office/drawing/2014/main" id="{86254BC4-8353-49A3-AB2A-12253C356207}"/>
              </a:ext>
            </a:extLst>
          </p:cNvPr>
          <p:cNvSpPr/>
          <p:nvPr/>
        </p:nvSpPr>
        <p:spPr bwMode="auto">
          <a:xfrm flipH="1">
            <a:off x="7468260" y="3146990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0" name="i$ļîḋé">
            <a:extLst>
              <a:ext uri="{FF2B5EF4-FFF2-40B4-BE49-F238E27FC236}">
                <a16:creationId xmlns:a16="http://schemas.microsoft.com/office/drawing/2014/main" id="{CA2DF25B-772E-4721-B889-7077B488FB2C}"/>
              </a:ext>
            </a:extLst>
          </p:cNvPr>
          <p:cNvSpPr txBox="1"/>
          <p:nvPr/>
        </p:nvSpPr>
        <p:spPr>
          <a:xfrm>
            <a:off x="7411110" y="3116210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accent6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1" name="îŝ1ïďè">
            <a:extLst>
              <a:ext uri="{FF2B5EF4-FFF2-40B4-BE49-F238E27FC236}">
                <a16:creationId xmlns:a16="http://schemas.microsoft.com/office/drawing/2014/main" id="{F6A382F7-EF98-4A7F-ADFC-AC31522267EC}"/>
              </a:ext>
            </a:extLst>
          </p:cNvPr>
          <p:cNvSpPr/>
          <p:nvPr/>
        </p:nvSpPr>
        <p:spPr bwMode="auto">
          <a:xfrm flipH="1">
            <a:off x="7468260" y="3639271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2" name="i$ļîḋé">
            <a:extLst>
              <a:ext uri="{FF2B5EF4-FFF2-40B4-BE49-F238E27FC236}">
                <a16:creationId xmlns:a16="http://schemas.microsoft.com/office/drawing/2014/main" id="{4094AB01-E4ED-4059-84B4-9CBD4D8BA440}"/>
              </a:ext>
            </a:extLst>
          </p:cNvPr>
          <p:cNvSpPr txBox="1"/>
          <p:nvPr/>
        </p:nvSpPr>
        <p:spPr>
          <a:xfrm>
            <a:off x="7411110" y="3608492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5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23" name="îŝ1ïďè">
            <a:extLst>
              <a:ext uri="{FF2B5EF4-FFF2-40B4-BE49-F238E27FC236}">
                <a16:creationId xmlns:a16="http://schemas.microsoft.com/office/drawing/2014/main" id="{35C02ED7-1B4A-4D48-B7F0-D14875155395}"/>
              </a:ext>
            </a:extLst>
          </p:cNvPr>
          <p:cNvSpPr/>
          <p:nvPr/>
        </p:nvSpPr>
        <p:spPr bwMode="auto">
          <a:xfrm flipH="1">
            <a:off x="7468260" y="4131553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4" name="i$ļîḋé">
            <a:extLst>
              <a:ext uri="{FF2B5EF4-FFF2-40B4-BE49-F238E27FC236}">
                <a16:creationId xmlns:a16="http://schemas.microsoft.com/office/drawing/2014/main" id="{3A97E3BF-5AF3-434F-BBFF-D221CE61BF76}"/>
              </a:ext>
            </a:extLst>
          </p:cNvPr>
          <p:cNvSpPr txBox="1"/>
          <p:nvPr/>
        </p:nvSpPr>
        <p:spPr>
          <a:xfrm>
            <a:off x="7411110" y="4100774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6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016B268-2AA9-434D-B9C4-157BC9405273}"/>
              </a:ext>
            </a:extLst>
          </p:cNvPr>
          <p:cNvSpPr txBox="1"/>
          <p:nvPr/>
        </p:nvSpPr>
        <p:spPr>
          <a:xfrm>
            <a:off x="7899737" y="1685845"/>
            <a:ext cx="2419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PS-PL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72E9DCD-C010-4251-B11E-BCF50AAD38BC}"/>
              </a:ext>
            </a:extLst>
          </p:cNvPr>
          <p:cNvSpPr txBox="1"/>
          <p:nvPr/>
        </p:nvSpPr>
        <p:spPr>
          <a:xfrm>
            <a:off x="7902109" y="2659743"/>
            <a:ext cx="2769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同步</a:t>
            </a:r>
            <a:r>
              <a:rPr lang="en-US" altLang="zh-CN" dirty="0"/>
              <a:t>/</a:t>
            </a:r>
            <a:r>
              <a:rPr lang="zh-CN" altLang="en-US" dirty="0"/>
              <a:t>异步</a:t>
            </a:r>
            <a:r>
              <a:rPr lang="en-US" altLang="zh-CN" dirty="0"/>
              <a:t>FIFO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3D9C907-E1D6-42E5-BE91-40529D2B77A4}"/>
              </a:ext>
            </a:extLst>
          </p:cNvPr>
          <p:cNvSpPr txBox="1"/>
          <p:nvPr/>
        </p:nvSpPr>
        <p:spPr>
          <a:xfrm>
            <a:off x="7901649" y="3158529"/>
            <a:ext cx="2627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</a:t>
            </a:r>
            <a:r>
              <a:rPr lang="zh-CN" altLang="en-US" dirty="0"/>
              <a:t>层网络计算模块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993AF48-8E5C-41A6-8EE0-EAD2666ADA6A}"/>
              </a:ext>
            </a:extLst>
          </p:cNvPr>
          <p:cNvSpPr txBox="1"/>
          <p:nvPr/>
        </p:nvSpPr>
        <p:spPr>
          <a:xfrm>
            <a:off x="7901649" y="3662532"/>
            <a:ext cx="2627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层网络计算模块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0C937C-7E78-45F0-92FB-A2FD4CF9A66B}"/>
              </a:ext>
            </a:extLst>
          </p:cNvPr>
          <p:cNvSpPr txBox="1"/>
          <p:nvPr/>
        </p:nvSpPr>
        <p:spPr>
          <a:xfrm>
            <a:off x="7889444" y="4656521"/>
            <a:ext cx="2419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实现网络数据流控制等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9DE3211-94EC-44A5-AB4F-377502E7EEA6}"/>
              </a:ext>
            </a:extLst>
          </p:cNvPr>
          <p:cNvSpPr/>
          <p:nvPr/>
        </p:nvSpPr>
        <p:spPr>
          <a:xfrm>
            <a:off x="3617031" y="3973749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6</a:t>
            </a:r>
            <a:endParaRPr lang="zh-CN" altLang="en-US" sz="16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DDCCF9-3974-4870-A989-DBA2A68B17D8}"/>
              </a:ext>
            </a:extLst>
          </p:cNvPr>
          <p:cNvSpPr txBox="1"/>
          <p:nvPr/>
        </p:nvSpPr>
        <p:spPr>
          <a:xfrm>
            <a:off x="7899295" y="4154635"/>
            <a:ext cx="3189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数据截位方式对网络结果的影响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20D858A-EAE1-4F30-8199-2E02DADBAECE}"/>
              </a:ext>
            </a:extLst>
          </p:cNvPr>
          <p:cNvSpPr/>
          <p:nvPr/>
        </p:nvSpPr>
        <p:spPr>
          <a:xfrm>
            <a:off x="2784670" y="3582593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7</a:t>
            </a:r>
            <a:endParaRPr lang="zh-CN" altLang="en-US" sz="1600" dirty="0"/>
          </a:p>
        </p:txBody>
      </p:sp>
      <p:sp>
        <p:nvSpPr>
          <p:cNvPr id="36" name="îŝ1ïďè">
            <a:extLst>
              <a:ext uri="{FF2B5EF4-FFF2-40B4-BE49-F238E27FC236}">
                <a16:creationId xmlns:a16="http://schemas.microsoft.com/office/drawing/2014/main" id="{7BAE189C-4A30-40B8-A8C0-9FAA120A9FD8}"/>
              </a:ext>
            </a:extLst>
          </p:cNvPr>
          <p:cNvSpPr/>
          <p:nvPr/>
        </p:nvSpPr>
        <p:spPr bwMode="auto">
          <a:xfrm flipH="1">
            <a:off x="7468260" y="4623833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37" name="i$ļîḋé">
            <a:extLst>
              <a:ext uri="{FF2B5EF4-FFF2-40B4-BE49-F238E27FC236}">
                <a16:creationId xmlns:a16="http://schemas.microsoft.com/office/drawing/2014/main" id="{EB810ADF-6DE6-4F0A-A4C6-3D891F99CC85}"/>
              </a:ext>
            </a:extLst>
          </p:cNvPr>
          <p:cNvSpPr txBox="1"/>
          <p:nvPr/>
        </p:nvSpPr>
        <p:spPr>
          <a:xfrm>
            <a:off x="7411110" y="4593055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7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50E798A-A6E1-47D0-9F34-FB740B4A8822}"/>
              </a:ext>
            </a:extLst>
          </p:cNvPr>
          <p:cNvSpPr txBox="1"/>
          <p:nvPr/>
        </p:nvSpPr>
        <p:spPr>
          <a:xfrm>
            <a:off x="7904411" y="5150833"/>
            <a:ext cx="2419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系统整合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490299A7-E6D9-5D44-B542-1F78C559AAC0}"/>
              </a:ext>
            </a:extLst>
          </p:cNvPr>
          <p:cNvSpPr/>
          <p:nvPr/>
        </p:nvSpPr>
        <p:spPr>
          <a:xfrm>
            <a:off x="4717694" y="3666443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41" name="îŝ1ïďè">
            <a:extLst>
              <a:ext uri="{FF2B5EF4-FFF2-40B4-BE49-F238E27FC236}">
                <a16:creationId xmlns:a16="http://schemas.microsoft.com/office/drawing/2014/main" id="{B00D667A-5407-4F47-970B-C1ECE085AD41}"/>
              </a:ext>
            </a:extLst>
          </p:cNvPr>
          <p:cNvSpPr/>
          <p:nvPr/>
        </p:nvSpPr>
        <p:spPr bwMode="auto">
          <a:xfrm flipH="1">
            <a:off x="7468260" y="5105064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42" name="i$ļîḋé">
            <a:extLst>
              <a:ext uri="{FF2B5EF4-FFF2-40B4-BE49-F238E27FC236}">
                <a16:creationId xmlns:a16="http://schemas.microsoft.com/office/drawing/2014/main" id="{0904133D-C1CE-094E-97FD-137C921414B7}"/>
              </a:ext>
            </a:extLst>
          </p:cNvPr>
          <p:cNvSpPr txBox="1"/>
          <p:nvPr/>
        </p:nvSpPr>
        <p:spPr>
          <a:xfrm>
            <a:off x="7411110" y="5074286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8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4A9A546-EB80-F94E-95B8-5B3E553F52A9}"/>
              </a:ext>
            </a:extLst>
          </p:cNvPr>
          <p:cNvSpPr txBox="1"/>
          <p:nvPr/>
        </p:nvSpPr>
        <p:spPr>
          <a:xfrm>
            <a:off x="7899735" y="2178035"/>
            <a:ext cx="2719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Verilog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基础：逻辑单元设计</a:t>
            </a:r>
          </a:p>
        </p:txBody>
      </p:sp>
    </p:spTree>
    <p:extLst>
      <p:ext uri="{BB962C8B-B14F-4D97-AF65-F5344CB8AC3E}">
        <p14:creationId xmlns:p14="http://schemas.microsoft.com/office/powerpoint/2010/main" val="3419627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6D3EE-D4B0-8DBB-518D-3BBC0E53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5A68E2-0239-2E00-D302-2AC2D7D2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E093D4-B383-CE5C-BF82-3204737B0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20D8CE-BE64-A5F5-526B-BCAC7BD0F8D3}"/>
              </a:ext>
            </a:extLst>
          </p:cNvPr>
          <p:cNvSpPr txBox="1"/>
          <p:nvPr/>
        </p:nvSpPr>
        <p:spPr>
          <a:xfrm>
            <a:off x="609600" y="1384126"/>
            <a:ext cx="9949841" cy="4890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实验介绍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全连接层原理介绍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模块设计提示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实验任务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验收方式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提供资料解释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085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BB525-1270-459A-B0B5-DC6D732C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43C0A-6F64-4716-89A5-76B26DB02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150" y="1012152"/>
            <a:ext cx="10972167" cy="11660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实验内容：设计一层全连接计算模块，进行仿真测试，完成实验报告对应部分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一层全连接层参数：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A6976-08CC-42FB-A072-ED6AC6F2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2149BE-4F92-48B6-AAA8-F278F1C18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E5790F-8AB0-4EF4-BCC7-207475F2C6EB}"/>
              </a:ext>
            </a:extLst>
          </p:cNvPr>
          <p:cNvSpPr txBox="1"/>
          <p:nvPr/>
        </p:nvSpPr>
        <p:spPr>
          <a:xfrm>
            <a:off x="2377580" y="3564583"/>
            <a:ext cx="901563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通道，输出为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激活函数为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输出数据不需要做截位处理（可将其设为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输入样本数据、权重、偏置均为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位有符号数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1873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1524000" y="198549"/>
            <a:ext cx="9144000" cy="615950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全连接层计算原理</a:t>
            </a:r>
          </a:p>
        </p:txBody>
      </p:sp>
      <p:sp>
        <p:nvSpPr>
          <p:cNvPr id="819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19832871-3CF0-4CDF-B9D2-699991AEFBC2}" type="datetime1">
              <a:rPr lang="zh-CN" altLang="en-US" sz="140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2025/9/21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9201FF-C827-0F1B-E1E5-AA804811C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09195"/>
            <a:ext cx="2139093" cy="238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25F3498-F0D1-09ED-9C6B-1A138B33CC2B}"/>
              </a:ext>
            </a:extLst>
          </p:cNvPr>
          <p:cNvSpPr/>
          <p:nvPr/>
        </p:nvSpPr>
        <p:spPr>
          <a:xfrm>
            <a:off x="455047" y="3675330"/>
            <a:ext cx="10929445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全连接层计算为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矩阵乘法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（一维输入*权重矩阵）与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乘法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：权重矩阵形状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output_channel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input_channel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，上图所示网络的权重形状为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(3, 3)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，将每个输入值与该行权重对应相乘，即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：矩阵乘法结果累加，再加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（每个输出一个）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FF85DCE-3C27-F21E-8C0E-0A52E6732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844" y="1251126"/>
            <a:ext cx="6963560" cy="201437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23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BCDFB-5076-4366-B86D-E1A89264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149225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08EAE6-5CDA-4A4C-8DA1-488F32FFD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076" y="1552575"/>
            <a:ext cx="6172200" cy="397351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系统结构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数据流</a:t>
            </a:r>
            <a:endParaRPr lang="en-US" altLang="zh-CN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各子模块的功能、运算流程、设置方式等等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2C3EA-F1B4-455E-A689-A3D9B709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C3AEB-F6D8-44D9-9880-81B2A2CDEE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4509BFD6-B49E-4FD1-BA80-5CF69E4076F6}"/>
              </a:ext>
            </a:extLst>
          </p:cNvPr>
          <p:cNvSpPr/>
          <p:nvPr/>
        </p:nvSpPr>
        <p:spPr>
          <a:xfrm>
            <a:off x="9001125" y="1552575"/>
            <a:ext cx="1371600" cy="41719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083E8D-87DA-4D7A-8FB9-4E39D3D6AAF8}"/>
              </a:ext>
            </a:extLst>
          </p:cNvPr>
          <p:cNvSpPr txBox="1"/>
          <p:nvPr/>
        </p:nvSpPr>
        <p:spPr>
          <a:xfrm>
            <a:off x="10734676" y="2295525"/>
            <a:ext cx="4381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</a:t>
            </a:r>
            <a:endParaRPr lang="en-US" altLang="zh-CN" sz="3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</a:t>
            </a:r>
            <a:endParaRPr lang="en-US" altLang="zh-CN" sz="3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endParaRPr lang="en-US" altLang="zh-CN" sz="3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</a:p>
        </p:txBody>
      </p:sp>
    </p:spTree>
    <p:extLst>
      <p:ext uri="{BB962C8B-B14F-4D97-AF65-F5344CB8AC3E}">
        <p14:creationId xmlns:p14="http://schemas.microsoft.com/office/powerpoint/2010/main" val="94797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7AD019-9CEF-4771-8168-28D136A6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223838"/>
            <a:ext cx="5333999" cy="615950"/>
          </a:xfrm>
        </p:spPr>
        <p:txBody>
          <a:bodyPr/>
          <a:lstStyle/>
          <a:p>
            <a:r>
              <a:rPr lang="zh-CN" altLang="en-US" dirty="0"/>
              <a:t>模块设计提示</a:t>
            </a:r>
            <a:r>
              <a:rPr lang="en-US" altLang="zh-CN" dirty="0"/>
              <a:t>——</a:t>
            </a:r>
            <a:r>
              <a:rPr lang="zh-CN" altLang="en-US" dirty="0"/>
              <a:t>系统结构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AA84B6-D023-4222-970E-BE918C3C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E2E39E-A8F5-489E-B2B3-FE5D4F2AA6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33D157-B465-4A0E-9D02-CC3F8E65239B}"/>
              </a:ext>
            </a:extLst>
          </p:cNvPr>
          <p:cNvSpPr/>
          <p:nvPr/>
        </p:nvSpPr>
        <p:spPr>
          <a:xfrm>
            <a:off x="2170906" y="1470143"/>
            <a:ext cx="7850188" cy="3917713"/>
          </a:xfrm>
          <a:prstGeom prst="rect">
            <a:avLst/>
          </a:prstGeom>
          <a:solidFill>
            <a:srgbClr val="CCC2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9C3CB6-F829-490D-ADE2-382437DBDB09}"/>
              </a:ext>
            </a:extLst>
          </p:cNvPr>
          <p:cNvSpPr/>
          <p:nvPr/>
        </p:nvSpPr>
        <p:spPr>
          <a:xfrm>
            <a:off x="7636391" y="1777636"/>
            <a:ext cx="2161726" cy="702696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fc_input_ram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653E32-96C7-4282-A8AD-63E6BDEE5E88}"/>
              </a:ext>
            </a:extLst>
          </p:cNvPr>
          <p:cNvSpPr/>
          <p:nvPr/>
        </p:nvSpPr>
        <p:spPr>
          <a:xfrm>
            <a:off x="5106849" y="2829363"/>
            <a:ext cx="1942651" cy="814973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52A642-A990-4AE4-BC69-1D13A887B19F}"/>
              </a:ext>
            </a:extLst>
          </p:cNvPr>
          <p:cNvSpPr txBox="1"/>
          <p:nvPr/>
        </p:nvSpPr>
        <p:spPr>
          <a:xfrm>
            <a:off x="2358232" y="4857750"/>
            <a:ext cx="1104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fc_top</a:t>
            </a:r>
            <a:endParaRPr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01BE1D-D0BC-4B50-955E-24A879F9C760}"/>
              </a:ext>
            </a:extLst>
          </p:cNvPr>
          <p:cNvSpPr/>
          <p:nvPr/>
        </p:nvSpPr>
        <p:spPr>
          <a:xfrm>
            <a:off x="7636391" y="2989055"/>
            <a:ext cx="2161726" cy="586757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fc_weight_ram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A2A363-FBEA-4252-A3D9-A637FD1B22EC}"/>
              </a:ext>
            </a:extLst>
          </p:cNvPr>
          <p:cNvSpPr/>
          <p:nvPr/>
        </p:nvSpPr>
        <p:spPr>
          <a:xfrm>
            <a:off x="7636391" y="4084535"/>
            <a:ext cx="2161726" cy="586758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fc_bias_ram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E58792-D070-403D-960A-56B84CFE352E}"/>
              </a:ext>
            </a:extLst>
          </p:cNvPr>
          <p:cNvSpPr/>
          <p:nvPr/>
        </p:nvSpPr>
        <p:spPr>
          <a:xfrm>
            <a:off x="2358232" y="2829363"/>
            <a:ext cx="2161726" cy="814973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fc_output_ram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C764EC-4646-47D3-AACA-E856346F5FF8}"/>
              </a:ext>
            </a:extLst>
          </p:cNvPr>
          <p:cNvSpPr/>
          <p:nvPr/>
        </p:nvSpPr>
        <p:spPr>
          <a:xfrm>
            <a:off x="5069905" y="4501824"/>
            <a:ext cx="2052189" cy="586758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mult_array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上下 13">
            <a:extLst>
              <a:ext uri="{FF2B5EF4-FFF2-40B4-BE49-F238E27FC236}">
                <a16:creationId xmlns:a16="http://schemas.microsoft.com/office/drawing/2014/main" id="{000EDBC3-E923-49E4-A46B-5A745953C8AF}"/>
              </a:ext>
            </a:extLst>
          </p:cNvPr>
          <p:cNvSpPr/>
          <p:nvPr/>
        </p:nvSpPr>
        <p:spPr>
          <a:xfrm>
            <a:off x="5967775" y="3686397"/>
            <a:ext cx="267130" cy="773366"/>
          </a:xfrm>
          <a:prstGeom prst="up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85A70446-372F-4210-A053-C1BF7515EF10}"/>
              </a:ext>
            </a:extLst>
          </p:cNvPr>
          <p:cNvSpPr/>
          <p:nvPr/>
        </p:nvSpPr>
        <p:spPr>
          <a:xfrm>
            <a:off x="4519958" y="3124200"/>
            <a:ext cx="549947" cy="219075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CC3D211E-D732-4F44-B82C-560515232FCA}"/>
              </a:ext>
            </a:extLst>
          </p:cNvPr>
          <p:cNvSpPr/>
          <p:nvPr/>
        </p:nvSpPr>
        <p:spPr>
          <a:xfrm rot="20273488">
            <a:off x="7043794" y="2498836"/>
            <a:ext cx="549947" cy="219075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1B772475-9DC9-4B64-A1C5-F129EF81A7E2}"/>
              </a:ext>
            </a:extLst>
          </p:cNvPr>
          <p:cNvSpPr/>
          <p:nvPr/>
        </p:nvSpPr>
        <p:spPr>
          <a:xfrm>
            <a:off x="7086444" y="3181885"/>
            <a:ext cx="507296" cy="201095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左 18">
            <a:extLst>
              <a:ext uri="{FF2B5EF4-FFF2-40B4-BE49-F238E27FC236}">
                <a16:creationId xmlns:a16="http://schemas.microsoft.com/office/drawing/2014/main" id="{EACA9200-55D4-495D-9A5B-ECFF725717AC}"/>
              </a:ext>
            </a:extLst>
          </p:cNvPr>
          <p:cNvSpPr/>
          <p:nvPr/>
        </p:nvSpPr>
        <p:spPr>
          <a:xfrm rot="1818496">
            <a:off x="7068749" y="3764869"/>
            <a:ext cx="549947" cy="219075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591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7AD019-9CEF-4771-8168-28D136A6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788" y="223838"/>
            <a:ext cx="5686424" cy="615950"/>
          </a:xfrm>
        </p:spPr>
        <p:txBody>
          <a:bodyPr/>
          <a:lstStyle/>
          <a:p>
            <a:r>
              <a:rPr lang="zh-CN" altLang="en-US" dirty="0"/>
              <a:t>模块设计提示</a:t>
            </a:r>
            <a:r>
              <a:rPr lang="en-US" altLang="zh-CN" dirty="0"/>
              <a:t>——</a:t>
            </a:r>
            <a:r>
              <a:rPr lang="zh-CN" altLang="en-US" dirty="0"/>
              <a:t>数据流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AA84B6-D023-4222-970E-BE918C3C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E2E39E-A8F5-489E-B2B3-FE5D4F2AA6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238795-AE15-49D2-AD1F-14E705F79F92}"/>
              </a:ext>
            </a:extLst>
          </p:cNvPr>
          <p:cNvSpPr txBox="1"/>
          <p:nvPr/>
        </p:nvSpPr>
        <p:spPr>
          <a:xfrm>
            <a:off x="5691433" y="1112645"/>
            <a:ext cx="6348413" cy="610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模块计算输入数据、权重、偏置的地址，将其提供给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，用于获取数据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模块整理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读回的数据，提供给乘法器模块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mult_array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模块对得到的乘法运算结果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模块分组求和，加上偏置，计算激活值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模块构造输出地址，将得到的最终结果写入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5EF1F10-E3DE-41EA-8717-DBD171994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041819"/>
            <a:ext cx="5464138" cy="277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13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E00C7-6E73-4E77-8A88-2216CB75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988" y="193673"/>
            <a:ext cx="4772024" cy="615950"/>
          </a:xfrm>
        </p:spPr>
        <p:txBody>
          <a:bodyPr/>
          <a:lstStyle/>
          <a:p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3C38E2-1BC1-4FE0-B784-715B095C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5370E9-71DE-45E1-94E4-0DDD0D7318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4A265F-36BD-49FE-B8A9-F74890BA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041819"/>
            <a:ext cx="5464138" cy="2774361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546C787D-3ABC-42DD-9ACF-4EF68C54350D}"/>
              </a:ext>
            </a:extLst>
          </p:cNvPr>
          <p:cNvSpPr/>
          <p:nvPr/>
        </p:nvSpPr>
        <p:spPr>
          <a:xfrm>
            <a:off x="2032000" y="2724150"/>
            <a:ext cx="1587500" cy="1085850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B0EC18-EC16-4007-A608-D6506EEB4F81}"/>
              </a:ext>
            </a:extLst>
          </p:cNvPr>
          <p:cNvSpPr txBox="1"/>
          <p:nvPr/>
        </p:nvSpPr>
        <p:spPr>
          <a:xfrm>
            <a:off x="5905208" y="2019132"/>
            <a:ext cx="5479284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个输入通道，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个输出通道，每个输出通道对应一个偏置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激活函数为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输出数据不需要做截位处理（可将其设为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988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1E756-0540-8EA3-90A6-FEFAB72F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3838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模块计算方式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96F670-DA47-661E-C941-61FFFA33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C40904-9CBF-7C91-735F-917009239E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D1C110-53E8-40A7-9C5E-47049A4269FE}"/>
              </a:ext>
            </a:extLst>
          </p:cNvPr>
          <p:cNvSpPr txBox="1"/>
          <p:nvPr/>
        </p:nvSpPr>
        <p:spPr>
          <a:xfrm>
            <a:off x="467060" y="1320654"/>
            <a:ext cx="4956277" cy="436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每次读取一个输出通道对应的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个权重，同时进行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次乘法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512/128=4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次可以得到一个输出通道的激活值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重复上述操作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次便可以得到所有输出通道的激活值（一共两个循环）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9F931CD3-B6DC-426A-8B56-7021CE0CBED7}"/>
              </a:ext>
            </a:extLst>
          </p:cNvPr>
          <p:cNvSpPr/>
          <p:nvPr/>
        </p:nvSpPr>
        <p:spPr>
          <a:xfrm>
            <a:off x="5191124" y="3305218"/>
            <a:ext cx="1809752" cy="489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DC255BCE-CE84-46AA-B661-3A6BBD7C40AC}"/>
              </a:ext>
            </a:extLst>
          </p:cNvPr>
          <p:cNvSpPr/>
          <p:nvPr/>
        </p:nvSpPr>
        <p:spPr>
          <a:xfrm>
            <a:off x="5191124" y="4565686"/>
            <a:ext cx="1809752" cy="489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852986-1543-4E2F-8F4C-AD15BD3C95FD}"/>
              </a:ext>
            </a:extLst>
          </p:cNvPr>
          <p:cNvSpPr txBox="1"/>
          <p:nvPr/>
        </p:nvSpPr>
        <p:spPr>
          <a:xfrm>
            <a:off x="7515225" y="3305218"/>
            <a:ext cx="1809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group_idx</a:t>
            </a:r>
            <a:endParaRPr lang="zh-CN" altLang="en-US" sz="2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31D328-2D81-49FE-86D4-5A97D4FD3273}"/>
              </a:ext>
            </a:extLst>
          </p:cNvPr>
          <p:cNvSpPr txBox="1"/>
          <p:nvPr/>
        </p:nvSpPr>
        <p:spPr>
          <a:xfrm>
            <a:off x="7515225" y="4625976"/>
            <a:ext cx="1809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out_channel</a:t>
            </a:r>
            <a:endParaRPr lang="zh-CN" altLang="en-US" sz="2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99117B-B074-4D95-8BA1-63CC0A86F924}"/>
              </a:ext>
            </a:extLst>
          </p:cNvPr>
          <p:cNvSpPr txBox="1"/>
          <p:nvPr/>
        </p:nvSpPr>
        <p:spPr>
          <a:xfrm>
            <a:off x="7419977" y="5485069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提供代码中的对应参数</a:t>
            </a:r>
          </a:p>
        </p:txBody>
      </p:sp>
    </p:spTree>
    <p:extLst>
      <p:ext uri="{BB962C8B-B14F-4D97-AF65-F5344CB8AC3E}">
        <p14:creationId xmlns:p14="http://schemas.microsoft.com/office/powerpoint/2010/main" val="322029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507B3-DD0B-482E-AEBD-59F6764A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19566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模块架构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C0A323-2A9B-4EC0-9B91-023CC84C7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0050C3-3BBA-408D-8CDE-E1A87395E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5698A3-0A88-4C92-B043-B94837AA2B6E}"/>
              </a:ext>
            </a:extLst>
          </p:cNvPr>
          <p:cNvSpPr/>
          <p:nvPr/>
        </p:nvSpPr>
        <p:spPr>
          <a:xfrm>
            <a:off x="1899819" y="1049668"/>
            <a:ext cx="7850188" cy="3917713"/>
          </a:xfrm>
          <a:prstGeom prst="rect">
            <a:avLst/>
          </a:prstGeom>
          <a:solidFill>
            <a:srgbClr val="CCC2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5EA6808-7A0A-4B73-9AAA-A32C5B4DF9D4}"/>
              </a:ext>
            </a:extLst>
          </p:cNvPr>
          <p:cNvCxnSpPr/>
          <p:nvPr/>
        </p:nvCxnSpPr>
        <p:spPr>
          <a:xfrm>
            <a:off x="990378" y="1506792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06A2E54-43E8-4CB6-8318-2023094B5156}"/>
              </a:ext>
            </a:extLst>
          </p:cNvPr>
          <p:cNvSpPr txBox="1"/>
          <p:nvPr/>
        </p:nvSpPr>
        <p:spPr>
          <a:xfrm>
            <a:off x="1114203" y="1186157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clk_i</a:t>
            </a:r>
            <a:endParaRPr lang="zh-CN" altLang="en-US" b="1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0009B9E-530C-4585-9BE4-A24ED795844F}"/>
              </a:ext>
            </a:extLst>
          </p:cNvPr>
          <p:cNvCxnSpPr/>
          <p:nvPr/>
        </p:nvCxnSpPr>
        <p:spPr>
          <a:xfrm>
            <a:off x="990378" y="1876124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D146712-C21C-49C1-9DA8-0340FA92D382}"/>
              </a:ext>
            </a:extLst>
          </p:cNvPr>
          <p:cNvSpPr txBox="1"/>
          <p:nvPr/>
        </p:nvSpPr>
        <p:spPr>
          <a:xfrm>
            <a:off x="1052291" y="1551263"/>
            <a:ext cx="7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rst_i</a:t>
            </a:r>
            <a:endParaRPr lang="zh-CN" altLang="en-US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7C58993-4CDD-4B37-9E32-96A6F9E34B46}"/>
              </a:ext>
            </a:extLst>
          </p:cNvPr>
          <p:cNvCxnSpPr/>
          <p:nvPr/>
        </p:nvCxnSpPr>
        <p:spPr>
          <a:xfrm>
            <a:off x="971328" y="2241230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6D59145-D9A0-4BBE-A3F9-BB8B857B7227}"/>
              </a:ext>
            </a:extLst>
          </p:cNvPr>
          <p:cNvSpPr txBox="1"/>
          <p:nvPr/>
        </p:nvSpPr>
        <p:spPr>
          <a:xfrm>
            <a:off x="961803" y="1938573"/>
            <a:ext cx="81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start_i</a:t>
            </a:r>
            <a:endParaRPr lang="zh-CN" altLang="en-US" b="1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A4CE444-26D2-49E1-A569-000CA56A312E}"/>
              </a:ext>
            </a:extLst>
          </p:cNvPr>
          <p:cNvCxnSpPr/>
          <p:nvPr/>
        </p:nvCxnSpPr>
        <p:spPr>
          <a:xfrm>
            <a:off x="9792473" y="1506792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F1771A9-BEEE-4F8D-BE25-0E7A1CDAF380}"/>
              </a:ext>
            </a:extLst>
          </p:cNvPr>
          <p:cNvSpPr txBox="1"/>
          <p:nvPr/>
        </p:nvSpPr>
        <p:spPr>
          <a:xfrm>
            <a:off x="9740085" y="1186157"/>
            <a:ext cx="92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done_o</a:t>
            </a:r>
            <a:endParaRPr lang="zh-CN" altLang="en-US" b="1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81666CE-88F8-4989-B811-D9CAD6ABCABE}"/>
              </a:ext>
            </a:extLst>
          </p:cNvPr>
          <p:cNvCxnSpPr>
            <a:cxnSpLocks/>
          </p:cNvCxnSpPr>
          <p:nvPr/>
        </p:nvCxnSpPr>
        <p:spPr>
          <a:xfrm>
            <a:off x="357756" y="2718142"/>
            <a:ext cx="15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C492CB5-199E-4222-96EF-059D016F3DA4}"/>
              </a:ext>
            </a:extLst>
          </p:cNvPr>
          <p:cNvSpPr txBox="1"/>
          <p:nvPr/>
        </p:nvSpPr>
        <p:spPr>
          <a:xfrm>
            <a:off x="394864" y="2394606"/>
            <a:ext cx="150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input_data_i</a:t>
            </a:r>
            <a:endParaRPr lang="zh-CN" altLang="en-US" b="1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CC8C6B3-75EB-4D1D-BAD9-4E2C5F823183}"/>
              </a:ext>
            </a:extLst>
          </p:cNvPr>
          <p:cNvCxnSpPr>
            <a:cxnSpLocks/>
          </p:cNvCxnSpPr>
          <p:nvPr/>
        </p:nvCxnSpPr>
        <p:spPr>
          <a:xfrm>
            <a:off x="9792473" y="1920595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ECABFD3-5F93-46BF-80F5-56A9E6EE3A11}"/>
              </a:ext>
            </a:extLst>
          </p:cNvPr>
          <p:cNvSpPr txBox="1"/>
          <p:nvPr/>
        </p:nvSpPr>
        <p:spPr>
          <a:xfrm>
            <a:off x="9573398" y="1603938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input_data_addr_o</a:t>
            </a:r>
            <a:endParaRPr lang="zh-CN" altLang="en-US" b="1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4134EE5-738C-4399-80B7-8572FB1C0F18}"/>
              </a:ext>
            </a:extLst>
          </p:cNvPr>
          <p:cNvCxnSpPr>
            <a:cxnSpLocks/>
          </p:cNvCxnSpPr>
          <p:nvPr/>
        </p:nvCxnSpPr>
        <p:spPr>
          <a:xfrm>
            <a:off x="9773621" y="2342091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5EDEDE9-B013-40B4-81DD-D4B0BC1E8E49}"/>
              </a:ext>
            </a:extLst>
          </p:cNvPr>
          <p:cNvSpPr txBox="1"/>
          <p:nvPr/>
        </p:nvSpPr>
        <p:spPr>
          <a:xfrm>
            <a:off x="9562285" y="1972759"/>
            <a:ext cx="19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weight_addr_o</a:t>
            </a:r>
            <a:endParaRPr lang="zh-CN" altLang="en-US" b="1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00B24D6-7387-481D-BDA2-A2D18D5BDBF6}"/>
              </a:ext>
            </a:extLst>
          </p:cNvPr>
          <p:cNvCxnSpPr>
            <a:cxnSpLocks/>
          </p:cNvCxnSpPr>
          <p:nvPr/>
        </p:nvCxnSpPr>
        <p:spPr>
          <a:xfrm>
            <a:off x="1034030" y="3160664"/>
            <a:ext cx="848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CC0853D9-71FC-4780-B63F-5209A8B3F239}"/>
              </a:ext>
            </a:extLst>
          </p:cNvPr>
          <p:cNvSpPr txBox="1"/>
          <p:nvPr/>
        </p:nvSpPr>
        <p:spPr>
          <a:xfrm>
            <a:off x="557782" y="2827722"/>
            <a:ext cx="1348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weight_i</a:t>
            </a:r>
            <a:endParaRPr lang="zh-CN" altLang="en-US" b="1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68DE9D3-ECF3-465B-8281-8E2CD15B54F4}"/>
              </a:ext>
            </a:extLst>
          </p:cNvPr>
          <p:cNvCxnSpPr>
            <a:cxnSpLocks/>
          </p:cNvCxnSpPr>
          <p:nvPr/>
        </p:nvCxnSpPr>
        <p:spPr>
          <a:xfrm>
            <a:off x="1060231" y="3630328"/>
            <a:ext cx="838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FD25FBF2-23D1-45D9-83E9-F19A6D0E472C}"/>
              </a:ext>
            </a:extLst>
          </p:cNvPr>
          <p:cNvSpPr txBox="1"/>
          <p:nvPr/>
        </p:nvSpPr>
        <p:spPr>
          <a:xfrm>
            <a:off x="1052291" y="3312779"/>
            <a:ext cx="92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bias_i</a:t>
            </a:r>
            <a:endParaRPr lang="zh-CN" altLang="en-US" b="1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54CCD6C-31EA-4C26-9968-C49F3727EA79}"/>
              </a:ext>
            </a:extLst>
          </p:cNvPr>
          <p:cNvCxnSpPr>
            <a:cxnSpLocks/>
          </p:cNvCxnSpPr>
          <p:nvPr/>
        </p:nvCxnSpPr>
        <p:spPr>
          <a:xfrm>
            <a:off x="9764891" y="3311643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BA7CF0B-BAF9-4B99-8D34-6370A94CB3CD}"/>
              </a:ext>
            </a:extLst>
          </p:cNvPr>
          <p:cNvSpPr txBox="1"/>
          <p:nvPr/>
        </p:nvSpPr>
        <p:spPr>
          <a:xfrm>
            <a:off x="9525112" y="2982909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fc_output_data_o</a:t>
            </a:r>
            <a:endParaRPr lang="zh-CN" altLang="en-US" b="1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47E9A56-6A12-4CFF-9991-1F5E9F5FAF8A}"/>
              </a:ext>
            </a:extLst>
          </p:cNvPr>
          <p:cNvCxnSpPr>
            <a:cxnSpLocks/>
          </p:cNvCxnSpPr>
          <p:nvPr/>
        </p:nvCxnSpPr>
        <p:spPr>
          <a:xfrm>
            <a:off x="9764892" y="3696456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1761ED74-C76D-47ED-BD94-611A9576FBAB}"/>
              </a:ext>
            </a:extLst>
          </p:cNvPr>
          <p:cNvSpPr txBox="1"/>
          <p:nvPr/>
        </p:nvSpPr>
        <p:spPr>
          <a:xfrm>
            <a:off x="9686312" y="3350654"/>
            <a:ext cx="1996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fc_output_wren_o</a:t>
            </a:r>
            <a:endParaRPr lang="zh-CN" altLang="en-US" b="1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C7188C9-016D-4A3A-AA96-6120D896E408}"/>
              </a:ext>
            </a:extLst>
          </p:cNvPr>
          <p:cNvCxnSpPr>
            <a:cxnSpLocks/>
          </p:cNvCxnSpPr>
          <p:nvPr/>
        </p:nvCxnSpPr>
        <p:spPr>
          <a:xfrm>
            <a:off x="9753779" y="4121869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8BE0B30-6217-4C94-8AE4-76052E58B24B}"/>
              </a:ext>
            </a:extLst>
          </p:cNvPr>
          <p:cNvSpPr txBox="1"/>
          <p:nvPr/>
        </p:nvSpPr>
        <p:spPr>
          <a:xfrm>
            <a:off x="9701391" y="3784556"/>
            <a:ext cx="19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fc_output_addr_o</a:t>
            </a:r>
            <a:endParaRPr lang="zh-CN" altLang="en-US" b="1" dirty="0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663CC1C-521B-4F2F-AD17-42D3ABCE5DB5}"/>
              </a:ext>
            </a:extLst>
          </p:cNvPr>
          <p:cNvCxnSpPr>
            <a:cxnSpLocks/>
          </p:cNvCxnSpPr>
          <p:nvPr/>
        </p:nvCxnSpPr>
        <p:spPr>
          <a:xfrm>
            <a:off x="9792473" y="2765591"/>
            <a:ext cx="13765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9EE84221-F03C-46AA-8437-A0B1B14BEFFA}"/>
              </a:ext>
            </a:extLst>
          </p:cNvPr>
          <p:cNvSpPr txBox="1"/>
          <p:nvPr/>
        </p:nvSpPr>
        <p:spPr>
          <a:xfrm>
            <a:off x="9667857" y="2430190"/>
            <a:ext cx="1501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bias_addr_o</a:t>
            </a:r>
            <a:endParaRPr lang="zh-CN" altLang="en-US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49D73C0-DF52-4FA6-B763-F2F4FB94DF82}"/>
              </a:ext>
            </a:extLst>
          </p:cNvPr>
          <p:cNvSpPr txBox="1"/>
          <p:nvPr/>
        </p:nvSpPr>
        <p:spPr>
          <a:xfrm>
            <a:off x="1000125" y="5416926"/>
            <a:ext cx="1019175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接口仅供参考，可以自行根据实际情况进行修改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AB04577-BEEB-8390-88A8-398A520204FA}"/>
              </a:ext>
            </a:extLst>
          </p:cNvPr>
          <p:cNvCxnSpPr>
            <a:cxnSpLocks/>
          </p:cNvCxnSpPr>
          <p:nvPr/>
        </p:nvCxnSpPr>
        <p:spPr>
          <a:xfrm>
            <a:off x="9778087" y="4537100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FFE285A-3FF7-1B19-E9B0-67FF21668868}"/>
              </a:ext>
            </a:extLst>
          </p:cNvPr>
          <p:cNvSpPr txBox="1"/>
          <p:nvPr/>
        </p:nvSpPr>
        <p:spPr>
          <a:xfrm>
            <a:off x="9725699" y="4199787"/>
            <a:ext cx="19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mul_data1_o</a:t>
            </a:r>
            <a:endParaRPr lang="zh-CN" altLang="en-US" b="1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22FFD7C-A9B0-31FA-8EC2-F2F70D3211E4}"/>
              </a:ext>
            </a:extLst>
          </p:cNvPr>
          <p:cNvCxnSpPr>
            <a:cxnSpLocks/>
          </p:cNvCxnSpPr>
          <p:nvPr/>
        </p:nvCxnSpPr>
        <p:spPr>
          <a:xfrm>
            <a:off x="9782949" y="4945318"/>
            <a:ext cx="2105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392B13D-0C63-0CA2-59CA-915CFFD73940}"/>
              </a:ext>
            </a:extLst>
          </p:cNvPr>
          <p:cNvSpPr txBox="1"/>
          <p:nvPr/>
        </p:nvSpPr>
        <p:spPr>
          <a:xfrm>
            <a:off x="9730561" y="4608005"/>
            <a:ext cx="191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mul_data2_o</a:t>
            </a:r>
            <a:endParaRPr lang="zh-CN" altLang="en-US" b="1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CDE8F2C-50D0-6B50-D08D-B01E07F882F1}"/>
              </a:ext>
            </a:extLst>
          </p:cNvPr>
          <p:cNvCxnSpPr>
            <a:cxnSpLocks/>
          </p:cNvCxnSpPr>
          <p:nvPr/>
        </p:nvCxnSpPr>
        <p:spPr>
          <a:xfrm>
            <a:off x="389902" y="4241759"/>
            <a:ext cx="15093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09172C49-C6E7-EAC6-E206-2DC4CB384C0E}"/>
              </a:ext>
            </a:extLst>
          </p:cNvPr>
          <p:cNvSpPr txBox="1"/>
          <p:nvPr/>
        </p:nvSpPr>
        <p:spPr>
          <a:xfrm>
            <a:off x="365595" y="3877404"/>
            <a:ext cx="1519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mul_result_i</a:t>
            </a:r>
            <a:endParaRPr lang="zh-CN" altLang="en-US" b="1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48B686-1BA5-1105-FD73-9F6ADFE54CA3}"/>
              </a:ext>
            </a:extLst>
          </p:cNvPr>
          <p:cNvSpPr/>
          <p:nvPr/>
        </p:nvSpPr>
        <p:spPr>
          <a:xfrm>
            <a:off x="7106960" y="1681713"/>
            <a:ext cx="2161726" cy="1530370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计算输入数据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（输入样本、权重、偏置）地址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11FFFA6-5C59-4790-54EF-403764EC7CF2}"/>
              </a:ext>
            </a:extLst>
          </p:cNvPr>
          <p:cNvSpPr/>
          <p:nvPr/>
        </p:nvSpPr>
        <p:spPr>
          <a:xfrm>
            <a:off x="2907134" y="4203366"/>
            <a:ext cx="2040316" cy="725157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整理输入数据，构造乘法器输入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E7331C2-227B-062B-EB2A-C146B1E98B34}"/>
              </a:ext>
            </a:extLst>
          </p:cNvPr>
          <p:cNvSpPr/>
          <p:nvPr/>
        </p:nvSpPr>
        <p:spPr>
          <a:xfrm>
            <a:off x="2190440" y="1276436"/>
            <a:ext cx="2040316" cy="1069951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处理乘法器输出结果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82CC20B-0046-C7D2-C4C9-72BBC794B31B}"/>
              </a:ext>
            </a:extLst>
          </p:cNvPr>
          <p:cNvSpPr/>
          <p:nvPr/>
        </p:nvSpPr>
        <p:spPr>
          <a:xfrm>
            <a:off x="4876110" y="2778861"/>
            <a:ext cx="2040316" cy="1069951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采用分组求和的方式进行加法运算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附带计算激活值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8975756-8392-CC93-BF50-DB97041CF562}"/>
              </a:ext>
            </a:extLst>
          </p:cNvPr>
          <p:cNvSpPr/>
          <p:nvPr/>
        </p:nvSpPr>
        <p:spPr>
          <a:xfrm>
            <a:off x="7121844" y="3419432"/>
            <a:ext cx="2040316" cy="1069951"/>
          </a:xfrm>
          <a:prstGeom prst="rect">
            <a:avLst/>
          </a:prstGeom>
          <a:solidFill>
            <a:srgbClr val="CCC2D9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构造输出地址，输出数据写信号，结束信号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4A3A0DD-2D30-910B-2602-98B45C4D1400}"/>
              </a:ext>
            </a:extLst>
          </p:cNvPr>
          <p:cNvCxnSpPr>
            <a:cxnSpLocks/>
          </p:cNvCxnSpPr>
          <p:nvPr/>
        </p:nvCxnSpPr>
        <p:spPr>
          <a:xfrm>
            <a:off x="9310139" y="1920595"/>
            <a:ext cx="42994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6D4AA67-0C77-D842-8EC5-A782AF260391}"/>
              </a:ext>
            </a:extLst>
          </p:cNvPr>
          <p:cNvCxnSpPr>
            <a:cxnSpLocks/>
          </p:cNvCxnSpPr>
          <p:nvPr/>
        </p:nvCxnSpPr>
        <p:spPr>
          <a:xfrm>
            <a:off x="9310139" y="2307905"/>
            <a:ext cx="42994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B771FF0-A103-5EC1-DCBC-1F72EB62C1DB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947450" y="4565945"/>
            <a:ext cx="4826171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BAD7450C-B81B-7CE1-B887-102FD21A8245}"/>
              </a:ext>
            </a:extLst>
          </p:cNvPr>
          <p:cNvCxnSpPr>
            <a:cxnSpLocks/>
            <a:stCxn id="20" idx="3"/>
            <a:endCxn id="30" idx="0"/>
          </p:cNvCxnSpPr>
          <p:nvPr/>
        </p:nvCxnSpPr>
        <p:spPr>
          <a:xfrm>
            <a:off x="1895847" y="2579272"/>
            <a:ext cx="2031445" cy="1624094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42E63674-BF00-543F-01FD-95448BB3C695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1906356" y="3012388"/>
            <a:ext cx="1000778" cy="1553557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79DACA66-D724-4978-9147-6EB12150857A}"/>
              </a:ext>
            </a:extLst>
          </p:cNvPr>
          <p:cNvCxnSpPr>
            <a:cxnSpLocks/>
          </p:cNvCxnSpPr>
          <p:nvPr/>
        </p:nvCxnSpPr>
        <p:spPr>
          <a:xfrm>
            <a:off x="4978063" y="4871392"/>
            <a:ext cx="4771944" cy="2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73C16413-9486-224A-FBA2-7FA5ECCF5590}"/>
              </a:ext>
            </a:extLst>
          </p:cNvPr>
          <p:cNvCxnSpPr>
            <a:cxnSpLocks/>
            <a:stCxn id="31" idx="3"/>
            <a:endCxn id="34" idx="1"/>
          </p:cNvCxnSpPr>
          <p:nvPr/>
        </p:nvCxnSpPr>
        <p:spPr>
          <a:xfrm>
            <a:off x="4230756" y="1811412"/>
            <a:ext cx="645354" cy="1502425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DEF64055-F16B-1BA1-1223-E79E79E3A889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 flipV="1">
            <a:off x="1884935" y="1811412"/>
            <a:ext cx="305505" cy="2250658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798AC376-2C94-A948-4215-D09C9A9E7F23}"/>
              </a:ext>
            </a:extLst>
          </p:cNvPr>
          <p:cNvCxnSpPr>
            <a:cxnSpLocks/>
          </p:cNvCxnSpPr>
          <p:nvPr/>
        </p:nvCxnSpPr>
        <p:spPr>
          <a:xfrm>
            <a:off x="1916955" y="3630328"/>
            <a:ext cx="2973361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FA499F75-48BB-50A4-200E-00E12A8AE8C1}"/>
              </a:ext>
            </a:extLst>
          </p:cNvPr>
          <p:cNvCxnSpPr>
            <a:cxnSpLocks/>
          </p:cNvCxnSpPr>
          <p:nvPr/>
        </p:nvCxnSpPr>
        <p:spPr>
          <a:xfrm>
            <a:off x="9162160" y="3698178"/>
            <a:ext cx="59384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3F35637E-21A9-5B81-D533-D1CD6A929B22}"/>
              </a:ext>
            </a:extLst>
          </p:cNvPr>
          <p:cNvCxnSpPr>
            <a:cxnSpLocks/>
          </p:cNvCxnSpPr>
          <p:nvPr/>
        </p:nvCxnSpPr>
        <p:spPr>
          <a:xfrm>
            <a:off x="9157199" y="4110236"/>
            <a:ext cx="592808" cy="1862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CA911934-3E7D-A4C3-469E-C02D63A7BD7C}"/>
              </a:ext>
            </a:extLst>
          </p:cNvPr>
          <p:cNvCxnSpPr>
            <a:cxnSpLocks/>
          </p:cNvCxnSpPr>
          <p:nvPr/>
        </p:nvCxnSpPr>
        <p:spPr>
          <a:xfrm>
            <a:off x="6931310" y="3301899"/>
            <a:ext cx="2842311" cy="1325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2A7D8F88-19AF-68D1-C9D8-4C2CFE8B9A3D}"/>
              </a:ext>
            </a:extLst>
          </p:cNvPr>
          <p:cNvCxnSpPr>
            <a:cxnSpLocks/>
            <a:stCxn id="35" idx="3"/>
            <a:endCxn id="16" idx="1"/>
          </p:cNvCxnSpPr>
          <p:nvPr/>
        </p:nvCxnSpPr>
        <p:spPr>
          <a:xfrm flipV="1">
            <a:off x="9162160" y="1370823"/>
            <a:ext cx="577925" cy="2583585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CAF58523-0B58-4D8E-962C-7C011A3B9AE6}"/>
              </a:ext>
            </a:extLst>
          </p:cNvPr>
          <p:cNvCxnSpPr>
            <a:cxnSpLocks/>
          </p:cNvCxnSpPr>
          <p:nvPr/>
        </p:nvCxnSpPr>
        <p:spPr>
          <a:xfrm>
            <a:off x="9320061" y="2756356"/>
            <a:ext cx="42994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460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5439A-0092-012F-72D1-5E43057D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45103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模块架构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F8CE7-DF03-5D6B-7910-73A209377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17908C-1BE0-3F8C-D9DE-689327FED5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FA8C98-82DD-3281-6DAB-46DF305E069E}"/>
              </a:ext>
            </a:extLst>
          </p:cNvPr>
          <p:cNvSpPr txBox="1"/>
          <p:nvPr/>
        </p:nvSpPr>
        <p:spPr>
          <a:xfrm>
            <a:off x="127591" y="1125023"/>
            <a:ext cx="3326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49A3AB5-B523-D170-911E-ADCBDC946936}"/>
              </a:ext>
            </a:extLst>
          </p:cNvPr>
          <p:cNvSpPr txBox="1"/>
          <p:nvPr/>
        </p:nvSpPr>
        <p:spPr>
          <a:xfrm>
            <a:off x="1001385" y="2672753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t2</a:t>
            </a:r>
            <a:endParaRPr lang="zh-CN" altLang="en-US" sz="32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1799F11-153F-2102-03AC-8057FDE388D1}"/>
              </a:ext>
            </a:extLst>
          </p:cNvPr>
          <p:cNvSpPr txBox="1"/>
          <p:nvPr/>
        </p:nvSpPr>
        <p:spPr>
          <a:xfrm>
            <a:off x="-29038" y="2672575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t1</a:t>
            </a:r>
            <a:endParaRPr lang="zh-CN" altLang="en-US" sz="32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54554D7-34EE-2D7B-F3D9-E6BFB6254793}"/>
              </a:ext>
            </a:extLst>
          </p:cNvPr>
          <p:cNvSpPr txBox="1"/>
          <p:nvPr/>
        </p:nvSpPr>
        <p:spPr>
          <a:xfrm>
            <a:off x="7948497" y="2679216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t9</a:t>
            </a:r>
            <a:endParaRPr lang="zh-CN" altLang="en-US" sz="32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7A725B1-7FE9-1FC7-C529-2D55CBDD7E6C}"/>
              </a:ext>
            </a:extLst>
          </p:cNvPr>
          <p:cNvSpPr txBox="1"/>
          <p:nvPr/>
        </p:nvSpPr>
        <p:spPr>
          <a:xfrm>
            <a:off x="5004976" y="2673591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t6</a:t>
            </a:r>
            <a:endParaRPr lang="zh-CN" altLang="en-US" sz="32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B8DB7C9-F1B5-23AB-23CE-4EE1F2230F15}"/>
              </a:ext>
            </a:extLst>
          </p:cNvPr>
          <p:cNvCxnSpPr/>
          <p:nvPr/>
        </p:nvCxnSpPr>
        <p:spPr>
          <a:xfrm>
            <a:off x="236102" y="2406992"/>
            <a:ext cx="110960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F8EE7FE-799C-F5D0-5B1E-2088B402167E}"/>
              </a:ext>
            </a:extLst>
          </p:cNvPr>
          <p:cNvCxnSpPr>
            <a:cxnSpLocks/>
          </p:cNvCxnSpPr>
          <p:nvPr/>
        </p:nvCxnSpPr>
        <p:spPr>
          <a:xfrm>
            <a:off x="127591" y="2571345"/>
            <a:ext cx="0" cy="30577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B5039619-0ACA-61CF-1ACB-4D1D44A8D3BA}"/>
              </a:ext>
            </a:extLst>
          </p:cNvPr>
          <p:cNvSpPr txBox="1"/>
          <p:nvPr/>
        </p:nvSpPr>
        <p:spPr>
          <a:xfrm>
            <a:off x="11167444" y="1692621"/>
            <a:ext cx="706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t</a:t>
            </a:r>
            <a:endParaRPr lang="zh-CN" altLang="en-US" sz="4000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9088F92-42AC-BAF3-D581-13F6A5FB654F}"/>
              </a:ext>
            </a:extLst>
          </p:cNvPr>
          <p:cNvSpPr txBox="1"/>
          <p:nvPr/>
        </p:nvSpPr>
        <p:spPr>
          <a:xfrm>
            <a:off x="167094" y="5405421"/>
            <a:ext cx="1185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data</a:t>
            </a:r>
            <a:endParaRPr lang="zh-CN" altLang="en-US" sz="40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B07517-A007-1F55-CDA7-D8EA2C391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1" y="3258366"/>
            <a:ext cx="11894288" cy="228450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2515CE9-2BD8-0F31-6471-09AF28A1655C}"/>
              </a:ext>
            </a:extLst>
          </p:cNvPr>
          <p:cNvCxnSpPr/>
          <p:nvPr/>
        </p:nvCxnSpPr>
        <p:spPr>
          <a:xfrm>
            <a:off x="1169581" y="2502195"/>
            <a:ext cx="0" cy="3126878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23A9A33-98D9-CB6E-DB2E-FE5EFD3B42EB}"/>
              </a:ext>
            </a:extLst>
          </p:cNvPr>
          <p:cNvCxnSpPr/>
          <p:nvPr/>
        </p:nvCxnSpPr>
        <p:spPr>
          <a:xfrm>
            <a:off x="2158409" y="2502195"/>
            <a:ext cx="0" cy="3126878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0EDAFE7-88E9-65FF-72B7-92D9E11813E7}"/>
              </a:ext>
            </a:extLst>
          </p:cNvPr>
          <p:cNvCxnSpPr/>
          <p:nvPr/>
        </p:nvCxnSpPr>
        <p:spPr>
          <a:xfrm>
            <a:off x="3164958" y="2512866"/>
            <a:ext cx="0" cy="3126878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C6F32D0-600A-E4C4-6E68-A7FC04C97D6D}"/>
              </a:ext>
            </a:extLst>
          </p:cNvPr>
          <p:cNvCxnSpPr/>
          <p:nvPr/>
        </p:nvCxnSpPr>
        <p:spPr>
          <a:xfrm>
            <a:off x="4150241" y="2536770"/>
            <a:ext cx="0" cy="3126878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0AF1ACD-8ECB-B9C9-5DF1-B007D4490C06}"/>
              </a:ext>
            </a:extLst>
          </p:cNvPr>
          <p:cNvCxnSpPr/>
          <p:nvPr/>
        </p:nvCxnSpPr>
        <p:spPr>
          <a:xfrm>
            <a:off x="5156791" y="2536770"/>
            <a:ext cx="0" cy="3126878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3DF0E9E-1E6F-E4EB-2A58-779E65B2D332}"/>
              </a:ext>
            </a:extLst>
          </p:cNvPr>
          <p:cNvCxnSpPr/>
          <p:nvPr/>
        </p:nvCxnSpPr>
        <p:spPr>
          <a:xfrm>
            <a:off x="6117265" y="2536770"/>
            <a:ext cx="0" cy="3126878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D82C61-6E8F-BAB0-1842-4112E291B6CA}"/>
              </a:ext>
            </a:extLst>
          </p:cNvPr>
          <p:cNvCxnSpPr/>
          <p:nvPr/>
        </p:nvCxnSpPr>
        <p:spPr>
          <a:xfrm>
            <a:off x="7084827" y="2571345"/>
            <a:ext cx="0" cy="3126878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C7307AE-CFF1-8071-3F3C-37C619F9D6BD}"/>
              </a:ext>
            </a:extLst>
          </p:cNvPr>
          <p:cNvCxnSpPr/>
          <p:nvPr/>
        </p:nvCxnSpPr>
        <p:spPr>
          <a:xfrm>
            <a:off x="8098465" y="2571345"/>
            <a:ext cx="0" cy="3126878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6E2EB6C-01A6-B97F-B116-0F116671C532}"/>
              </a:ext>
            </a:extLst>
          </p:cNvPr>
          <p:cNvCxnSpPr/>
          <p:nvPr/>
        </p:nvCxnSpPr>
        <p:spPr>
          <a:xfrm>
            <a:off x="9105014" y="2571345"/>
            <a:ext cx="0" cy="3126878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B107EB6-E663-E71B-6109-1753D1183017}"/>
              </a:ext>
            </a:extLst>
          </p:cNvPr>
          <p:cNvSpPr txBox="1"/>
          <p:nvPr/>
        </p:nvSpPr>
        <p:spPr>
          <a:xfrm>
            <a:off x="1940592" y="2670349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t3</a:t>
            </a:r>
            <a:endParaRPr lang="zh-CN" altLang="en-US" sz="3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647B28-723F-0352-DDA2-46EE40A53862}"/>
              </a:ext>
            </a:extLst>
          </p:cNvPr>
          <p:cNvSpPr txBox="1"/>
          <p:nvPr/>
        </p:nvSpPr>
        <p:spPr>
          <a:xfrm>
            <a:off x="2986126" y="2684433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t4</a:t>
            </a:r>
            <a:endParaRPr lang="zh-CN" altLang="en-US" sz="3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97F056-EDC3-9369-0BFF-CD3B4B74C543}"/>
              </a:ext>
            </a:extLst>
          </p:cNvPr>
          <p:cNvSpPr txBox="1"/>
          <p:nvPr/>
        </p:nvSpPr>
        <p:spPr>
          <a:xfrm>
            <a:off x="3982403" y="2677264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t5</a:t>
            </a:r>
            <a:endParaRPr lang="zh-CN" altLang="en-US" sz="3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8485914-C0FE-B887-05AD-1D99BD654140}"/>
              </a:ext>
            </a:extLst>
          </p:cNvPr>
          <p:cNvSpPr txBox="1"/>
          <p:nvPr/>
        </p:nvSpPr>
        <p:spPr>
          <a:xfrm>
            <a:off x="5965450" y="2666422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t7</a:t>
            </a:r>
            <a:endParaRPr lang="zh-CN" altLang="en-US" sz="3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1D1821-8620-7077-B742-3421C976B298}"/>
              </a:ext>
            </a:extLst>
          </p:cNvPr>
          <p:cNvSpPr txBox="1"/>
          <p:nvPr/>
        </p:nvSpPr>
        <p:spPr>
          <a:xfrm>
            <a:off x="6919505" y="2695453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t8</a:t>
            </a:r>
            <a:endParaRPr lang="zh-CN" altLang="en-US" sz="3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6660AC-35E6-19AF-18CD-8B12E597C5F7}"/>
              </a:ext>
            </a:extLst>
          </p:cNvPr>
          <p:cNvSpPr txBox="1"/>
          <p:nvPr/>
        </p:nvSpPr>
        <p:spPr>
          <a:xfrm>
            <a:off x="8977461" y="2662979"/>
            <a:ext cx="135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t10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71379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74D31-E000-441C-BF3B-7B6C9696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9" y="149225"/>
            <a:ext cx="6400801" cy="615950"/>
          </a:xfrm>
        </p:spPr>
        <p:txBody>
          <a:bodyPr/>
          <a:lstStyle/>
          <a:p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模块代码框架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87315C-5349-42FD-89FF-CF71E68A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6EFF4F-7EDD-47F8-9E92-2220B9F18B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CC2CA38-D296-486D-811F-670236F842F1}"/>
              </a:ext>
            </a:extLst>
          </p:cNvPr>
          <p:cNvSpPr/>
          <p:nvPr/>
        </p:nvSpPr>
        <p:spPr>
          <a:xfrm>
            <a:off x="171450" y="1182687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两个循环变量的更新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D97BED-30BD-46D2-87A8-C94FE0CDDE60}"/>
              </a:ext>
            </a:extLst>
          </p:cNvPr>
          <p:cNvSpPr/>
          <p:nvPr/>
        </p:nvSpPr>
        <p:spPr>
          <a:xfrm>
            <a:off x="171450" y="2259012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循环变量的延迟处理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74173C2-4A39-4863-912C-4B9612CF3C85}"/>
              </a:ext>
            </a:extLst>
          </p:cNvPr>
          <p:cNvSpPr/>
          <p:nvPr/>
        </p:nvSpPr>
        <p:spPr>
          <a:xfrm>
            <a:off x="171450" y="3335337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：数据读取的地址生成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45470BB-8693-4146-97D2-B6C6213FF83B}"/>
              </a:ext>
            </a:extLst>
          </p:cNvPr>
          <p:cNvSpPr/>
          <p:nvPr/>
        </p:nvSpPr>
        <p:spPr>
          <a:xfrm>
            <a:off x="171450" y="4351338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读取延迟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628B704-215B-4BCE-83A7-DCABF525CB85}"/>
              </a:ext>
            </a:extLst>
          </p:cNvPr>
          <p:cNvSpPr/>
          <p:nvPr/>
        </p:nvSpPr>
        <p:spPr>
          <a:xfrm>
            <a:off x="171450" y="5322889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5-7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：乘法器运算延迟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F911A2-3258-484F-B65E-70E088ADBE7E}"/>
              </a:ext>
            </a:extLst>
          </p:cNvPr>
          <p:cNvSpPr/>
          <p:nvPr/>
        </p:nvSpPr>
        <p:spPr>
          <a:xfrm>
            <a:off x="6553200" y="1182687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8-10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：加法树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54F6CFA-5750-41B7-AF9D-1AF96505F4FA}"/>
              </a:ext>
            </a:extLst>
          </p:cNvPr>
          <p:cNvSpPr/>
          <p:nvPr/>
        </p:nvSpPr>
        <p:spPr>
          <a:xfrm>
            <a:off x="6553200" y="2259012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：单个通道加法结果的累加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1EEBCE4-7170-4400-8317-2FEBCB2D156E}"/>
              </a:ext>
            </a:extLst>
          </p:cNvPr>
          <p:cNvSpPr/>
          <p:nvPr/>
        </p:nvSpPr>
        <p:spPr>
          <a:xfrm>
            <a:off x="6553200" y="3335337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12-13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：加偏置，计算激活值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2685973-7E99-45DD-A895-F4DA9D28CD92}"/>
              </a:ext>
            </a:extLst>
          </p:cNvPr>
          <p:cNvSpPr/>
          <p:nvPr/>
        </p:nvSpPr>
        <p:spPr>
          <a:xfrm>
            <a:off x="6553200" y="4351338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：输出单个通道的激活值、写数据地址、写使能信号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B78E6F4-09E4-48E4-AA8D-8767D0C16840}"/>
              </a:ext>
            </a:extLst>
          </p:cNvPr>
          <p:cNvSpPr/>
          <p:nvPr/>
        </p:nvSpPr>
        <p:spPr>
          <a:xfrm>
            <a:off x="6553200" y="5322889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done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70295258-1581-4D46-AE5E-DFAB51D7A0EB}"/>
              </a:ext>
            </a:extLst>
          </p:cNvPr>
          <p:cNvSpPr/>
          <p:nvPr/>
        </p:nvSpPr>
        <p:spPr>
          <a:xfrm>
            <a:off x="2695575" y="1868486"/>
            <a:ext cx="419100" cy="277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81936A19-6060-4954-B87D-E77C8CAA08E9}"/>
              </a:ext>
            </a:extLst>
          </p:cNvPr>
          <p:cNvSpPr/>
          <p:nvPr/>
        </p:nvSpPr>
        <p:spPr>
          <a:xfrm>
            <a:off x="2695575" y="2952750"/>
            <a:ext cx="419100" cy="277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66528C19-3A68-4AF1-B7C5-6D48DDED7BF6}"/>
              </a:ext>
            </a:extLst>
          </p:cNvPr>
          <p:cNvSpPr/>
          <p:nvPr/>
        </p:nvSpPr>
        <p:spPr>
          <a:xfrm>
            <a:off x="2695575" y="4029075"/>
            <a:ext cx="419100" cy="277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C82BB588-F3A7-4DDB-8AFB-9E5C904C6ED6}"/>
              </a:ext>
            </a:extLst>
          </p:cNvPr>
          <p:cNvSpPr/>
          <p:nvPr/>
        </p:nvSpPr>
        <p:spPr>
          <a:xfrm>
            <a:off x="2695575" y="5020468"/>
            <a:ext cx="419100" cy="277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360E7925-F244-467E-A0CF-FDB2701B1822}"/>
              </a:ext>
            </a:extLst>
          </p:cNvPr>
          <p:cNvSpPr/>
          <p:nvPr/>
        </p:nvSpPr>
        <p:spPr>
          <a:xfrm>
            <a:off x="9077327" y="1889124"/>
            <a:ext cx="419100" cy="277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50837E77-3066-4C15-B4FA-1F5B4220500D}"/>
              </a:ext>
            </a:extLst>
          </p:cNvPr>
          <p:cNvSpPr/>
          <p:nvPr/>
        </p:nvSpPr>
        <p:spPr>
          <a:xfrm>
            <a:off x="9077327" y="2966243"/>
            <a:ext cx="419100" cy="277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B3952C14-5FC7-4284-982F-44F411E9B667}"/>
              </a:ext>
            </a:extLst>
          </p:cNvPr>
          <p:cNvSpPr/>
          <p:nvPr/>
        </p:nvSpPr>
        <p:spPr>
          <a:xfrm>
            <a:off x="9077327" y="4021136"/>
            <a:ext cx="419100" cy="277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C5206853-FA8E-4582-8653-E9A88304BE14}"/>
              </a:ext>
            </a:extLst>
          </p:cNvPr>
          <p:cNvSpPr/>
          <p:nvPr/>
        </p:nvSpPr>
        <p:spPr>
          <a:xfrm>
            <a:off x="9096376" y="5010944"/>
            <a:ext cx="419100" cy="277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697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C2F6A-81E4-40A6-AC35-A7BBF54B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149225"/>
            <a:ext cx="7315199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36DC02-E436-4D9D-896B-65AACAA3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0F03BC-CAB8-435A-9009-A1732C661C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9E4965-CCD7-4E3B-8DDE-CF9EDD75239E}"/>
              </a:ext>
            </a:extLst>
          </p:cNvPr>
          <p:cNvSpPr/>
          <p:nvPr/>
        </p:nvSpPr>
        <p:spPr>
          <a:xfrm>
            <a:off x="171450" y="1182687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两个循环变量的更新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585A2A-F00F-47CE-ABC8-1D2247D4B563}"/>
              </a:ext>
            </a:extLst>
          </p:cNvPr>
          <p:cNvSpPr txBox="1"/>
          <p:nvPr/>
        </p:nvSpPr>
        <p:spPr>
          <a:xfrm>
            <a:off x="7387165" y="5308673"/>
            <a:ext cx="4732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请选择合适的条件驱使循环变量更新（实际上就是计数器）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B4ADF7F-2BE2-4202-9D68-A406D9918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80" y="1431903"/>
            <a:ext cx="5367120" cy="370207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FB9272E-A346-4CDF-AD90-2A119E6E6341}"/>
              </a:ext>
            </a:extLst>
          </p:cNvPr>
          <p:cNvSpPr txBox="1"/>
          <p:nvPr/>
        </p:nvSpPr>
        <p:spPr>
          <a:xfrm>
            <a:off x="297393" y="1798637"/>
            <a:ext cx="5941482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每次读取一个输出通道对应的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个权重，同时进行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次乘法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512/128=4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次可以得到一个输出通道的激活值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重复上述操作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次便可以得到所有输出通道的激活值</a:t>
            </a:r>
          </a:p>
        </p:txBody>
      </p:sp>
    </p:spTree>
    <p:extLst>
      <p:ext uri="{BB962C8B-B14F-4D97-AF65-F5344CB8AC3E}">
        <p14:creationId xmlns:p14="http://schemas.microsoft.com/office/powerpoint/2010/main" val="2496408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9BB6-AE7A-4D13-B48D-F354BC9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B5917-4D49-484A-9CA7-8DC3FA43F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269B48-EA9E-497D-B193-6F1F1BD5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C944AF0-4CBE-46AC-8DD4-D89768D0DD96}"/>
              </a:ext>
            </a:extLst>
          </p:cNvPr>
          <p:cNvSpPr/>
          <p:nvPr/>
        </p:nvSpPr>
        <p:spPr>
          <a:xfrm>
            <a:off x="447675" y="1249362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循环变量的延迟处理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61D1B46-DAAB-499A-B10A-C9BD3F587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2570539"/>
            <a:ext cx="5866667" cy="300952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15F5330-4131-48BE-B44E-A52BEE3DF0E9}"/>
              </a:ext>
            </a:extLst>
          </p:cNvPr>
          <p:cNvSpPr txBox="1"/>
          <p:nvPr/>
        </p:nvSpPr>
        <p:spPr>
          <a:xfrm>
            <a:off x="6543674" y="1719262"/>
            <a:ext cx="5648326" cy="3587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两个循环变量的延迟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区分不同输出通道的加法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区分同一个输出通道的加法方式（直接赋值还是累加）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输出数据的写信号、输出数据地址以及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done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信号的构造</a:t>
            </a:r>
          </a:p>
        </p:txBody>
      </p:sp>
    </p:spTree>
    <p:extLst>
      <p:ext uri="{BB962C8B-B14F-4D97-AF65-F5344CB8AC3E}">
        <p14:creationId xmlns:p14="http://schemas.microsoft.com/office/powerpoint/2010/main" val="336193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9BB6-AE7A-4D13-B48D-F354BC9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B5917-4D49-484A-9CA7-8DC3FA43F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269B48-EA9E-497D-B193-6F1F1BD5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70E5D5-8796-4AF8-A376-F29D6D345E95}"/>
              </a:ext>
            </a:extLst>
          </p:cNvPr>
          <p:cNvSpPr/>
          <p:nvPr/>
        </p:nvSpPr>
        <p:spPr>
          <a:xfrm>
            <a:off x="371475" y="1232693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：数据读取的地址生成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E42E31-742C-43C5-B2A8-A4B95142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679240"/>
            <a:ext cx="5923809" cy="266666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8556D16-F5BF-4647-8F6E-CE71DFEAFB3B}"/>
              </a:ext>
            </a:extLst>
          </p:cNvPr>
          <p:cNvSpPr txBox="1"/>
          <p:nvPr/>
        </p:nvSpPr>
        <p:spPr>
          <a:xfrm>
            <a:off x="6953250" y="2891048"/>
            <a:ext cx="4726517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请根据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文件的数据排列方式计算输入数据、权重和偏置的地址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5789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9BB6-AE7A-4D13-B48D-F354BC9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B5917-4D49-484A-9CA7-8DC3FA43F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269B48-EA9E-497D-B193-6F1F1BD5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E4BFEAD-369C-43B6-80F5-28CFA7BF9D54}"/>
              </a:ext>
            </a:extLst>
          </p:cNvPr>
          <p:cNvSpPr/>
          <p:nvPr/>
        </p:nvSpPr>
        <p:spPr>
          <a:xfrm>
            <a:off x="409575" y="1171576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读取延迟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5EAEAE-D913-446F-A1F1-334F8C2E0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30" y="2025224"/>
            <a:ext cx="6290940" cy="394176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B3B5E4E-28CC-4423-842B-CDCA4408A840}"/>
              </a:ext>
            </a:extLst>
          </p:cNvPr>
          <p:cNvSpPr txBox="1"/>
          <p:nvPr/>
        </p:nvSpPr>
        <p:spPr>
          <a:xfrm>
            <a:off x="6679142" y="2153928"/>
            <a:ext cx="5000625" cy="295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Primitives Output Register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”，这是片内逻辑资源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内包含的寄存器； 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Core Output Register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”，这是芯片内部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包含的寄存器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勾选上述两项后使得从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内读取数据需要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三个时钟周期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，因此需要对数据进行延迟处理</a:t>
            </a:r>
          </a:p>
        </p:txBody>
      </p:sp>
    </p:spTree>
    <p:extLst>
      <p:ext uri="{BB962C8B-B14F-4D97-AF65-F5344CB8AC3E}">
        <p14:creationId xmlns:p14="http://schemas.microsoft.com/office/powerpoint/2010/main" val="1933340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D56F65-3DA1-4C04-AF1E-E3C6AE8A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EC5626-E949-42CE-B759-B6267327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9056226-4DA0-40CA-9357-612E8D841D0F}"/>
              </a:ext>
            </a:extLst>
          </p:cNvPr>
          <p:cNvSpPr txBox="1">
            <a:spLocks/>
          </p:cNvSpPr>
          <p:nvPr/>
        </p:nvSpPr>
        <p:spPr bwMode="auto">
          <a:xfrm>
            <a:off x="2867817" y="193645"/>
            <a:ext cx="680878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/>
              <a:t>模块设计提示</a:t>
            </a:r>
            <a:r>
              <a:rPr lang="en-US" altLang="zh-CN" dirty="0"/>
              <a:t>——</a:t>
            </a:r>
            <a:r>
              <a:rPr lang="zh-CN" altLang="en-US" dirty="0"/>
              <a:t>读取数据延迟处理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97A7FDC-6F32-4B2D-A1E5-BC0960850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1" y="1419809"/>
            <a:ext cx="11495238" cy="457143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25B7CE8-8050-4FBB-AFBD-7789AAACE7E2}"/>
              </a:ext>
            </a:extLst>
          </p:cNvPr>
          <p:cNvCxnSpPr/>
          <p:nvPr/>
        </p:nvCxnSpPr>
        <p:spPr>
          <a:xfrm flipV="1">
            <a:off x="5067301" y="1953181"/>
            <a:ext cx="0" cy="771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F59F887-3D1C-4465-8A96-BCC6D2DF983A}"/>
              </a:ext>
            </a:extLst>
          </p:cNvPr>
          <p:cNvCxnSpPr/>
          <p:nvPr/>
        </p:nvCxnSpPr>
        <p:spPr>
          <a:xfrm flipV="1">
            <a:off x="7934326" y="1953181"/>
            <a:ext cx="0" cy="771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60E0347-B8E3-4B4F-8752-8C2D118F6609}"/>
              </a:ext>
            </a:extLst>
          </p:cNvPr>
          <p:cNvSpPr txBox="1"/>
          <p:nvPr/>
        </p:nvSpPr>
        <p:spPr>
          <a:xfrm>
            <a:off x="3862389" y="2800935"/>
            <a:ext cx="2409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模块生成读取地址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1A8057-ED92-48F5-A3C1-85E570AC5E3C}"/>
              </a:ext>
            </a:extLst>
          </p:cNvPr>
          <p:cNvSpPr txBox="1"/>
          <p:nvPr/>
        </p:nvSpPr>
        <p:spPr>
          <a:xfrm>
            <a:off x="6643689" y="2810460"/>
            <a:ext cx="2767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模块接收样本数据输入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F608E2E-08B2-4EDB-8141-47F2A46B2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60" y="3493561"/>
            <a:ext cx="5929631" cy="242146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6FE26BF-B9FE-4A56-84F8-3D2DD37167CE}"/>
              </a:ext>
            </a:extLst>
          </p:cNvPr>
          <p:cNvSpPr txBox="1"/>
          <p:nvPr/>
        </p:nvSpPr>
        <p:spPr>
          <a:xfrm>
            <a:off x="5905500" y="4611735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代码示意</a:t>
            </a:r>
          </a:p>
        </p:txBody>
      </p:sp>
    </p:spTree>
    <p:extLst>
      <p:ext uri="{BB962C8B-B14F-4D97-AF65-F5344CB8AC3E}">
        <p14:creationId xmlns:p14="http://schemas.microsoft.com/office/powerpoint/2010/main" val="68747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9BB6-AE7A-4D13-B48D-F354BC9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B5917-4D49-484A-9CA7-8DC3FA43F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269B48-EA9E-497D-B193-6F1F1BD5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F2B5C97-894B-4334-9719-1B8A1148DBF1}"/>
              </a:ext>
            </a:extLst>
          </p:cNvPr>
          <p:cNvSpPr/>
          <p:nvPr/>
        </p:nvSpPr>
        <p:spPr>
          <a:xfrm>
            <a:off x="409575" y="1137444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5-7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：乘法器运算延迟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7ACBD1E-A835-408C-A409-06B8E3D07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968864"/>
            <a:ext cx="6631850" cy="417201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A53745C-1FBA-4401-AF77-6791D40B4C15}"/>
              </a:ext>
            </a:extLst>
          </p:cNvPr>
          <p:cNvSpPr txBox="1"/>
          <p:nvPr/>
        </p:nvSpPr>
        <p:spPr>
          <a:xfrm>
            <a:off x="7791450" y="3257550"/>
            <a:ext cx="345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乘法器输出结果的处理类似</a:t>
            </a:r>
          </a:p>
        </p:txBody>
      </p:sp>
    </p:spTree>
    <p:extLst>
      <p:ext uri="{BB962C8B-B14F-4D97-AF65-F5344CB8AC3E}">
        <p14:creationId xmlns:p14="http://schemas.microsoft.com/office/powerpoint/2010/main" val="428180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9BB6-AE7A-4D13-B48D-F354BC9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B5917-4D49-484A-9CA7-8DC3FA43F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269B48-EA9E-497D-B193-6F1F1BD5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B70468C-671C-440A-AF62-8A465B47D3D3}"/>
              </a:ext>
            </a:extLst>
          </p:cNvPr>
          <p:cNvSpPr/>
          <p:nvPr/>
        </p:nvSpPr>
        <p:spPr>
          <a:xfrm>
            <a:off x="485775" y="1164431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8-10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：加法树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A3E32F-518D-4077-A1E3-FE9B2291CD95}"/>
              </a:ext>
            </a:extLst>
          </p:cNvPr>
          <p:cNvSpPr/>
          <p:nvPr/>
        </p:nvSpPr>
        <p:spPr>
          <a:xfrm>
            <a:off x="1168400" y="1956856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9EBB82-0384-4523-AF85-7D0F62A012E4}"/>
              </a:ext>
            </a:extLst>
          </p:cNvPr>
          <p:cNvSpPr/>
          <p:nvPr/>
        </p:nvSpPr>
        <p:spPr>
          <a:xfrm>
            <a:off x="1851025" y="1956854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C92F17-AA54-49CE-BF6E-15716E9B0DEB}"/>
              </a:ext>
            </a:extLst>
          </p:cNvPr>
          <p:cNvSpPr/>
          <p:nvPr/>
        </p:nvSpPr>
        <p:spPr>
          <a:xfrm>
            <a:off x="2533650" y="1956854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576587-FD0F-43D8-A343-3D1B3358DD2B}"/>
              </a:ext>
            </a:extLst>
          </p:cNvPr>
          <p:cNvSpPr/>
          <p:nvPr/>
        </p:nvSpPr>
        <p:spPr>
          <a:xfrm>
            <a:off x="3216275" y="1956854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0EA9AE-FAC6-4EDC-BEE1-69D7418B0FAA}"/>
              </a:ext>
            </a:extLst>
          </p:cNvPr>
          <p:cNvSpPr/>
          <p:nvPr/>
        </p:nvSpPr>
        <p:spPr>
          <a:xfrm>
            <a:off x="3898900" y="1956853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E767D8-E583-4F8A-AE3C-CEAF76021A71}"/>
              </a:ext>
            </a:extLst>
          </p:cNvPr>
          <p:cNvSpPr/>
          <p:nvPr/>
        </p:nvSpPr>
        <p:spPr>
          <a:xfrm>
            <a:off x="4581525" y="1956852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078CC1-E5A1-45C4-92AA-141C08FA3EF5}"/>
              </a:ext>
            </a:extLst>
          </p:cNvPr>
          <p:cNvSpPr/>
          <p:nvPr/>
        </p:nvSpPr>
        <p:spPr>
          <a:xfrm>
            <a:off x="485775" y="1956851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D74CFA-0B57-425F-B879-B84901618BA0}"/>
              </a:ext>
            </a:extLst>
          </p:cNvPr>
          <p:cNvSpPr/>
          <p:nvPr/>
        </p:nvSpPr>
        <p:spPr>
          <a:xfrm>
            <a:off x="5264150" y="1956851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8C32604-53D5-4BE0-B274-9C607C8A4340}"/>
              </a:ext>
            </a:extLst>
          </p:cNvPr>
          <p:cNvSpPr/>
          <p:nvPr/>
        </p:nvSpPr>
        <p:spPr>
          <a:xfrm flipV="1">
            <a:off x="4373884" y="5848997"/>
            <a:ext cx="47626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661C581-EEC1-432F-B753-B0F997D5E1F3}"/>
              </a:ext>
            </a:extLst>
          </p:cNvPr>
          <p:cNvSpPr/>
          <p:nvPr/>
        </p:nvSpPr>
        <p:spPr>
          <a:xfrm flipV="1">
            <a:off x="4676700" y="5848997"/>
            <a:ext cx="47626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0A65BCE-E344-4981-AF65-DF3B6E64DE30}"/>
              </a:ext>
            </a:extLst>
          </p:cNvPr>
          <p:cNvSpPr/>
          <p:nvPr/>
        </p:nvSpPr>
        <p:spPr>
          <a:xfrm flipV="1">
            <a:off x="4969990" y="5847244"/>
            <a:ext cx="47626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DB267E0-1F3C-44B4-A859-0EC40FD63E8A}"/>
              </a:ext>
            </a:extLst>
          </p:cNvPr>
          <p:cNvSpPr txBox="1"/>
          <p:nvPr/>
        </p:nvSpPr>
        <p:spPr>
          <a:xfrm>
            <a:off x="6093924" y="1942325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128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FFE45AA-FA56-400C-9484-BE825DE6F489}"/>
              </a:ext>
            </a:extLst>
          </p:cNvPr>
          <p:cNvSpPr/>
          <p:nvPr/>
        </p:nvSpPr>
        <p:spPr>
          <a:xfrm>
            <a:off x="845346" y="2954045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28287E7-C5F4-4977-B8DA-B13730C5B1B7}"/>
              </a:ext>
            </a:extLst>
          </p:cNvPr>
          <p:cNvSpPr txBox="1"/>
          <p:nvPr/>
        </p:nvSpPr>
        <p:spPr>
          <a:xfrm>
            <a:off x="6139059" y="2961203"/>
            <a:ext cx="47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64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3FCFAB-67D4-4A63-BFF7-5021A3FD2CDD}"/>
              </a:ext>
            </a:extLst>
          </p:cNvPr>
          <p:cNvSpPr/>
          <p:nvPr/>
        </p:nvSpPr>
        <p:spPr>
          <a:xfrm>
            <a:off x="2193925" y="2954044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AF002D4-FBD8-4F5B-BBC2-89E8A56ED7FB}"/>
              </a:ext>
            </a:extLst>
          </p:cNvPr>
          <p:cNvSpPr/>
          <p:nvPr/>
        </p:nvSpPr>
        <p:spPr>
          <a:xfrm>
            <a:off x="3559490" y="2954043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2828B9-B9D5-4034-BAC3-99BFA66E7B9F}"/>
              </a:ext>
            </a:extLst>
          </p:cNvPr>
          <p:cNvSpPr/>
          <p:nvPr/>
        </p:nvSpPr>
        <p:spPr>
          <a:xfrm>
            <a:off x="4253864" y="4025009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0BBF5FB-D6B7-4A22-AEB7-FEF0E9C37C75}"/>
              </a:ext>
            </a:extLst>
          </p:cNvPr>
          <p:cNvSpPr/>
          <p:nvPr/>
        </p:nvSpPr>
        <p:spPr>
          <a:xfrm>
            <a:off x="1530949" y="4057942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708367-B1DB-4368-A7EA-76DB868616D8}"/>
              </a:ext>
            </a:extLst>
          </p:cNvPr>
          <p:cNvSpPr txBox="1"/>
          <p:nvPr/>
        </p:nvSpPr>
        <p:spPr>
          <a:xfrm>
            <a:off x="6161919" y="4078467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32</a:t>
            </a:r>
            <a:endParaRPr lang="zh-CN" altLang="en-US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6F75EDE-934A-4C9B-BC88-A96A3C7BAA4C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670721" y="2311657"/>
            <a:ext cx="346075" cy="64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533FB41-2C35-4EC8-B886-D0D5AE943EB9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1016796" y="2325911"/>
            <a:ext cx="319088" cy="6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496AA2D0-A5C3-4C46-B8F2-D34DB02B0AD4}"/>
              </a:ext>
            </a:extLst>
          </p:cNvPr>
          <p:cNvSpPr/>
          <p:nvPr/>
        </p:nvSpPr>
        <p:spPr>
          <a:xfrm>
            <a:off x="2876550" y="4057941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CEEF5E6-1806-42AA-B64F-E7D1CF0C3D48}"/>
              </a:ext>
            </a:extLst>
          </p:cNvPr>
          <p:cNvSpPr/>
          <p:nvPr/>
        </p:nvSpPr>
        <p:spPr>
          <a:xfrm>
            <a:off x="4924425" y="2954042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3EBE87F-2B41-4EE0-91FF-B50AD3F064C8}"/>
              </a:ext>
            </a:extLst>
          </p:cNvPr>
          <p:cNvSpPr/>
          <p:nvPr/>
        </p:nvSpPr>
        <p:spPr>
          <a:xfrm>
            <a:off x="2193925" y="5069181"/>
            <a:ext cx="3429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8293E30-02AA-456E-B518-98EC92A56D0E}"/>
              </a:ext>
            </a:extLst>
          </p:cNvPr>
          <p:cNvCxnSpPr>
            <a:cxnSpLocks/>
          </p:cNvCxnSpPr>
          <p:nvPr/>
        </p:nvCxnSpPr>
        <p:spPr>
          <a:xfrm>
            <a:off x="2022475" y="2330963"/>
            <a:ext cx="346075" cy="64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F076CB2-0DE2-4A8D-92A6-62A674BE45D2}"/>
              </a:ext>
            </a:extLst>
          </p:cNvPr>
          <p:cNvCxnSpPr>
            <a:cxnSpLocks/>
          </p:cNvCxnSpPr>
          <p:nvPr/>
        </p:nvCxnSpPr>
        <p:spPr>
          <a:xfrm flipH="1">
            <a:off x="2343150" y="2325911"/>
            <a:ext cx="319088" cy="6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29181DA-C603-4154-9879-274F30586554}"/>
              </a:ext>
            </a:extLst>
          </p:cNvPr>
          <p:cNvCxnSpPr>
            <a:cxnSpLocks/>
          </p:cNvCxnSpPr>
          <p:nvPr/>
        </p:nvCxnSpPr>
        <p:spPr>
          <a:xfrm>
            <a:off x="3384712" y="2343628"/>
            <a:ext cx="346075" cy="64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DA62F6B1-7F40-4487-B9E3-A5108A820288}"/>
              </a:ext>
            </a:extLst>
          </p:cNvPr>
          <p:cNvCxnSpPr>
            <a:cxnSpLocks/>
          </p:cNvCxnSpPr>
          <p:nvPr/>
        </p:nvCxnSpPr>
        <p:spPr>
          <a:xfrm>
            <a:off x="1156335" y="3380746"/>
            <a:ext cx="346075" cy="64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6707DF3C-CF7A-40F0-9638-B4654F3ACE63}"/>
              </a:ext>
            </a:extLst>
          </p:cNvPr>
          <p:cNvCxnSpPr>
            <a:cxnSpLocks/>
          </p:cNvCxnSpPr>
          <p:nvPr/>
        </p:nvCxnSpPr>
        <p:spPr>
          <a:xfrm flipH="1">
            <a:off x="3733603" y="2354611"/>
            <a:ext cx="319088" cy="6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61A26A23-F196-4985-9A9D-8DA55734E932}"/>
              </a:ext>
            </a:extLst>
          </p:cNvPr>
          <p:cNvCxnSpPr>
            <a:cxnSpLocks/>
          </p:cNvCxnSpPr>
          <p:nvPr/>
        </p:nvCxnSpPr>
        <p:spPr>
          <a:xfrm flipH="1">
            <a:off x="1878409" y="3379090"/>
            <a:ext cx="319088" cy="6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CC2A915-6DAB-4214-839D-4F927B5DED2B}"/>
              </a:ext>
            </a:extLst>
          </p:cNvPr>
          <p:cNvCxnSpPr>
            <a:cxnSpLocks/>
          </p:cNvCxnSpPr>
          <p:nvPr/>
        </p:nvCxnSpPr>
        <p:spPr>
          <a:xfrm>
            <a:off x="4736355" y="2318815"/>
            <a:ext cx="346075" cy="64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CBE14FC-C087-48F3-9D86-AD93FC37191A}"/>
              </a:ext>
            </a:extLst>
          </p:cNvPr>
          <p:cNvCxnSpPr>
            <a:cxnSpLocks/>
          </p:cNvCxnSpPr>
          <p:nvPr/>
        </p:nvCxnSpPr>
        <p:spPr>
          <a:xfrm flipH="1">
            <a:off x="5084811" y="2311657"/>
            <a:ext cx="319088" cy="6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E7567B90-3AFE-48E8-BC1C-BEFAF81117A7}"/>
              </a:ext>
            </a:extLst>
          </p:cNvPr>
          <p:cNvCxnSpPr>
            <a:cxnSpLocks/>
          </p:cNvCxnSpPr>
          <p:nvPr/>
        </p:nvCxnSpPr>
        <p:spPr>
          <a:xfrm>
            <a:off x="2618581" y="3380744"/>
            <a:ext cx="346075" cy="64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C402BEC-CEBB-42C0-8925-C101943CB3C8}"/>
              </a:ext>
            </a:extLst>
          </p:cNvPr>
          <p:cNvCxnSpPr>
            <a:cxnSpLocks/>
          </p:cNvCxnSpPr>
          <p:nvPr/>
        </p:nvCxnSpPr>
        <p:spPr>
          <a:xfrm>
            <a:off x="3907789" y="3351153"/>
            <a:ext cx="346075" cy="64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E965EDB3-110E-4002-92B8-E5240E0C20E2}"/>
              </a:ext>
            </a:extLst>
          </p:cNvPr>
          <p:cNvCxnSpPr>
            <a:cxnSpLocks/>
          </p:cNvCxnSpPr>
          <p:nvPr/>
        </p:nvCxnSpPr>
        <p:spPr>
          <a:xfrm flipH="1">
            <a:off x="3226515" y="3365407"/>
            <a:ext cx="319088" cy="6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E18E1B5-8D80-4CC3-9E59-C33D3B599782}"/>
              </a:ext>
            </a:extLst>
          </p:cNvPr>
          <p:cNvCxnSpPr>
            <a:cxnSpLocks/>
          </p:cNvCxnSpPr>
          <p:nvPr/>
        </p:nvCxnSpPr>
        <p:spPr>
          <a:xfrm flipH="1">
            <a:off x="4609983" y="3358280"/>
            <a:ext cx="319088" cy="6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05CA2A2F-E707-40EA-B3FD-B2F97DDB89FC}"/>
              </a:ext>
            </a:extLst>
          </p:cNvPr>
          <p:cNvCxnSpPr>
            <a:cxnSpLocks/>
          </p:cNvCxnSpPr>
          <p:nvPr/>
        </p:nvCxnSpPr>
        <p:spPr>
          <a:xfrm>
            <a:off x="1859265" y="4409832"/>
            <a:ext cx="346075" cy="64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8F30578A-6418-49C0-BFB5-AFE0BB8AEB82}"/>
              </a:ext>
            </a:extLst>
          </p:cNvPr>
          <p:cNvCxnSpPr>
            <a:cxnSpLocks/>
          </p:cNvCxnSpPr>
          <p:nvPr/>
        </p:nvCxnSpPr>
        <p:spPr>
          <a:xfrm flipH="1">
            <a:off x="2533650" y="4447508"/>
            <a:ext cx="319088" cy="6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8" name="图片 67">
            <a:extLst>
              <a:ext uri="{FF2B5EF4-FFF2-40B4-BE49-F238E27FC236}">
                <a16:creationId xmlns:a16="http://schemas.microsoft.com/office/drawing/2014/main" id="{33E9ADBC-F5BC-4223-B08F-E0E95BAC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668" y="1346128"/>
            <a:ext cx="4504762" cy="3580952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3389E54A-9F3C-403D-AE36-A0A536A146C9}"/>
              </a:ext>
            </a:extLst>
          </p:cNvPr>
          <p:cNvSpPr txBox="1"/>
          <p:nvPr/>
        </p:nvSpPr>
        <p:spPr>
          <a:xfrm>
            <a:off x="7229271" y="5094074"/>
            <a:ext cx="4500882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请自行设计加法树，所提供代码的加法树的流水级数设为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9336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B0093-0DB7-5F74-CB24-021886CFD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30927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0497F-A37C-7BB0-EC25-B8324153D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869246"/>
            <a:ext cx="10972800" cy="372348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加法树设计要点：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两个两个相加，不要出现两个以上数的加法写在一行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可以为每层单独使用</a:t>
            </a:r>
            <a:r>
              <a:rPr lang="en-US" altLang="zh-CN" dirty="0"/>
              <a:t>generate-for</a:t>
            </a:r>
            <a:r>
              <a:rPr lang="zh-CN" altLang="en-US" dirty="0"/>
              <a:t>语句例化多个自定义的加法器</a:t>
            </a:r>
            <a:r>
              <a:rPr lang="en-US" altLang="zh-CN" dirty="0"/>
              <a:t>module</a:t>
            </a:r>
            <a:r>
              <a:rPr lang="zh-CN" altLang="en-US" dirty="0"/>
              <a:t>，方便在个别层插入寄存器实现流水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A937F0-9C06-79A2-AA20-DA2BEBF20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AEFC38-C2F4-E0D1-AEC6-7D22B591EA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6A33D15-F6B7-9B1C-AFE8-2A236B46951C}"/>
              </a:ext>
            </a:extLst>
          </p:cNvPr>
          <p:cNvSpPr/>
          <p:nvPr/>
        </p:nvSpPr>
        <p:spPr>
          <a:xfrm>
            <a:off x="485775" y="1164431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8-10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：加法树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F462390-2CC5-D144-A1A6-12B9BB320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385" y="4662804"/>
            <a:ext cx="5471809" cy="146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24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9BB6-AE7A-4D13-B48D-F354BC9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B5917-4D49-484A-9CA7-8DC3FA43F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269B48-EA9E-497D-B193-6F1F1BD5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EB564F-4CE3-4757-8B30-802D94288905}"/>
              </a:ext>
            </a:extLst>
          </p:cNvPr>
          <p:cNvSpPr/>
          <p:nvPr/>
        </p:nvSpPr>
        <p:spPr>
          <a:xfrm>
            <a:off x="819150" y="1171576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：单个通道加法结果的累加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029C541-0AE9-4C50-909B-B5241C19B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01" y="2200480"/>
            <a:ext cx="5819048" cy="327619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49489EC-44C3-483A-8899-0617ABA59087}"/>
              </a:ext>
            </a:extLst>
          </p:cNvPr>
          <p:cNvSpPr txBox="1"/>
          <p:nvPr/>
        </p:nvSpPr>
        <p:spPr>
          <a:xfrm>
            <a:off x="7086600" y="2994049"/>
            <a:ext cx="4819650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以相应延迟循环变量的数值作为条件选择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channel_accum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的计算方式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7614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9BB6-AE7A-4D13-B48D-F354BC9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B5917-4D49-484A-9CA7-8DC3FA43F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269B48-EA9E-497D-B193-6F1F1BD5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7156B95-71D2-4939-BC62-F3091F446CD5}"/>
              </a:ext>
            </a:extLst>
          </p:cNvPr>
          <p:cNvSpPr/>
          <p:nvPr/>
        </p:nvSpPr>
        <p:spPr>
          <a:xfrm>
            <a:off x="609600" y="1354139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12-13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：加偏置，计算激活值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7EAA96-CB2C-40AB-8418-7BC69D76E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3" y="3614887"/>
            <a:ext cx="8923809" cy="23904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D6E0903-2C1D-4A84-A928-AC261E487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286" y="2071317"/>
            <a:ext cx="4285714" cy="2780952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E94E299-9ED7-4C83-B6AE-FD874C4C8B48}"/>
              </a:ext>
            </a:extLst>
          </p:cNvPr>
          <p:cNvCxnSpPr>
            <a:cxnSpLocks/>
          </p:cNvCxnSpPr>
          <p:nvPr/>
        </p:nvCxnSpPr>
        <p:spPr>
          <a:xfrm>
            <a:off x="2771775" y="3009900"/>
            <a:ext cx="1943100" cy="21374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AE0BFA3-68AA-4A3D-9464-FCE70DAA9CF5}"/>
              </a:ext>
            </a:extLst>
          </p:cNvPr>
          <p:cNvCxnSpPr/>
          <p:nvPr/>
        </p:nvCxnSpPr>
        <p:spPr>
          <a:xfrm>
            <a:off x="5553075" y="3080470"/>
            <a:ext cx="1085850" cy="2066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968BE49-EFC0-4B8C-8462-617919445454}"/>
              </a:ext>
            </a:extLst>
          </p:cNvPr>
          <p:cNvSpPr txBox="1"/>
          <p:nvPr/>
        </p:nvSpPr>
        <p:spPr>
          <a:xfrm>
            <a:off x="1390651" y="2607822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某个延迟后的循环变量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4F90419-818E-4ECB-A4BC-27AFC74EC354}"/>
              </a:ext>
            </a:extLst>
          </p:cNvPr>
          <p:cNvSpPr txBox="1"/>
          <p:nvPr/>
        </p:nvSpPr>
        <p:spPr>
          <a:xfrm>
            <a:off x="4419601" y="2513738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输入的偏置延迟多少个时钟周期？</a:t>
            </a:r>
          </a:p>
        </p:txBody>
      </p:sp>
    </p:spTree>
    <p:extLst>
      <p:ext uri="{BB962C8B-B14F-4D97-AF65-F5344CB8AC3E}">
        <p14:creationId xmlns:p14="http://schemas.microsoft.com/office/powerpoint/2010/main" val="347822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9BB6-AE7A-4D13-B48D-F354BC9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B5917-4D49-484A-9CA7-8DC3FA43F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269B48-EA9E-497D-B193-6F1F1BD5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B69F8B5-9EAB-4112-9846-6D9E744D4457}"/>
              </a:ext>
            </a:extLst>
          </p:cNvPr>
          <p:cNvSpPr/>
          <p:nvPr/>
        </p:nvSpPr>
        <p:spPr>
          <a:xfrm>
            <a:off x="628650" y="1343027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：输出单个通道的激活值、写数据地址、写使能信号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D73FCC-E0C4-4D10-B5E4-05D1BD86F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32357"/>
            <a:ext cx="7209524" cy="246666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64C1A0B-D6BF-464A-8E09-41746C9A69D0}"/>
              </a:ext>
            </a:extLst>
          </p:cNvPr>
          <p:cNvSpPr txBox="1"/>
          <p:nvPr/>
        </p:nvSpPr>
        <p:spPr>
          <a:xfrm>
            <a:off x="8517467" y="2544165"/>
            <a:ext cx="2952750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选择合适的延迟后的循环变量定义输出数据的写使能信号、地址</a:t>
            </a:r>
          </a:p>
        </p:txBody>
      </p:sp>
    </p:spTree>
    <p:extLst>
      <p:ext uri="{BB962C8B-B14F-4D97-AF65-F5344CB8AC3E}">
        <p14:creationId xmlns:p14="http://schemas.microsoft.com/office/powerpoint/2010/main" val="4274517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59BB6-AE7A-4D13-B48D-F354BC9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B5917-4D49-484A-9CA7-8DC3FA43F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269B48-EA9E-497D-B193-6F1F1BD5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——fc</a:t>
            </a:r>
            <a:r>
              <a:rPr lang="zh-CN" altLang="en-US" dirty="0"/>
              <a:t>模块代码解释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D26808B-FC52-45C5-A0DA-784D0A5E013C}"/>
              </a:ext>
            </a:extLst>
          </p:cNvPr>
          <p:cNvSpPr/>
          <p:nvPr/>
        </p:nvSpPr>
        <p:spPr>
          <a:xfrm>
            <a:off x="609600" y="1258093"/>
            <a:ext cx="5467350" cy="61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流水线阶段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done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F8B7C5-0867-4C2B-8210-804D78C0BBFA}"/>
              </a:ext>
            </a:extLst>
          </p:cNvPr>
          <p:cNvSpPr txBox="1"/>
          <p:nvPr/>
        </p:nvSpPr>
        <p:spPr>
          <a:xfrm>
            <a:off x="609600" y="2312987"/>
            <a:ext cx="8543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请根据合适的延迟后的循环变量定义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</p:txBody>
      </p:sp>
    </p:spTree>
    <p:extLst>
      <p:ext uri="{BB962C8B-B14F-4D97-AF65-F5344CB8AC3E}">
        <p14:creationId xmlns:p14="http://schemas.microsoft.com/office/powerpoint/2010/main" val="3574664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E00C7-6E73-4E77-8A88-2216CB75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124" y="193673"/>
            <a:ext cx="9616965" cy="615950"/>
          </a:xfrm>
        </p:spPr>
        <p:txBody>
          <a:bodyPr/>
          <a:lstStyle/>
          <a:p>
            <a:r>
              <a:rPr lang="zh-CN" altLang="en-US" dirty="0"/>
              <a:t>模块设计提示</a:t>
            </a:r>
            <a:r>
              <a:rPr lang="en-US" altLang="zh-CN" dirty="0"/>
              <a:t>——</a:t>
            </a:r>
            <a:r>
              <a:rPr lang="en-US" altLang="zh-CN" dirty="0" err="1"/>
              <a:t>mult_array</a:t>
            </a:r>
            <a:r>
              <a:rPr lang="zh-CN" altLang="en-US" dirty="0"/>
              <a:t>模块（乘法器阵列）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3C38E2-1BC1-4FE0-B784-715B095C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5370E9-71DE-45E1-94E4-0DDD0D7318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4A265F-36BD-49FE-B8A9-F74890BA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041819"/>
            <a:ext cx="5464138" cy="2774361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546C787D-3ABC-42DD-9ACF-4EF68C54350D}"/>
              </a:ext>
            </a:extLst>
          </p:cNvPr>
          <p:cNvSpPr/>
          <p:nvPr/>
        </p:nvSpPr>
        <p:spPr>
          <a:xfrm>
            <a:off x="2032000" y="3800475"/>
            <a:ext cx="1587500" cy="1085850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972BEA0-6940-4284-809E-18B7A6A2F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1676" y="1911351"/>
            <a:ext cx="6343649" cy="346074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使用</a:t>
            </a:r>
            <a:r>
              <a:rPr lang="en-US" altLang="zh-CN" dirty="0"/>
              <a:t>Multiplier IP</a:t>
            </a:r>
            <a:r>
              <a:rPr lang="zh-CN" altLang="en-US" dirty="0"/>
              <a:t>核生成单个乘法器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利用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generate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语句进行多个并行的乘法器模块的重复例化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注意需要对乘法器阵列输入进行拆分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7915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E00C7-6E73-4E77-8A88-2216CB75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569" y="193673"/>
            <a:ext cx="5376862" cy="615950"/>
          </a:xfrm>
        </p:spPr>
        <p:txBody>
          <a:bodyPr/>
          <a:lstStyle/>
          <a:p>
            <a:r>
              <a:rPr lang="zh-CN" altLang="en-US" dirty="0"/>
              <a:t>模块设计提示</a:t>
            </a:r>
            <a:r>
              <a:rPr lang="en-US" altLang="zh-CN" dirty="0"/>
              <a:t>——RAM</a:t>
            </a:r>
            <a:r>
              <a:rPr lang="zh-CN" altLang="en-US" dirty="0"/>
              <a:t>模块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3C38E2-1BC1-4FE0-B784-715B095C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5370E9-71DE-45E1-94E4-0DDD0D7318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4A265F-36BD-49FE-B8A9-F74890BA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041819"/>
            <a:ext cx="5464138" cy="2774361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546C787D-3ABC-42DD-9ACF-4EF68C54350D}"/>
              </a:ext>
            </a:extLst>
          </p:cNvPr>
          <p:cNvSpPr/>
          <p:nvPr/>
        </p:nvSpPr>
        <p:spPr>
          <a:xfrm>
            <a:off x="3622675" y="2041819"/>
            <a:ext cx="1908138" cy="2558756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308571-CE32-4947-BA89-6975138C87F8}"/>
              </a:ext>
            </a:extLst>
          </p:cNvPr>
          <p:cNvSpPr/>
          <p:nvPr/>
        </p:nvSpPr>
        <p:spPr>
          <a:xfrm>
            <a:off x="66675" y="2676525"/>
            <a:ext cx="1908138" cy="1257300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C4526A-F97A-455B-B184-4495E3E630CC}"/>
              </a:ext>
            </a:extLst>
          </p:cNvPr>
          <p:cNvSpPr txBox="1"/>
          <p:nvPr/>
        </p:nvSpPr>
        <p:spPr>
          <a:xfrm>
            <a:off x="5802842" y="1697258"/>
            <a:ext cx="5876925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可以选择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 Memory Generator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生成对应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Vivado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可使用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文件完成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的初始化（相当于提前向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写好后续会读取的数据）</a:t>
            </a:r>
          </a:p>
        </p:txBody>
      </p:sp>
    </p:spTree>
    <p:extLst>
      <p:ext uri="{BB962C8B-B14F-4D97-AF65-F5344CB8AC3E}">
        <p14:creationId xmlns:p14="http://schemas.microsoft.com/office/powerpoint/2010/main" val="27569364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89536-1F8F-6BF5-CF94-A421B21C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30323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——RAM</a:t>
            </a:r>
            <a:r>
              <a:rPr lang="zh-CN" altLang="en-US" dirty="0"/>
              <a:t>模块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4C84BF-A32D-5CB2-65CB-A9DF4A5CC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4BE827-4019-8331-C94A-00D4480D1E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2D1644-E451-3463-23BA-3E897E1F2288}"/>
              </a:ext>
            </a:extLst>
          </p:cNvPr>
          <p:cNvSpPr txBox="1"/>
          <p:nvPr/>
        </p:nvSpPr>
        <p:spPr>
          <a:xfrm>
            <a:off x="680936" y="1167320"/>
            <a:ext cx="5019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E4CD52-4A50-D780-A067-5D677E07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58" y="2011587"/>
            <a:ext cx="3852999" cy="332330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1ED803A-51FF-C077-80BF-EA6B69904946}"/>
              </a:ext>
            </a:extLst>
          </p:cNvPr>
          <p:cNvSpPr txBox="1"/>
          <p:nvPr/>
        </p:nvSpPr>
        <p:spPr>
          <a:xfrm>
            <a:off x="6238672" y="1702835"/>
            <a:ext cx="5441095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文件是一种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文本文件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，文件头部定义数据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基数（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Radix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的形式给出，向量以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分号结尾，向量之间用逗号隔开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的更多信息可以自行搜索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C8B3D0-5687-B44B-6FBD-138AF5A55340}"/>
              </a:ext>
            </a:extLst>
          </p:cNvPr>
          <p:cNvSpPr txBox="1"/>
          <p:nvPr/>
        </p:nvSpPr>
        <p:spPr>
          <a:xfrm>
            <a:off x="84306" y="2342670"/>
            <a:ext cx="119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340947-F71A-D72E-4D59-8F3CD07D95F7}"/>
              </a:ext>
            </a:extLst>
          </p:cNvPr>
          <p:cNvSpPr txBox="1"/>
          <p:nvPr/>
        </p:nvSpPr>
        <p:spPr>
          <a:xfrm>
            <a:off x="84306" y="2832136"/>
            <a:ext cx="119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BC16E0-AAEA-43F7-1801-495E6B8437F6}"/>
              </a:ext>
            </a:extLst>
          </p:cNvPr>
          <p:cNvSpPr txBox="1"/>
          <p:nvPr/>
        </p:nvSpPr>
        <p:spPr>
          <a:xfrm>
            <a:off x="84306" y="3317579"/>
            <a:ext cx="119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90898CC-F4B5-5E72-6A31-6D684177D48B}"/>
              </a:ext>
            </a:extLst>
          </p:cNvPr>
          <p:cNvCxnSpPr/>
          <p:nvPr/>
        </p:nvCxnSpPr>
        <p:spPr>
          <a:xfrm flipH="1" flipV="1">
            <a:off x="881974" y="2527336"/>
            <a:ext cx="1355388" cy="1846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823D414-B0F3-3A92-DDFE-FCE451FFC872}"/>
              </a:ext>
            </a:extLst>
          </p:cNvPr>
          <p:cNvCxnSpPr>
            <a:cxnSpLocks/>
          </p:cNvCxnSpPr>
          <p:nvPr/>
        </p:nvCxnSpPr>
        <p:spPr>
          <a:xfrm flipH="1">
            <a:off x="808170" y="2999558"/>
            <a:ext cx="1429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B627B24-17F1-5B40-6772-6D96C7AFD67D}"/>
              </a:ext>
            </a:extLst>
          </p:cNvPr>
          <p:cNvCxnSpPr>
            <a:cxnSpLocks/>
          </p:cNvCxnSpPr>
          <p:nvPr/>
        </p:nvCxnSpPr>
        <p:spPr>
          <a:xfrm flipH="1">
            <a:off x="881974" y="3268145"/>
            <a:ext cx="1355388" cy="220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203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0770B-45E3-758B-239C-BF2A1004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3680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——RAM</a:t>
            </a:r>
            <a:r>
              <a:rPr lang="zh-CN" altLang="en-US" dirty="0"/>
              <a:t>模块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56D4BF-AD35-FEA3-25AC-9838D0A73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8273" y="2376396"/>
            <a:ext cx="4727642" cy="1560063"/>
          </a:xfrm>
        </p:spPr>
        <p:txBody>
          <a:bodyPr/>
          <a:lstStyle/>
          <a:p>
            <a:r>
              <a:rPr lang="en-US" altLang="zh-CN" dirty="0" err="1"/>
              <a:t>coe</a:t>
            </a:r>
            <a:r>
              <a:rPr lang="zh-CN" altLang="en-US" dirty="0"/>
              <a:t>文件的数据排列方式如左图所示，按照输出通道进行排列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61C9E-AE0A-3D1C-C6C3-920E398F0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80B844-A63F-8E28-5CCA-7C107E04E3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D169B0-98FC-F868-7DDF-E46B90B71A54}"/>
              </a:ext>
            </a:extLst>
          </p:cNvPr>
          <p:cNvSpPr/>
          <p:nvPr/>
        </p:nvSpPr>
        <p:spPr>
          <a:xfrm>
            <a:off x="330741" y="1608308"/>
            <a:ext cx="4325566" cy="337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9E5741-D5E6-546B-E3A5-DB137CA4D5FA}"/>
              </a:ext>
            </a:extLst>
          </p:cNvPr>
          <p:cNvSpPr/>
          <p:nvPr/>
        </p:nvSpPr>
        <p:spPr>
          <a:xfrm>
            <a:off x="330741" y="2209059"/>
            <a:ext cx="4325566" cy="337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967829-C092-9C56-A5E2-6B9AFEEDDBA0}"/>
              </a:ext>
            </a:extLst>
          </p:cNvPr>
          <p:cNvSpPr/>
          <p:nvPr/>
        </p:nvSpPr>
        <p:spPr>
          <a:xfrm>
            <a:off x="330741" y="2840022"/>
            <a:ext cx="4325566" cy="337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6BCD60-44BA-C7BD-2DE7-78996756F1B3}"/>
              </a:ext>
            </a:extLst>
          </p:cNvPr>
          <p:cNvSpPr/>
          <p:nvPr/>
        </p:nvSpPr>
        <p:spPr>
          <a:xfrm>
            <a:off x="330741" y="3499526"/>
            <a:ext cx="4325566" cy="3372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0EC697-8644-BBB5-FC8A-6A01A434C230}"/>
              </a:ext>
            </a:extLst>
          </p:cNvPr>
          <p:cNvSpPr/>
          <p:nvPr/>
        </p:nvSpPr>
        <p:spPr>
          <a:xfrm>
            <a:off x="330741" y="4156817"/>
            <a:ext cx="4325566" cy="3372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5F38C4-4086-8E0A-E589-9F03250CA9DF}"/>
              </a:ext>
            </a:extLst>
          </p:cNvPr>
          <p:cNvSpPr/>
          <p:nvPr/>
        </p:nvSpPr>
        <p:spPr>
          <a:xfrm>
            <a:off x="330741" y="4814108"/>
            <a:ext cx="4325566" cy="3372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D9200C-0E22-A7E4-5B1E-BE625BFCA5BE}"/>
              </a:ext>
            </a:extLst>
          </p:cNvPr>
          <p:cNvSpPr/>
          <p:nvPr/>
        </p:nvSpPr>
        <p:spPr>
          <a:xfrm>
            <a:off x="330741" y="5408973"/>
            <a:ext cx="4325566" cy="3372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6D9C95C-A81E-B2D0-564B-D69595B468D0}"/>
              </a:ext>
            </a:extLst>
          </p:cNvPr>
          <p:cNvSpPr/>
          <p:nvPr/>
        </p:nvSpPr>
        <p:spPr>
          <a:xfrm flipV="1">
            <a:off x="2464454" y="2667837"/>
            <a:ext cx="47626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AED6499-40CA-FFA5-D718-364E60EAB026}"/>
              </a:ext>
            </a:extLst>
          </p:cNvPr>
          <p:cNvSpPr/>
          <p:nvPr/>
        </p:nvSpPr>
        <p:spPr>
          <a:xfrm flipV="1">
            <a:off x="2464454" y="2575311"/>
            <a:ext cx="47626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C12662-DB3F-6579-FB12-0CF3B65DB340}"/>
              </a:ext>
            </a:extLst>
          </p:cNvPr>
          <p:cNvSpPr/>
          <p:nvPr/>
        </p:nvSpPr>
        <p:spPr>
          <a:xfrm flipV="1">
            <a:off x="2464454" y="2758204"/>
            <a:ext cx="47626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B226575-2825-CD8A-7686-1D9CC072A077}"/>
              </a:ext>
            </a:extLst>
          </p:cNvPr>
          <p:cNvSpPr/>
          <p:nvPr/>
        </p:nvSpPr>
        <p:spPr>
          <a:xfrm flipV="1">
            <a:off x="2416828" y="4632294"/>
            <a:ext cx="47626" cy="45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13E3C4A-8DF9-A410-DDF4-8B56CAD0E1C9}"/>
              </a:ext>
            </a:extLst>
          </p:cNvPr>
          <p:cNvSpPr/>
          <p:nvPr/>
        </p:nvSpPr>
        <p:spPr>
          <a:xfrm flipV="1">
            <a:off x="2416828" y="4539768"/>
            <a:ext cx="47626" cy="45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78462E0-50A4-6659-A066-0CA953C71B77}"/>
              </a:ext>
            </a:extLst>
          </p:cNvPr>
          <p:cNvSpPr/>
          <p:nvPr/>
        </p:nvSpPr>
        <p:spPr>
          <a:xfrm flipV="1">
            <a:off x="2416828" y="4722661"/>
            <a:ext cx="47626" cy="457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ADBFB6A6-143B-31F3-083B-70BE0276FEA6}"/>
              </a:ext>
            </a:extLst>
          </p:cNvPr>
          <p:cNvSpPr/>
          <p:nvPr/>
        </p:nvSpPr>
        <p:spPr>
          <a:xfrm rot="10800000">
            <a:off x="4806043" y="1758043"/>
            <a:ext cx="431345" cy="11811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左大括号 22">
            <a:extLst>
              <a:ext uri="{FF2B5EF4-FFF2-40B4-BE49-F238E27FC236}">
                <a16:creationId xmlns:a16="http://schemas.microsoft.com/office/drawing/2014/main" id="{8D6296C1-7C4F-5227-1436-E21D0925D24D}"/>
              </a:ext>
            </a:extLst>
          </p:cNvPr>
          <p:cNvSpPr/>
          <p:nvPr/>
        </p:nvSpPr>
        <p:spPr>
          <a:xfrm rot="10800000">
            <a:off x="4824267" y="3684003"/>
            <a:ext cx="431345" cy="11811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9F9A45A9-D2F3-9097-E432-3137408FB7CE}"/>
              </a:ext>
            </a:extLst>
          </p:cNvPr>
          <p:cNvSpPr/>
          <p:nvPr/>
        </p:nvSpPr>
        <p:spPr>
          <a:xfrm rot="10800000">
            <a:off x="4867541" y="5408973"/>
            <a:ext cx="344796" cy="7381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483158E-2BF6-9213-E241-6C9DD85BA299}"/>
              </a:ext>
            </a:extLst>
          </p:cNvPr>
          <p:cNvSpPr txBox="1"/>
          <p:nvPr/>
        </p:nvSpPr>
        <p:spPr>
          <a:xfrm>
            <a:off x="5312229" y="2163927"/>
            <a:ext cx="134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输出通道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D407D22-D998-319E-BC5C-D6EC89F2248D}"/>
              </a:ext>
            </a:extLst>
          </p:cNvPr>
          <p:cNvSpPr txBox="1"/>
          <p:nvPr/>
        </p:nvSpPr>
        <p:spPr>
          <a:xfrm>
            <a:off x="5312229" y="5561532"/>
            <a:ext cx="134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输出通道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0859A6-85EE-2C7D-0A83-F60AC60ED694}"/>
              </a:ext>
            </a:extLst>
          </p:cNvPr>
          <p:cNvSpPr txBox="1"/>
          <p:nvPr/>
        </p:nvSpPr>
        <p:spPr>
          <a:xfrm>
            <a:off x="5312229" y="4117741"/>
            <a:ext cx="134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输出通道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837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EC3393-D858-BE62-5E14-828A01FC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837C8F-4AA9-5AE0-A51E-76501F58E2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A007045-D84E-CAA5-4060-851BD6EE0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10867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模块设计提示</a:t>
            </a:r>
            <a:r>
              <a:rPr lang="en-US" altLang="zh-CN" dirty="0"/>
              <a:t>——RAM</a:t>
            </a:r>
            <a:r>
              <a:rPr lang="zh-CN" altLang="en-US" dirty="0"/>
              <a:t>模块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CCB66B-2447-9C08-F2B1-01969DA60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7" y="1212605"/>
            <a:ext cx="8918338" cy="416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30A3E84-04BA-43B4-8547-57851F236B84}"/>
              </a:ext>
            </a:extLst>
          </p:cNvPr>
          <p:cNvSpPr txBox="1"/>
          <p:nvPr/>
        </p:nvSpPr>
        <p:spPr>
          <a:xfrm>
            <a:off x="9416665" y="1673155"/>
            <a:ext cx="2587467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输出结果时的写操作：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拉高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信号，输入相应的地址和数据即可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9DDDA95-8486-E508-FBD8-8869D6895054}"/>
              </a:ext>
            </a:extLst>
          </p:cNvPr>
          <p:cNvCxnSpPr/>
          <p:nvPr/>
        </p:nvCxnSpPr>
        <p:spPr>
          <a:xfrm>
            <a:off x="3929974" y="2088204"/>
            <a:ext cx="273671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989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71049-E980-4DD6-AB5C-9F6D67A1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013" y="223838"/>
            <a:ext cx="3609974" cy="615950"/>
          </a:xfrm>
        </p:spPr>
        <p:txBody>
          <a:bodyPr/>
          <a:lstStyle/>
          <a:p>
            <a:r>
              <a:rPr lang="zh-CN" altLang="en-US" dirty="0"/>
              <a:t>模块仿真调试技巧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AD26AB-32CD-400D-A124-F70FACDE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67F6B7-64B0-4CCB-BCC7-400B771171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A18A64-7FD7-4D28-BE15-C461B11F4553}"/>
              </a:ext>
            </a:extLst>
          </p:cNvPr>
          <p:cNvSpPr txBox="1"/>
          <p:nvPr/>
        </p:nvSpPr>
        <p:spPr>
          <a:xfrm>
            <a:off x="609600" y="1590675"/>
            <a:ext cx="10706100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开始时可以降低网络规模，减少输入输出通道数量，在输入数据、权重以及偏置的数据选择上挑选一些特殊值来方便排查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信号，比如各个流水线阶段触发的信号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跟踪部分结果的整个计算过程，确定输入数据、中间结果、运算时机是否正常</a:t>
            </a:r>
          </a:p>
        </p:txBody>
      </p:sp>
    </p:spTree>
    <p:extLst>
      <p:ext uri="{BB962C8B-B14F-4D97-AF65-F5344CB8AC3E}">
        <p14:creationId xmlns:p14="http://schemas.microsoft.com/office/powerpoint/2010/main" val="1078860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CFC88-F9C5-474D-B0EC-00B475235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947" y="204788"/>
            <a:ext cx="2628106" cy="615950"/>
          </a:xfrm>
        </p:spPr>
        <p:txBody>
          <a:bodyPr/>
          <a:lstStyle/>
          <a:p>
            <a:r>
              <a:rPr lang="zh-CN" altLang="en-US" dirty="0"/>
              <a:t>仿真结果示例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94F785-594D-44E2-81FF-7BB15C31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DFB7BE-9661-4974-8F0A-B3D98B3DFF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DC6067-CB08-42FB-B147-984A142AF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033374"/>
            <a:ext cx="9382125" cy="37456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433CE19-399A-4042-889A-2D16AA57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1" y="4991666"/>
            <a:ext cx="6019048" cy="8190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5F6251D-7D31-425E-9A58-F3BD2016E0D9}"/>
              </a:ext>
            </a:extLst>
          </p:cNvPr>
          <p:cNvSpPr txBox="1"/>
          <p:nvPr/>
        </p:nvSpPr>
        <p:spPr>
          <a:xfrm>
            <a:off x="1610101" y="521652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与输出参考一致</a:t>
            </a:r>
          </a:p>
        </p:txBody>
      </p:sp>
    </p:spTree>
    <p:extLst>
      <p:ext uri="{BB962C8B-B14F-4D97-AF65-F5344CB8AC3E}">
        <p14:creationId xmlns:p14="http://schemas.microsoft.com/office/powerpoint/2010/main" val="179641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8E774-1194-4788-86ED-F609CE1F9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23838"/>
            <a:ext cx="10878206" cy="615950"/>
          </a:xfrm>
        </p:spPr>
        <p:txBody>
          <a:bodyPr/>
          <a:lstStyle/>
          <a:p>
            <a:pPr algn="ctr"/>
            <a:r>
              <a:rPr lang="zh-CN" altLang="en-US" dirty="0"/>
              <a:t>实验任务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DEEFA7-B325-4DEA-8D87-F4EE6FFB5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86" y="1053306"/>
            <a:ext cx="12002814" cy="4751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补全</a:t>
            </a:r>
            <a:r>
              <a:rPr lang="en-US" altLang="zh-CN" dirty="0" err="1"/>
              <a:t>fc.v</a:t>
            </a:r>
            <a:r>
              <a:rPr lang="zh-CN" altLang="en-US" dirty="0"/>
              <a:t>文件，即</a:t>
            </a:r>
            <a:r>
              <a:rPr lang="en-US" altLang="zh-CN" dirty="0"/>
              <a:t>fc</a:t>
            </a:r>
            <a:r>
              <a:rPr lang="zh-CN" altLang="en-US" dirty="0"/>
              <a:t>模块代码（注意其中的加法树模块也需要自行编写）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使用</a:t>
            </a:r>
            <a:r>
              <a:rPr lang="en-US" altLang="zh-CN" dirty="0" err="1"/>
              <a:t>Vivado</a:t>
            </a:r>
            <a:r>
              <a:rPr lang="zh-CN" altLang="en-US" dirty="0"/>
              <a:t>现有的</a:t>
            </a:r>
            <a:r>
              <a:rPr lang="en-US" altLang="zh-CN" dirty="0"/>
              <a:t>IP</a:t>
            </a:r>
            <a:r>
              <a:rPr lang="zh-CN" altLang="en-US" dirty="0"/>
              <a:t>核生成</a:t>
            </a:r>
            <a:r>
              <a:rPr lang="en-US" altLang="zh-CN" dirty="0"/>
              <a:t>RAM</a:t>
            </a:r>
            <a:r>
              <a:rPr lang="zh-CN" altLang="en-US" dirty="0"/>
              <a:t>模块和乘法器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生成乘法器阵列的顶层代码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生成单层全连接的顶层代码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编写</a:t>
            </a:r>
            <a:r>
              <a:rPr lang="en-US" altLang="zh-CN" dirty="0"/>
              <a:t>testbench</a:t>
            </a:r>
            <a:r>
              <a:rPr lang="zh-CN" altLang="en-US" dirty="0"/>
              <a:t>后进行仿真调试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将</a:t>
            </a:r>
            <a:r>
              <a:rPr lang="en-US" altLang="zh-CN" dirty="0" err="1"/>
              <a:t>fc_output_data_o</a:t>
            </a:r>
            <a:r>
              <a:rPr lang="zh-CN" altLang="en-US" dirty="0"/>
              <a:t>的结果另存为</a:t>
            </a:r>
            <a:r>
              <a:rPr lang="en-US" altLang="zh-CN" dirty="0"/>
              <a:t>txt</a:t>
            </a:r>
            <a:r>
              <a:rPr lang="zh-CN" altLang="en-US" dirty="0"/>
              <a:t>文件，可视化之后与输出参考比较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D36364-66AE-41A5-8A3A-9CD61159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9C24F5-8EED-4CC9-995A-CF38582092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941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B4755-D0CF-4742-89A8-1B3CBEDCE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222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验收方式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799D490-389E-4C1A-BAA5-1650E843F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836" y="1535350"/>
            <a:ext cx="6312164" cy="3787299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5ECC8-C47B-493A-AA42-CCDB748C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D1F3EC-AEFF-4C86-83EE-676FA2A58B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1BC359-3AF5-4844-B0F7-874B7017FD32}"/>
              </a:ext>
            </a:extLst>
          </p:cNvPr>
          <p:cNvSpPr txBox="1"/>
          <p:nvPr/>
        </p:nvSpPr>
        <p:spPr>
          <a:xfrm>
            <a:off x="7867650" y="5322649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第一个样本输出特征图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46C0FD-52CE-DBDB-104C-0239EE7D0F9C}"/>
              </a:ext>
            </a:extLst>
          </p:cNvPr>
          <p:cNvSpPr txBox="1"/>
          <p:nvPr/>
        </p:nvSpPr>
        <p:spPr>
          <a:xfrm>
            <a:off x="609600" y="2379945"/>
            <a:ext cx="5002924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运行行为级仿真，将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fc_output_data_o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的结果另存为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txt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文件，可视化之后与右图比较</a:t>
            </a:r>
          </a:p>
        </p:txBody>
      </p:sp>
    </p:spTree>
    <p:extLst>
      <p:ext uri="{BB962C8B-B14F-4D97-AF65-F5344CB8AC3E}">
        <p14:creationId xmlns:p14="http://schemas.microsoft.com/office/powerpoint/2010/main" val="2917758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ECC43-3CD9-4947-A233-3072D0102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85750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提供资料解释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D80302-735A-4708-A16C-41B310B1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732A97-66EB-4CFE-BBA2-DD5CAE3F78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7F138C-DD22-488D-A64B-ED1E13E0CF55}"/>
              </a:ext>
            </a:extLst>
          </p:cNvPr>
          <p:cNvSpPr txBox="1"/>
          <p:nvPr/>
        </p:nvSpPr>
        <p:spPr>
          <a:xfrm>
            <a:off x="609600" y="3153869"/>
            <a:ext cx="9744075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输入数据：单层全连接模块的一个输入样本数据，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维数据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模型参数：网络第一层的权重和偏置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输出参考：对一个样本进行全连接计算的特征图（包含具体数值和可视化结果），用于与仿真结果进行比对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指导书：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和乘法器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核设置指导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7238B2-4AB5-6A8A-9723-9A1A82C36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19" y="1128870"/>
            <a:ext cx="6320539" cy="192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41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42E0C-A82A-4EAE-92F7-B1B46388D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60349"/>
            <a:ext cx="8724900" cy="615950"/>
          </a:xfrm>
        </p:spPr>
        <p:txBody>
          <a:bodyPr/>
          <a:lstStyle/>
          <a:p>
            <a:pPr algn="ctr"/>
            <a:r>
              <a:rPr lang="en-US" altLang="zh-CN" dirty="0"/>
              <a:t>Block Memory Generator</a:t>
            </a:r>
            <a:r>
              <a:rPr lang="zh-CN" altLang="en-US" dirty="0"/>
              <a:t>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D3C13-E12B-4994-B738-BEF6F9F02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参考：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(99+ </a:t>
            </a:r>
            <a:r>
              <a:rPr lang="zh-CN" altLang="en-US" dirty="0">
                <a:hlinkClick r:id="rId2"/>
              </a:rPr>
              <a:t>封私信 </a:t>
            </a:r>
            <a:r>
              <a:rPr lang="en-US" altLang="zh-CN" dirty="0">
                <a:hlinkClick r:id="rId2"/>
              </a:rPr>
              <a:t>/ 80 </a:t>
            </a:r>
            <a:r>
              <a:rPr lang="zh-CN" altLang="en-US" dirty="0">
                <a:hlinkClick r:id="rId2"/>
              </a:rPr>
              <a:t>条消息</a:t>
            </a:r>
            <a:r>
              <a:rPr lang="en-US" altLang="zh-CN" dirty="0">
                <a:hlinkClick r:id="rId2"/>
              </a:rPr>
              <a:t>) [FPGA IP</a:t>
            </a:r>
            <a:r>
              <a:rPr lang="zh-CN" altLang="en-US" dirty="0">
                <a:hlinkClick r:id="rId2"/>
              </a:rPr>
              <a:t>系列</a:t>
            </a:r>
            <a:r>
              <a:rPr lang="en-US" altLang="zh-CN" dirty="0">
                <a:hlinkClick r:id="rId2"/>
              </a:rPr>
              <a:t>] BRAM IP</a:t>
            </a:r>
            <a:r>
              <a:rPr lang="zh-CN" altLang="en-US" dirty="0">
                <a:hlinkClick r:id="rId2"/>
              </a:rPr>
              <a:t>参数配置与使用示例 </a:t>
            </a:r>
            <a:r>
              <a:rPr lang="en-US" altLang="zh-CN" dirty="0">
                <a:hlinkClick r:id="rId2"/>
              </a:rPr>
              <a:t>- </a:t>
            </a:r>
            <a:r>
              <a:rPr lang="zh-CN" altLang="en-US" dirty="0">
                <a:hlinkClick r:id="rId2"/>
              </a:rPr>
              <a:t>知乎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XILINX BMG (Block Memory Generator)-CSDN</a:t>
            </a:r>
            <a:r>
              <a:rPr lang="zh-CN" altLang="en-US" dirty="0">
                <a:hlinkClick r:id="rId3"/>
              </a:rPr>
              <a:t>博客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7D9C8-1208-4F7C-9DA8-33F99D21D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2025/9/21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0CC363-FC33-4DAF-85AF-BDDD4261E6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459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3673</TotalTime>
  <Words>1797</Words>
  <Application>Microsoft Office PowerPoint</Application>
  <PresentationFormat>宽屏</PresentationFormat>
  <Paragraphs>302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Helvetica Neue</vt:lpstr>
      <vt:lpstr>等线</vt:lpstr>
      <vt:lpstr>微软雅黑</vt:lpstr>
      <vt:lpstr>Arial</vt:lpstr>
      <vt:lpstr>Calibri</vt:lpstr>
      <vt:lpstr>Impact</vt:lpstr>
      <vt:lpstr>Wingdings</vt:lpstr>
      <vt:lpstr>1_自定义设计方案</vt:lpstr>
      <vt:lpstr>PowerPoint 演示文稿</vt:lpstr>
      <vt:lpstr>实验总览</vt:lpstr>
      <vt:lpstr>内容</vt:lpstr>
      <vt:lpstr>实验介绍</vt:lpstr>
      <vt:lpstr>全连接层计算原理</vt:lpstr>
      <vt:lpstr>模块设计提示</vt:lpstr>
      <vt:lpstr>模块设计提示——系统结构</vt:lpstr>
      <vt:lpstr>模块设计提示——数据流</vt:lpstr>
      <vt:lpstr>模块设计提示——fc模块</vt:lpstr>
      <vt:lpstr>模块设计提示——fc模块计算方式</vt:lpstr>
      <vt:lpstr>模块设计提示——fc模块架构</vt:lpstr>
      <vt:lpstr>模块设计提示——fc模块架构</vt:lpstr>
      <vt:lpstr>模块设计提示——fc模块代码框架</vt:lpstr>
      <vt:lpstr>模块设计提示——fc模块代码解释</vt:lpstr>
      <vt:lpstr>模块设计提示——fc模块代码解释</vt:lpstr>
      <vt:lpstr>模块设计提示——fc模块代码解释</vt:lpstr>
      <vt:lpstr>模块设计提示——fc模块代码解释</vt:lpstr>
      <vt:lpstr>PowerPoint 演示文稿</vt:lpstr>
      <vt:lpstr>模块设计提示——fc模块代码解释</vt:lpstr>
      <vt:lpstr>模块设计提示——fc模块代码解释</vt:lpstr>
      <vt:lpstr>模块设计提示——fc模块代码解释</vt:lpstr>
      <vt:lpstr>模块设计提示——fc模块代码解释</vt:lpstr>
      <vt:lpstr>模块设计提示——fc模块代码解释</vt:lpstr>
      <vt:lpstr>模块设计提示——fc模块代码解释</vt:lpstr>
      <vt:lpstr>模块设计提示——fc模块代码解释</vt:lpstr>
      <vt:lpstr>模块设计提示——mult_array模块（乘法器阵列）</vt:lpstr>
      <vt:lpstr>模块设计提示——RAM模块</vt:lpstr>
      <vt:lpstr>模块设计提示——RAM模块</vt:lpstr>
      <vt:lpstr>模块设计提示——RAM模块</vt:lpstr>
      <vt:lpstr>模块设计提示——RAM模块</vt:lpstr>
      <vt:lpstr>模块仿真调试技巧</vt:lpstr>
      <vt:lpstr>仿真结果示例</vt:lpstr>
      <vt:lpstr>实验任务</vt:lpstr>
      <vt:lpstr>验收方式</vt:lpstr>
      <vt:lpstr>提供资料解释</vt:lpstr>
      <vt:lpstr>Block Memory Generator使用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实验三：实现全连接层计算模块</dc:title>
  <dc:creator>升旭 王</dc:creator>
  <cp:lastModifiedBy>升旭 王</cp:lastModifiedBy>
  <cp:revision>107</cp:revision>
  <dcterms:created xsi:type="dcterms:W3CDTF">2025-07-20T02:43:12Z</dcterms:created>
  <dcterms:modified xsi:type="dcterms:W3CDTF">2025-09-21T07:17:50Z</dcterms:modified>
</cp:coreProperties>
</file>