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1079" r:id="rId2"/>
    <p:sldId id="1526" r:id="rId3"/>
    <p:sldId id="1080" r:id="rId4"/>
    <p:sldId id="1074" r:id="rId5"/>
    <p:sldId id="1527" r:id="rId6"/>
    <p:sldId id="1048" r:id="rId7"/>
    <p:sldId id="1083" r:id="rId8"/>
    <p:sldId id="1534" r:id="rId9"/>
    <p:sldId id="1529" r:id="rId10"/>
    <p:sldId id="1528" r:id="rId11"/>
    <p:sldId id="1535" r:id="rId12"/>
    <p:sldId id="1530" r:id="rId13"/>
    <p:sldId id="1531" r:id="rId14"/>
    <p:sldId id="1532" r:id="rId15"/>
    <p:sldId id="1533" r:id="rId16"/>
    <p:sldId id="1536" r:id="rId17"/>
    <p:sldId id="1538" r:id="rId18"/>
    <p:sldId id="1069" r:id="rId19"/>
    <p:sldId id="1539" r:id="rId20"/>
    <p:sldId id="1537" r:id="rId21"/>
    <p:sldId id="1541" r:id="rId22"/>
    <p:sldId id="1050" r:id="rId23"/>
    <p:sldId id="338" r:id="rId24"/>
    <p:sldId id="339" r:id="rId25"/>
    <p:sldId id="154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升旭 王" initials="升旭" lastIdx="1" clrIdx="0">
    <p:extLst>
      <p:ext uri="{19B8F6BF-5375-455C-9EA6-DF929625EA0E}">
        <p15:presenceInfo xmlns:p15="http://schemas.microsoft.com/office/powerpoint/2012/main" userId="529c2783bb194f1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3"/>
    <p:restoredTop sz="87900"/>
  </p:normalViewPr>
  <p:slideViewPr>
    <p:cSldViewPr snapToGrid="0">
      <p:cViewPr varScale="1">
        <p:scale>
          <a:sx n="96" d="100"/>
          <a:sy n="96" d="100"/>
        </p:scale>
        <p:origin x="2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14T15:49:43.517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25C54-DC9B-4753-A16B-4732475E78FD}" type="datetimeFigureOut">
              <a:rPr lang="zh-CN" altLang="en-US" smtClean="0"/>
              <a:t>2025/11/15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F04A4-A7C0-48C5-87D1-24DB03A4FF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482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291A7-793D-4EDA-AEE7-95EEEE2AF85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090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删掉提示细节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F04A4-A7C0-48C5-87D1-24DB03A4FFB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9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CA1F1C-93C6-49CD-8A3B-9D921FF5C93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493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F04A4-A7C0-48C5-87D1-24DB03A4FFB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500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F04A4-A7C0-48C5-87D1-24DB03A4FFB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731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接口需要图示，代码使用实验三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F04A4-A7C0-48C5-87D1-24DB03A4FFB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850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F04A4-A7C0-48C5-87D1-24DB03A4FFB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053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F04A4-A7C0-48C5-87D1-24DB03A4FFB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943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CA1F1C-93C6-49CD-8A3B-9D921FF5C934}" type="slidenum">
              <a:rPr lang="zh-CN" altLang="en-US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1807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F04A4-A7C0-48C5-87D1-24DB03A4FFB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384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3C285-BCF8-4C7E-BBE4-3CE7CF44922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1104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3C285-BCF8-4C7E-BBE4-3CE7CF44922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932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F04A4-A7C0-48C5-87D1-24DB03A4FFB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78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E78DB-D598-441A-8C41-B83B1C96FFB3}" type="datetime1">
              <a:rPr lang="zh-CN" altLang="en-US"/>
              <a:t>2025/11/15</a:t>
            </a:fld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C62BC-DB2A-49EF-95E2-6A8FF8AD668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143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5D866-0C96-4B24-86EC-E89A875CE9D0}" type="datetime1">
              <a:rPr lang="zh-CN" altLang="en-US"/>
              <a:t>2025/11/15</a:t>
            </a:fld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40AC-DCFE-45A7-8879-CACC57DABA6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012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48A6F-EF6D-43C5-879E-E51D28D116D3}" type="datetime1">
              <a:rPr lang="zh-CN" altLang="en-US"/>
              <a:t>2025/11/15</a:t>
            </a:fld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055D0-29A2-478C-A993-069FB039F74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638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F05A0-1103-4E3D-A057-E85C641F7362}" type="datetime1">
              <a:rPr lang="zh-CN" altLang="en-US"/>
              <a:t>2025/11/15</a:t>
            </a:fld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255405-58E2-4673-9538-DD3B9B264C1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904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4AF8A3-456C-4E6C-A16D-30794E88C830}" type="datetime1">
              <a:rPr lang="zh-CN" altLang="en-US"/>
              <a:t>2025/11/15</a:t>
            </a:fld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0C269-E132-4BE1-B979-135F4A43B7F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082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295400"/>
            <a:ext cx="10363200" cy="16002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3086101"/>
            <a:ext cx="10363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Author(s)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70ACC9-F0AB-4798-9CD7-355D71A425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5029200"/>
            <a:ext cx="10363200" cy="1143000"/>
          </a:xfrm>
          <a:prstGeom prst="rect">
            <a:avLst/>
          </a:prstGeom>
        </p:spPr>
        <p:txBody>
          <a:bodyPr/>
          <a:lstStyle>
            <a:lvl1pPr algn="ctr"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en-US" altLang="ja-JP" dirty="0"/>
              <a:t>Affiliation(s)</a:t>
            </a:r>
          </a:p>
        </p:txBody>
      </p:sp>
    </p:spTree>
    <p:extLst>
      <p:ext uri="{BB962C8B-B14F-4D97-AF65-F5344CB8AC3E}">
        <p14:creationId xmlns:p14="http://schemas.microsoft.com/office/powerpoint/2010/main" val="3278619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61B3-B586-4B8F-A9E9-61EA08581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65127"/>
            <a:ext cx="10210800" cy="701675"/>
          </a:xfrm>
          <a:prstGeom prst="rect">
            <a:avLst/>
          </a:prstGeom>
        </p:spPr>
        <p:txBody>
          <a:bodyPr/>
          <a:lstStyle>
            <a:lvl1pPr algn="l"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ja-JP" dirty="0"/>
              <a:t>Click to edit Master title style</a:t>
            </a:r>
            <a:endParaRPr kumimoji="1" lang="ja-JP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6BD71-65C3-478D-93E8-128C6CB7E2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219200"/>
            <a:ext cx="10515600" cy="4953000"/>
          </a:xfrm>
          <a:prstGeom prst="rect">
            <a:avLst/>
          </a:prstGeom>
        </p:spPr>
        <p:txBody>
          <a:bodyPr/>
          <a:lstStyle>
            <a:lvl1pPr marL="402431" indent="-402431">
              <a:buFont typeface="Wingdings" panose="05000000000000000000" pitchFamily="2" charset="2"/>
              <a:buChar char="n"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75085" indent="-332185">
              <a:buSzPct val="90000"/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42975" indent="-257175">
              <a:buFont typeface="Arial" panose="020B0604020202020204" pitchFamily="34" charset="0"/>
              <a:buChar char="−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kumimoji="1" lang="en-US" altLang="ja-JP" dirty="0"/>
              <a:t>Click to edit Master text styles</a:t>
            </a:r>
          </a:p>
          <a:p>
            <a:pPr lvl="1"/>
            <a:r>
              <a:rPr kumimoji="1" lang="en-US" altLang="ja-JP" dirty="0"/>
              <a:t>Second level</a:t>
            </a:r>
          </a:p>
          <a:p>
            <a:pPr lvl="2"/>
            <a:r>
              <a:rPr kumimoji="1" lang="en-US" altLang="ja-JP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7336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9"/>
            </p:custDataLst>
          </p:nvPr>
        </p:nvSpPr>
        <p:spPr>
          <a:xfrm>
            <a:off x="0" y="6237288"/>
            <a:ext cx="12192000" cy="620712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2000" cy="90805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11144251" y="6357938"/>
            <a:ext cx="480483" cy="360362"/>
          </a:xfrm>
          <a:prstGeom prst="ellipse">
            <a:avLst/>
          </a:prstGeom>
          <a:solidFill>
            <a:srgbClr val="0A41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9" name="标题占位符 1"/>
          <p:cNvSpPr>
            <a:spLocks noGrp="1"/>
          </p:cNvSpPr>
          <p:nvPr>
            <p:ph type="title"/>
          </p:nvPr>
        </p:nvSpPr>
        <p:spPr bwMode="auto">
          <a:xfrm>
            <a:off x="609601" y="223838"/>
            <a:ext cx="87249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341438"/>
            <a:ext cx="1097280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37E52844-4327-4055-A3C8-49C907DEF340}" type="datetime1">
              <a:rPr lang="zh-CN" altLang="en-US"/>
              <a:t>2025/11/15</a:t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089218" y="6356351"/>
            <a:ext cx="590549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4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EA8957C2-AF6F-4D31-BB8A-D74B12D1140C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1033" name="矩形 14"/>
          <p:cNvSpPr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-2117" y="908051"/>
            <a:ext cx="12194117" cy="36513"/>
          </a:xfrm>
          <a:prstGeom prst="rect">
            <a:avLst/>
          </a:prstGeom>
          <a:solidFill>
            <a:srgbClr val="0A419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34" name="矩形 18"/>
          <p:cNvSpPr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-2117" y="6200776"/>
            <a:ext cx="12194117" cy="34925"/>
          </a:xfrm>
          <a:prstGeom prst="rect">
            <a:avLst/>
          </a:prstGeom>
          <a:solidFill>
            <a:srgbClr val="0A419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35" name="页脚占位符 16"/>
          <p:cNvSpPr txBox="1"/>
          <p:nvPr userDrawn="1"/>
        </p:nvSpPr>
        <p:spPr bwMode="auto">
          <a:xfrm>
            <a:off x="4559300" y="6356350"/>
            <a:ext cx="6242051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en-US" altLang="zh-CN" sz="1600" dirty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ASIC Design</a:t>
            </a:r>
          </a:p>
        </p:txBody>
      </p:sp>
    </p:spTree>
    <p:extLst>
      <p:ext uri="{BB962C8B-B14F-4D97-AF65-F5344CB8AC3E}">
        <p14:creationId xmlns:p14="http://schemas.microsoft.com/office/powerpoint/2010/main" val="3837362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A419B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omments" Target="../comments/commen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nq.readthedocs.io/en/v2.6.1/pynq_libraries/dma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525D19-ABCD-8AFD-9975-B0579408F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AA7714-A9EB-8079-E6B9-18B8214BE0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9A5E9F-F0BA-C222-A16E-3C0B17BC9FE3}"/>
              </a:ext>
            </a:extLst>
          </p:cNvPr>
          <p:cNvSpPr txBox="1"/>
          <p:nvPr/>
        </p:nvSpPr>
        <p:spPr>
          <a:xfrm>
            <a:off x="2736933" y="2826331"/>
            <a:ext cx="64293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Lab8 </a:t>
            </a:r>
            <a:r>
              <a: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系统整合</a:t>
            </a:r>
          </a:p>
        </p:txBody>
      </p:sp>
    </p:spTree>
    <p:extLst>
      <p:ext uri="{BB962C8B-B14F-4D97-AF65-F5344CB8AC3E}">
        <p14:creationId xmlns:p14="http://schemas.microsoft.com/office/powerpoint/2010/main" val="394793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1A9A0-8DD2-4CC2-9698-44054552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8303" y="337859"/>
            <a:ext cx="6543675" cy="461963"/>
          </a:xfrm>
        </p:spPr>
        <p:txBody>
          <a:bodyPr/>
          <a:lstStyle/>
          <a:p>
            <a:pPr algn="ctr"/>
            <a:r>
              <a:rPr lang="zh-CN" altLang="en-US" sz="3000" dirty="0"/>
              <a:t>实验总览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32CCD-0F1F-493C-BC32-575A6EFB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DB0522-4269-4B37-A2AC-473E5BCE7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D1BD2611-D3D7-0F4F-8C46-71AFD0587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3" y="1307031"/>
            <a:ext cx="7564055" cy="4243939"/>
          </a:xfrm>
          <a:prstGeom prst="rect">
            <a:avLst/>
          </a:prstGeom>
        </p:spPr>
      </p:pic>
      <p:sp>
        <p:nvSpPr>
          <p:cNvPr id="40" name="椭圆 39">
            <a:extLst>
              <a:ext uri="{FF2B5EF4-FFF2-40B4-BE49-F238E27FC236}">
                <a16:creationId xmlns:a16="http://schemas.microsoft.com/office/drawing/2014/main" id="{DB992A26-F25E-1945-8C3A-241AA6BBB12F}"/>
              </a:ext>
            </a:extLst>
          </p:cNvPr>
          <p:cNvSpPr/>
          <p:nvPr/>
        </p:nvSpPr>
        <p:spPr>
          <a:xfrm>
            <a:off x="6636041" y="1988358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D3DECBF2-BD64-D240-90DA-55A80D9F2DEE}"/>
              </a:ext>
            </a:extLst>
          </p:cNvPr>
          <p:cNvSpPr/>
          <p:nvPr/>
        </p:nvSpPr>
        <p:spPr>
          <a:xfrm>
            <a:off x="4258256" y="3361426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C7FE189A-F791-7E45-B3C0-B4BCEEA3B491}"/>
              </a:ext>
            </a:extLst>
          </p:cNvPr>
          <p:cNvSpPr/>
          <p:nvPr/>
        </p:nvSpPr>
        <p:spPr>
          <a:xfrm>
            <a:off x="2560755" y="3167063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9C826044-4B91-E745-AF68-9A2D15C6E8F2}"/>
              </a:ext>
            </a:extLst>
          </p:cNvPr>
          <p:cNvSpPr/>
          <p:nvPr/>
        </p:nvSpPr>
        <p:spPr>
          <a:xfrm>
            <a:off x="2946283" y="3167062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496A4D80-5B13-694A-8534-FE565DBA4FA9}"/>
              </a:ext>
            </a:extLst>
          </p:cNvPr>
          <p:cNvSpPr/>
          <p:nvPr/>
        </p:nvSpPr>
        <p:spPr>
          <a:xfrm>
            <a:off x="5421459" y="4973411"/>
            <a:ext cx="466727" cy="466727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45" name="îŝ1ïďè">
            <a:extLst>
              <a:ext uri="{FF2B5EF4-FFF2-40B4-BE49-F238E27FC236}">
                <a16:creationId xmlns:a16="http://schemas.microsoft.com/office/drawing/2014/main" id="{8BD1EC9C-3866-9F45-997F-DF9D48C3FEDD}"/>
              </a:ext>
            </a:extLst>
          </p:cNvPr>
          <p:cNvSpPr/>
          <p:nvPr/>
        </p:nvSpPr>
        <p:spPr bwMode="auto">
          <a:xfrm flipH="1">
            <a:off x="7929087" y="1083861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46" name="i$ļîḋé">
            <a:extLst>
              <a:ext uri="{FF2B5EF4-FFF2-40B4-BE49-F238E27FC236}">
                <a16:creationId xmlns:a16="http://schemas.microsoft.com/office/drawing/2014/main" id="{FA6269F2-4E4A-964A-A1AD-7F201CD2F8A5}"/>
              </a:ext>
            </a:extLst>
          </p:cNvPr>
          <p:cNvSpPr txBox="1"/>
          <p:nvPr/>
        </p:nvSpPr>
        <p:spPr>
          <a:xfrm>
            <a:off x="7852887" y="1083859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1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47" name="îŝ1ïďè">
            <a:extLst>
              <a:ext uri="{FF2B5EF4-FFF2-40B4-BE49-F238E27FC236}">
                <a16:creationId xmlns:a16="http://schemas.microsoft.com/office/drawing/2014/main" id="{E1A1B664-4547-254E-8CA5-DA4E7C4F1AAA}"/>
              </a:ext>
            </a:extLst>
          </p:cNvPr>
          <p:cNvSpPr/>
          <p:nvPr/>
        </p:nvSpPr>
        <p:spPr bwMode="auto">
          <a:xfrm flipH="1">
            <a:off x="7929087" y="1740236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48" name="i$ļîḋé">
            <a:extLst>
              <a:ext uri="{FF2B5EF4-FFF2-40B4-BE49-F238E27FC236}">
                <a16:creationId xmlns:a16="http://schemas.microsoft.com/office/drawing/2014/main" id="{6E60B4BC-338B-5849-BD6A-6CD97DDD3606}"/>
              </a:ext>
            </a:extLst>
          </p:cNvPr>
          <p:cNvSpPr txBox="1"/>
          <p:nvPr/>
        </p:nvSpPr>
        <p:spPr>
          <a:xfrm>
            <a:off x="7852887" y="1740234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2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49" name="îŝ1ïďè">
            <a:extLst>
              <a:ext uri="{FF2B5EF4-FFF2-40B4-BE49-F238E27FC236}">
                <a16:creationId xmlns:a16="http://schemas.microsoft.com/office/drawing/2014/main" id="{35D4AF4C-4A5B-CF47-8091-F86435D9A4B2}"/>
              </a:ext>
            </a:extLst>
          </p:cNvPr>
          <p:cNvSpPr/>
          <p:nvPr/>
        </p:nvSpPr>
        <p:spPr bwMode="auto">
          <a:xfrm flipH="1">
            <a:off x="7929087" y="2396610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50" name="i$ļîḋé">
            <a:extLst>
              <a:ext uri="{FF2B5EF4-FFF2-40B4-BE49-F238E27FC236}">
                <a16:creationId xmlns:a16="http://schemas.microsoft.com/office/drawing/2014/main" id="{2EC73E57-0770-C747-931A-8F4A30C535B5}"/>
              </a:ext>
            </a:extLst>
          </p:cNvPr>
          <p:cNvSpPr txBox="1"/>
          <p:nvPr/>
        </p:nvSpPr>
        <p:spPr>
          <a:xfrm>
            <a:off x="7852887" y="2396609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3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51" name="îŝ1ïďè">
            <a:extLst>
              <a:ext uri="{FF2B5EF4-FFF2-40B4-BE49-F238E27FC236}">
                <a16:creationId xmlns:a16="http://schemas.microsoft.com/office/drawing/2014/main" id="{639A6FCA-89EC-CB4F-B641-6C80995F12A1}"/>
              </a:ext>
            </a:extLst>
          </p:cNvPr>
          <p:cNvSpPr/>
          <p:nvPr/>
        </p:nvSpPr>
        <p:spPr bwMode="auto">
          <a:xfrm flipH="1">
            <a:off x="7925679" y="3052986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52" name="i$ļîḋé">
            <a:extLst>
              <a:ext uri="{FF2B5EF4-FFF2-40B4-BE49-F238E27FC236}">
                <a16:creationId xmlns:a16="http://schemas.microsoft.com/office/drawing/2014/main" id="{FAD679B6-8E0F-3846-819A-4F6AA2F3D2B2}"/>
              </a:ext>
            </a:extLst>
          </p:cNvPr>
          <p:cNvSpPr txBox="1"/>
          <p:nvPr/>
        </p:nvSpPr>
        <p:spPr>
          <a:xfrm>
            <a:off x="7849478" y="3052983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4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53" name="îŝ1ïďè">
            <a:extLst>
              <a:ext uri="{FF2B5EF4-FFF2-40B4-BE49-F238E27FC236}">
                <a16:creationId xmlns:a16="http://schemas.microsoft.com/office/drawing/2014/main" id="{DF08C1CC-C753-6A41-A0A0-50E4F5CA86A5}"/>
              </a:ext>
            </a:extLst>
          </p:cNvPr>
          <p:cNvSpPr/>
          <p:nvPr/>
        </p:nvSpPr>
        <p:spPr bwMode="auto">
          <a:xfrm flipH="1">
            <a:off x="7925679" y="3709361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54" name="i$ļîḋé">
            <a:extLst>
              <a:ext uri="{FF2B5EF4-FFF2-40B4-BE49-F238E27FC236}">
                <a16:creationId xmlns:a16="http://schemas.microsoft.com/office/drawing/2014/main" id="{0ABE119A-C3C8-3246-BCD9-2C71B537E9BD}"/>
              </a:ext>
            </a:extLst>
          </p:cNvPr>
          <p:cNvSpPr txBox="1"/>
          <p:nvPr/>
        </p:nvSpPr>
        <p:spPr>
          <a:xfrm>
            <a:off x="7849479" y="3709359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5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55" name="îŝ1ïďè">
            <a:extLst>
              <a:ext uri="{FF2B5EF4-FFF2-40B4-BE49-F238E27FC236}">
                <a16:creationId xmlns:a16="http://schemas.microsoft.com/office/drawing/2014/main" id="{E513ADD7-C0E4-064D-865C-98C8C869CE44}"/>
              </a:ext>
            </a:extLst>
          </p:cNvPr>
          <p:cNvSpPr/>
          <p:nvPr/>
        </p:nvSpPr>
        <p:spPr bwMode="auto">
          <a:xfrm flipH="1">
            <a:off x="7925679" y="4365736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56" name="i$ļîḋé">
            <a:extLst>
              <a:ext uri="{FF2B5EF4-FFF2-40B4-BE49-F238E27FC236}">
                <a16:creationId xmlns:a16="http://schemas.microsoft.com/office/drawing/2014/main" id="{DC0C5D26-F553-B245-B674-C2EAA2249B1E}"/>
              </a:ext>
            </a:extLst>
          </p:cNvPr>
          <p:cNvSpPr txBox="1"/>
          <p:nvPr/>
        </p:nvSpPr>
        <p:spPr>
          <a:xfrm>
            <a:off x="7849479" y="4365734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6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1531018-8983-EB4C-8F2F-D0265E5BF71D}"/>
              </a:ext>
            </a:extLst>
          </p:cNvPr>
          <p:cNvSpPr txBox="1"/>
          <p:nvPr/>
        </p:nvSpPr>
        <p:spPr>
          <a:xfrm>
            <a:off x="8500980" y="1104793"/>
            <a:ext cx="322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PS-PL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5BEBAD6-22EE-E143-9309-C2A38511B5EA}"/>
              </a:ext>
            </a:extLst>
          </p:cNvPr>
          <p:cNvSpPr txBox="1"/>
          <p:nvPr/>
        </p:nvSpPr>
        <p:spPr>
          <a:xfrm>
            <a:off x="8504145" y="2403324"/>
            <a:ext cx="369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AA4C293-D884-5E4A-9757-F6F7D7D7B748}"/>
              </a:ext>
            </a:extLst>
          </p:cNvPr>
          <p:cNvSpPr txBox="1"/>
          <p:nvPr/>
        </p:nvSpPr>
        <p:spPr>
          <a:xfrm>
            <a:off x="8503530" y="3068372"/>
            <a:ext cx="350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</a:t>
            </a:r>
            <a:r>
              <a:rPr lang="zh-CN" altLang="en-US" dirty="0"/>
              <a:t>层网络计算模块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3497CA3-FB10-AE4C-9442-6412DBBD268D}"/>
              </a:ext>
            </a:extLst>
          </p:cNvPr>
          <p:cNvSpPr txBox="1"/>
          <p:nvPr/>
        </p:nvSpPr>
        <p:spPr>
          <a:xfrm>
            <a:off x="8503530" y="3740376"/>
            <a:ext cx="350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3</a:t>
            </a:r>
            <a:r>
              <a:rPr lang="zh-CN" altLang="en-US" dirty="0"/>
              <a:t>层网络计算模块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CBDF9EE-A132-434F-9AC8-5DC1B211EE4B}"/>
              </a:ext>
            </a:extLst>
          </p:cNvPr>
          <p:cNvSpPr txBox="1"/>
          <p:nvPr/>
        </p:nvSpPr>
        <p:spPr>
          <a:xfrm>
            <a:off x="8506939" y="5059499"/>
            <a:ext cx="2697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实现网络数据流控制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54485F52-D426-7145-9351-4D5C2A675379}"/>
              </a:ext>
            </a:extLst>
          </p:cNvPr>
          <p:cNvSpPr/>
          <p:nvPr/>
        </p:nvSpPr>
        <p:spPr>
          <a:xfrm>
            <a:off x="2790706" y="4155330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84F09D8-F1D9-E543-9FEB-A235D9BAE748}"/>
              </a:ext>
            </a:extLst>
          </p:cNvPr>
          <p:cNvSpPr txBox="1"/>
          <p:nvPr/>
        </p:nvSpPr>
        <p:spPr>
          <a:xfrm>
            <a:off x="8500392" y="4372254"/>
            <a:ext cx="3626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0" dirty="0">
                <a:solidFill>
                  <a:schemeClr val="tx1"/>
                </a:solidFill>
              </a:rPr>
              <a:t>数据截位方式对网络结果的影响</a:t>
            </a:r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C5C1AD23-66CB-154E-9DAE-2AD73BA63A0E}"/>
              </a:ext>
            </a:extLst>
          </p:cNvPr>
          <p:cNvSpPr/>
          <p:nvPr/>
        </p:nvSpPr>
        <p:spPr>
          <a:xfrm>
            <a:off x="1680891" y="3633789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65" name="îŝ1ïďè">
            <a:extLst>
              <a:ext uri="{FF2B5EF4-FFF2-40B4-BE49-F238E27FC236}">
                <a16:creationId xmlns:a16="http://schemas.microsoft.com/office/drawing/2014/main" id="{D5EE2053-69BB-5C41-AAE9-AFED9310C404}"/>
              </a:ext>
            </a:extLst>
          </p:cNvPr>
          <p:cNvSpPr/>
          <p:nvPr/>
        </p:nvSpPr>
        <p:spPr bwMode="auto">
          <a:xfrm flipH="1">
            <a:off x="7925679" y="5022110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66" name="i$ļîḋé">
            <a:extLst>
              <a:ext uri="{FF2B5EF4-FFF2-40B4-BE49-F238E27FC236}">
                <a16:creationId xmlns:a16="http://schemas.microsoft.com/office/drawing/2014/main" id="{71DAB558-DBB1-CF40-8DDA-984BD70966F5}"/>
              </a:ext>
            </a:extLst>
          </p:cNvPr>
          <p:cNvSpPr txBox="1"/>
          <p:nvPr/>
        </p:nvSpPr>
        <p:spPr>
          <a:xfrm>
            <a:off x="7849479" y="5022109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dirty="0">
                <a:solidFill>
                  <a:schemeClr val="accent5"/>
                </a:solidFill>
                <a:latin typeface="Impact" panose="020B0806030902050204" pitchFamily="34" charset="0"/>
              </a:rPr>
              <a:t>7</a:t>
            </a:r>
            <a:endParaRPr lang="zh-CN" altLang="en-US" dirty="0">
              <a:solidFill>
                <a:schemeClr val="accent5"/>
              </a:solidFill>
              <a:latin typeface="Impact" panose="020B0806030902050204" pitchFamily="34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8BDD9CD6-5909-DD4B-85F6-B0E1A9057873}"/>
              </a:ext>
            </a:extLst>
          </p:cNvPr>
          <p:cNvSpPr txBox="1"/>
          <p:nvPr/>
        </p:nvSpPr>
        <p:spPr>
          <a:xfrm>
            <a:off x="8507212" y="5724777"/>
            <a:ext cx="322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chemeClr val="accent6"/>
                </a:solidFill>
              </a:rPr>
              <a:t>系统整合</a:t>
            </a: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2E13BC63-0C65-8442-AA4D-A2A06F9A9E5F}"/>
              </a:ext>
            </a:extLst>
          </p:cNvPr>
          <p:cNvSpPr/>
          <p:nvPr/>
        </p:nvSpPr>
        <p:spPr>
          <a:xfrm>
            <a:off x="4258256" y="3745588"/>
            <a:ext cx="466727" cy="466727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69" name="îŝ1ïďè">
            <a:extLst>
              <a:ext uri="{FF2B5EF4-FFF2-40B4-BE49-F238E27FC236}">
                <a16:creationId xmlns:a16="http://schemas.microsoft.com/office/drawing/2014/main" id="{CC741F75-B416-6544-A308-C2A977A90B47}"/>
              </a:ext>
            </a:extLst>
          </p:cNvPr>
          <p:cNvSpPr/>
          <p:nvPr/>
        </p:nvSpPr>
        <p:spPr bwMode="auto">
          <a:xfrm flipH="1">
            <a:off x="7925679" y="5663751"/>
            <a:ext cx="577851" cy="507891"/>
          </a:xfrm>
          <a:custGeom>
            <a:avLst/>
            <a:gdLst>
              <a:gd name="connsiteX0" fmla="*/ 508910 w 1084974"/>
              <a:gd name="connsiteY0" fmla="*/ 0 h 1084975"/>
              <a:gd name="connsiteX1" fmla="*/ 31229 w 1084974"/>
              <a:gd name="connsiteY1" fmla="*/ 253981 h 1084975"/>
              <a:gd name="connsiteX2" fmla="*/ 0 w 1084974"/>
              <a:gd name="connsiteY2" fmla="*/ 311517 h 1084975"/>
              <a:gd name="connsiteX3" fmla="*/ 773457 w 1084974"/>
              <a:gd name="connsiteY3" fmla="*/ 1084975 h 1084975"/>
              <a:gd name="connsiteX4" fmla="*/ 830993 w 1084974"/>
              <a:gd name="connsiteY4" fmla="*/ 1053745 h 1084975"/>
              <a:gd name="connsiteX5" fmla="*/ 1084974 w 1084974"/>
              <a:gd name="connsiteY5" fmla="*/ 576064 h 1084975"/>
              <a:gd name="connsiteX6" fmla="*/ 508910 w 1084974"/>
              <a:gd name="connsiteY6" fmla="*/ 0 h 108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974" h="1084975">
                <a:moveTo>
                  <a:pt x="508910" y="0"/>
                </a:moveTo>
                <a:cubicBezTo>
                  <a:pt x="310066" y="0"/>
                  <a:pt x="134752" y="100747"/>
                  <a:pt x="31229" y="253981"/>
                </a:cubicBezTo>
                <a:lnTo>
                  <a:pt x="0" y="311517"/>
                </a:lnTo>
                <a:lnTo>
                  <a:pt x="773457" y="1084975"/>
                </a:lnTo>
                <a:lnTo>
                  <a:pt x="830993" y="1053745"/>
                </a:lnTo>
                <a:cubicBezTo>
                  <a:pt x="984227" y="950222"/>
                  <a:pt x="1084974" y="774908"/>
                  <a:pt x="1084974" y="576064"/>
                </a:cubicBezTo>
                <a:cubicBezTo>
                  <a:pt x="1084974" y="257913"/>
                  <a:pt x="827061" y="0"/>
                  <a:pt x="50891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  <a:round/>
            <a:headEnd/>
            <a:tailEnd/>
          </a:ln>
        </p:spPr>
        <p:txBody>
          <a:bodyPr rot="0" spcFirstLastPara="0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zh-CN" altLang="en-US" sz="12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70" name="i$ļîḋé">
            <a:extLst>
              <a:ext uri="{FF2B5EF4-FFF2-40B4-BE49-F238E27FC236}">
                <a16:creationId xmlns:a16="http://schemas.microsoft.com/office/drawing/2014/main" id="{E4FFD518-78A9-FE47-969E-510AACC5AEDC}"/>
              </a:ext>
            </a:extLst>
          </p:cNvPr>
          <p:cNvSpPr txBox="1"/>
          <p:nvPr/>
        </p:nvSpPr>
        <p:spPr>
          <a:xfrm>
            <a:off x="7849479" y="5663750"/>
            <a:ext cx="57785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CN" altLang="en-US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85F16BB-EF53-D041-89EC-4789E58F3B8C}"/>
              </a:ext>
            </a:extLst>
          </p:cNvPr>
          <p:cNvSpPr txBox="1"/>
          <p:nvPr/>
        </p:nvSpPr>
        <p:spPr>
          <a:xfrm>
            <a:off x="8500980" y="1761046"/>
            <a:ext cx="3626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Verilog</a:t>
            </a:r>
            <a:r>
              <a:rPr lang="zh-CN" altLang="en-US" dirty="0"/>
              <a:t>基础：逻辑单元设计</a:t>
            </a:r>
          </a:p>
        </p:txBody>
      </p:sp>
    </p:spTree>
    <p:extLst>
      <p:ext uri="{BB962C8B-B14F-4D97-AF65-F5344CB8AC3E}">
        <p14:creationId xmlns:p14="http://schemas.microsoft.com/office/powerpoint/2010/main" val="3342815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541E0-2584-1936-C2A4-D8E6E718C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2C7D21-D240-C768-0577-7AE60EA4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11B30E-5A1C-46B9-9ACB-6748353AF2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298B1D-76FC-4692-933A-ED1598A3F55F}"/>
              </a:ext>
            </a:extLst>
          </p:cNvPr>
          <p:cNvSpPr txBox="1"/>
          <p:nvPr/>
        </p:nvSpPr>
        <p:spPr>
          <a:xfrm>
            <a:off x="609600" y="1089165"/>
            <a:ext cx="10251018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任务描述</a:t>
            </a:r>
            <a:endParaRPr lang="en-US" altLang="zh-CN" sz="3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3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3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设计提示</a:t>
            </a:r>
            <a:endParaRPr lang="en-US" altLang="zh-CN" sz="3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评分标准</a:t>
            </a:r>
            <a:endParaRPr lang="en-US" altLang="zh-CN" sz="3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提供资料解释</a:t>
            </a:r>
            <a:endParaRPr lang="en-US" altLang="zh-CN" sz="3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r>
              <a:rPr lang="en-US" altLang="zh-CN" sz="3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3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模版</a:t>
            </a:r>
            <a:endParaRPr lang="en-US" altLang="zh-CN" sz="3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EED9EA-1A55-46C5-90B5-35DBA4115A62}"/>
              </a:ext>
            </a:extLst>
          </p:cNvPr>
          <p:cNvSpPr txBox="1"/>
          <p:nvPr/>
        </p:nvSpPr>
        <p:spPr>
          <a:xfrm>
            <a:off x="3082424" y="1240842"/>
            <a:ext cx="9372600" cy="1950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输入输出限定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数据流向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系统运行过程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5666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1524000" y="223838"/>
            <a:ext cx="9144000" cy="615950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任务要求</a:t>
            </a:r>
          </a:p>
        </p:txBody>
      </p:sp>
      <p:sp>
        <p:nvSpPr>
          <p:cNvPr id="8196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19832871-3CF0-4CDF-B9D2-699991AEFBC2}" type="datetime1">
              <a:rPr lang="zh-CN" altLang="en-US" sz="1400">
                <a:solidFill>
                  <a:srgbClr val="0A419B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2025/11/15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8197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None/>
              </a:pPr>
              <a:t>4</a:t>
            </a:fld>
            <a:endParaRPr lang="zh-CN" altLang="en-US" sz="1400">
              <a:solidFill>
                <a:srgbClr val="FFFFFF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4BF14B-9698-408D-81C9-DCB09878B205}"/>
              </a:ext>
            </a:extLst>
          </p:cNvPr>
          <p:cNvSpPr txBox="1"/>
          <p:nvPr/>
        </p:nvSpPr>
        <p:spPr>
          <a:xfrm>
            <a:off x="309562" y="1785635"/>
            <a:ext cx="11572875" cy="362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任务要求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将前面的设计整合起来，形成完整的神经网络加速器系统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（包括三层全连接网络、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端） 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967507"/>
      </p:ext>
    </p:extLst>
  </p:cSld>
  <p:clrMapOvr>
    <a:masterClrMapping/>
  </p:clrMapOvr>
  <p:transition advTm="235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83964-059C-41B0-AFCD-0C012FA6B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45049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输入输出限定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EDB6E-FF3B-4723-B603-610FBC31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589139-DF79-4928-A7E1-37AC330D12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799DBD-E89D-49A4-921C-2757B3D0712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0" y="2284413"/>
            <a:ext cx="109728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均为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8bit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有符号数，即为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-128~127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的整数；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输出数据最大值应大于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63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小于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127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，或最小值大于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-128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小于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-64</a:t>
            </a:r>
            <a:r>
              <a:rPr lang="zh-CN" altLang="en-US" sz="3200" b="1" dirty="0"/>
              <a:t>。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（保证截位结果正常）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CF4C9C-6CE9-4563-909C-459DEDD00534}"/>
              </a:ext>
            </a:extLst>
          </p:cNvPr>
          <p:cNvSpPr txBox="1"/>
          <p:nvPr/>
        </p:nvSpPr>
        <p:spPr>
          <a:xfrm>
            <a:off x="266700" y="1301631"/>
            <a:ext cx="6096000" cy="825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输入输出限定：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1355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EE48AC-CD81-4924-9C19-642558C8D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850" y="149225"/>
            <a:ext cx="2650299" cy="615950"/>
          </a:xfrm>
        </p:spPr>
        <p:txBody>
          <a:bodyPr/>
          <a:lstStyle/>
          <a:p>
            <a:r>
              <a:rPr lang="zh-CN" altLang="en-US" dirty="0"/>
              <a:t>系统数据流向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FC6432-0B26-4F4B-AA8F-9DD6D95FF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08050"/>
            <a:ext cx="10972800" cy="47513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/>
              <a:t>PS</a:t>
            </a:r>
            <a:r>
              <a:rPr lang="zh-CN" altLang="en-US" b="1" dirty="0"/>
              <a:t>端发送样本数据至</a:t>
            </a:r>
            <a:r>
              <a:rPr lang="en-US" altLang="zh-CN" b="1" dirty="0"/>
              <a:t>PL</a:t>
            </a:r>
            <a:r>
              <a:rPr lang="zh-CN" altLang="en-US" b="1" dirty="0"/>
              <a:t>端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PL</a:t>
            </a:r>
            <a:r>
              <a:rPr lang="zh-CN" altLang="en-US" b="1" dirty="0"/>
              <a:t>端的</a:t>
            </a:r>
            <a:r>
              <a:rPr lang="en-US" altLang="zh-CN" b="1" dirty="0"/>
              <a:t>NPU</a:t>
            </a:r>
            <a:r>
              <a:rPr lang="zh-CN" altLang="en-US" b="1" dirty="0"/>
              <a:t>接收到样本数据，进行一次完整推理，然后将输出结果和特征图返回</a:t>
            </a:r>
            <a:r>
              <a:rPr lang="en-US" altLang="zh-CN" b="1" dirty="0"/>
              <a:t>PS</a:t>
            </a:r>
            <a:r>
              <a:rPr lang="zh-CN" altLang="en-US" b="1" dirty="0"/>
              <a:t>端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C6B6A5-E044-4832-987F-4F843E6E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35C338-1A79-413E-93E4-F906C63FE4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D1EE790-7DDB-4205-B220-326AEC913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651" y="2357487"/>
            <a:ext cx="6657566" cy="3735338"/>
          </a:xfrm>
          <a:prstGeom prst="rect">
            <a:avLst/>
          </a:prstGeom>
        </p:spPr>
      </p:pic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50C177D0-B3BF-4440-B0F4-DD6D98C5C171}"/>
              </a:ext>
            </a:extLst>
          </p:cNvPr>
          <p:cNvCxnSpPr/>
          <p:nvPr/>
        </p:nvCxnSpPr>
        <p:spPr>
          <a:xfrm>
            <a:off x="11089218" y="3067050"/>
            <a:ext cx="0" cy="85725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C38539EC-E609-49F7-8A42-BBF2355E2A30}"/>
              </a:ext>
            </a:extLst>
          </p:cNvPr>
          <p:cNvCxnSpPr>
            <a:cxnSpLocks/>
          </p:cNvCxnSpPr>
          <p:nvPr/>
        </p:nvCxnSpPr>
        <p:spPr>
          <a:xfrm flipH="1">
            <a:off x="9305925" y="3924300"/>
            <a:ext cx="1783294" cy="6667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466BF4B3-3470-4CCF-B77B-2F69AC748EFA}"/>
              </a:ext>
            </a:extLst>
          </p:cNvPr>
          <p:cNvCxnSpPr>
            <a:cxnSpLocks/>
          </p:cNvCxnSpPr>
          <p:nvPr/>
        </p:nvCxnSpPr>
        <p:spPr>
          <a:xfrm flipH="1">
            <a:off x="7581900" y="3990975"/>
            <a:ext cx="1724025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B7ED7AA-A540-4315-90BB-84C005B6AFBD}"/>
              </a:ext>
            </a:extLst>
          </p:cNvPr>
          <p:cNvCxnSpPr>
            <a:cxnSpLocks/>
          </p:cNvCxnSpPr>
          <p:nvPr/>
        </p:nvCxnSpPr>
        <p:spPr>
          <a:xfrm flipH="1">
            <a:off x="7355083" y="3990975"/>
            <a:ext cx="293493" cy="57626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A56040BE-6DC1-49F4-80CA-EAA5F5915DEA}"/>
              </a:ext>
            </a:extLst>
          </p:cNvPr>
          <p:cNvCxnSpPr>
            <a:cxnSpLocks/>
          </p:cNvCxnSpPr>
          <p:nvPr/>
        </p:nvCxnSpPr>
        <p:spPr>
          <a:xfrm>
            <a:off x="7357201" y="4567239"/>
            <a:ext cx="396149" cy="58578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3740DCF9-30CE-4C58-95E5-9D8B459E8A02}"/>
              </a:ext>
            </a:extLst>
          </p:cNvPr>
          <p:cNvCxnSpPr>
            <a:cxnSpLocks/>
          </p:cNvCxnSpPr>
          <p:nvPr/>
        </p:nvCxnSpPr>
        <p:spPr>
          <a:xfrm>
            <a:off x="7753350" y="5153025"/>
            <a:ext cx="2543175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365BDA5-4920-4177-87A5-11B3911D6A27}"/>
              </a:ext>
            </a:extLst>
          </p:cNvPr>
          <p:cNvCxnSpPr>
            <a:cxnSpLocks/>
          </p:cNvCxnSpPr>
          <p:nvPr/>
        </p:nvCxnSpPr>
        <p:spPr>
          <a:xfrm flipV="1">
            <a:off x="10296525" y="3990975"/>
            <a:ext cx="1021096" cy="116205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1A25A530-C746-4759-82B6-65CDCE10EEAA}"/>
              </a:ext>
            </a:extLst>
          </p:cNvPr>
          <p:cNvCxnSpPr>
            <a:cxnSpLocks/>
          </p:cNvCxnSpPr>
          <p:nvPr/>
        </p:nvCxnSpPr>
        <p:spPr>
          <a:xfrm flipV="1">
            <a:off x="11317621" y="2867025"/>
            <a:ext cx="0" cy="112395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803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15C9C3-1908-9C3D-C0AB-86E4E96E2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7618" y="177520"/>
            <a:ext cx="2716763" cy="615950"/>
          </a:xfrm>
        </p:spPr>
        <p:txBody>
          <a:bodyPr/>
          <a:lstStyle/>
          <a:p>
            <a:r>
              <a:rPr lang="zh-CN" altLang="en-US" dirty="0"/>
              <a:t>系统运行过程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2EFA24-8B6A-BB33-66D9-C03A432E1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41438"/>
            <a:ext cx="11702441" cy="477752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3200" b="1" dirty="0"/>
              <a:t>PS</a:t>
            </a:r>
            <a:r>
              <a:rPr lang="zh-CN" altLang="en-US" sz="3200" b="1" dirty="0"/>
              <a:t>端给出启动推理信号之后，发送一个样本数据</a:t>
            </a:r>
            <a:endParaRPr lang="en-US" altLang="zh-CN" sz="3200" b="1" dirty="0"/>
          </a:p>
          <a:p>
            <a:pPr>
              <a:lnSpc>
                <a:spcPct val="150000"/>
              </a:lnSpc>
            </a:pPr>
            <a:r>
              <a:rPr lang="en-US" altLang="zh-CN" sz="3200" b="1" dirty="0"/>
              <a:t>PL</a:t>
            </a:r>
            <a:r>
              <a:rPr lang="zh-CN" altLang="en-US" sz="3200" b="1" dirty="0"/>
              <a:t>端</a:t>
            </a:r>
            <a:r>
              <a:rPr lang="en-US" altLang="zh-CN" sz="3200" b="1" dirty="0"/>
              <a:t>NPU</a:t>
            </a:r>
            <a:r>
              <a:rPr lang="zh-CN" altLang="en-US" sz="3200" b="1" dirty="0"/>
              <a:t>接收到数据后进行推理并返回结果</a:t>
            </a:r>
            <a:endParaRPr lang="en-US" altLang="zh-CN" sz="3200" b="1" dirty="0"/>
          </a:p>
          <a:p>
            <a:pPr>
              <a:lnSpc>
                <a:spcPct val="150000"/>
              </a:lnSpc>
            </a:pPr>
            <a:r>
              <a:rPr lang="en-US" altLang="zh-CN" sz="3200" b="1" dirty="0"/>
              <a:t>PS</a:t>
            </a:r>
            <a:r>
              <a:rPr lang="zh-CN" altLang="en-US" sz="3200" b="1" dirty="0"/>
              <a:t>端给出单张分类结果（即样本信号正常或异常）、推理时间</a:t>
            </a:r>
            <a:endParaRPr lang="en-US" altLang="zh-CN" sz="3200" b="1" dirty="0"/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个样本的推理后，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sz="3200" b="1" dirty="0"/>
              <a:t>端给出计算出准确率，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A4CBE9-09B9-F1A3-38BA-E62EAE707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9D4438-312E-49CD-078D-00CADEBF6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323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CAD090-D651-4D65-936C-793621F7A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E60B81-B9B2-47FF-B558-14379DBBC4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FFB4C68-7D75-4D03-B0C5-B5E8A6DA4375}"/>
              </a:ext>
            </a:extLst>
          </p:cNvPr>
          <p:cNvSpPr/>
          <p:nvPr/>
        </p:nvSpPr>
        <p:spPr>
          <a:xfrm>
            <a:off x="7026399" y="2811348"/>
            <a:ext cx="4709824" cy="2247900"/>
          </a:xfrm>
          <a:prstGeom prst="roundRect">
            <a:avLst>
              <a:gd name="adj" fmla="val 596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端：</a:t>
            </a:r>
            <a:endParaRPr lang="en-US" altLang="zh-CN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接口转换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DD52F8-8413-4A6F-8DA8-23E8F89E613A}"/>
              </a:ext>
            </a:extLst>
          </p:cNvPr>
          <p:cNvSpPr txBox="1"/>
          <p:nvPr/>
        </p:nvSpPr>
        <p:spPr>
          <a:xfrm>
            <a:off x="1979826" y="2567724"/>
            <a:ext cx="150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C406AE9-8F44-A34A-AD2B-F18E76151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22" y="1602608"/>
            <a:ext cx="6657566" cy="373533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93BB0BA-F010-9E44-BAE2-609541D4B18E}"/>
              </a:ext>
            </a:extLst>
          </p:cNvPr>
          <p:cNvSpPr/>
          <p:nvPr/>
        </p:nvSpPr>
        <p:spPr>
          <a:xfrm>
            <a:off x="5397296" y="2890889"/>
            <a:ext cx="1211179" cy="1885632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63EB60-27E0-AB45-BA86-A00AF322143B}"/>
              </a:ext>
            </a:extLst>
          </p:cNvPr>
          <p:cNvSpPr/>
          <p:nvPr/>
        </p:nvSpPr>
        <p:spPr>
          <a:xfrm>
            <a:off x="3535487" y="2894533"/>
            <a:ext cx="859177" cy="710915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6A1FE1-69A6-DA48-8DBB-2148B12FBEA5}"/>
              </a:ext>
            </a:extLst>
          </p:cNvPr>
          <p:cNvSpPr/>
          <p:nvPr/>
        </p:nvSpPr>
        <p:spPr>
          <a:xfrm>
            <a:off x="3535486" y="4065606"/>
            <a:ext cx="859177" cy="710915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6753CF-713D-E741-9BB9-AE74DE243293}"/>
              </a:ext>
            </a:extLst>
          </p:cNvPr>
          <p:cNvSpPr/>
          <p:nvPr/>
        </p:nvSpPr>
        <p:spPr>
          <a:xfrm>
            <a:off x="487487" y="1602608"/>
            <a:ext cx="6120988" cy="764629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左箭头 12">
            <a:extLst>
              <a:ext uri="{FF2B5EF4-FFF2-40B4-BE49-F238E27FC236}">
                <a16:creationId xmlns:a16="http://schemas.microsoft.com/office/drawing/2014/main" id="{101F047F-6093-8841-A3AA-A062E2C26E5D}"/>
              </a:ext>
            </a:extLst>
          </p:cNvPr>
          <p:cNvSpPr/>
          <p:nvPr/>
        </p:nvSpPr>
        <p:spPr>
          <a:xfrm>
            <a:off x="4394663" y="3214055"/>
            <a:ext cx="1002633" cy="150761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左箭头 13">
            <a:extLst>
              <a:ext uri="{FF2B5EF4-FFF2-40B4-BE49-F238E27FC236}">
                <a16:creationId xmlns:a16="http://schemas.microsoft.com/office/drawing/2014/main" id="{B418E366-5309-6E40-BC08-0E3E17824190}"/>
              </a:ext>
            </a:extLst>
          </p:cNvPr>
          <p:cNvSpPr/>
          <p:nvPr/>
        </p:nvSpPr>
        <p:spPr>
          <a:xfrm rot="10800000">
            <a:off x="4394663" y="4320935"/>
            <a:ext cx="1002633" cy="150761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: 圆角 5">
            <a:extLst>
              <a:ext uri="{FF2B5EF4-FFF2-40B4-BE49-F238E27FC236}">
                <a16:creationId xmlns:a16="http://schemas.microsoft.com/office/drawing/2014/main" id="{40B1C6F0-293B-4745-A87E-1EF172809C4F}"/>
              </a:ext>
            </a:extLst>
          </p:cNvPr>
          <p:cNvSpPr/>
          <p:nvPr/>
        </p:nvSpPr>
        <p:spPr>
          <a:xfrm>
            <a:off x="7026399" y="1585805"/>
            <a:ext cx="4709824" cy="77254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端代码设计</a:t>
            </a:r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1B4DF585-FE5F-9244-974E-FFE99023E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7618" y="177520"/>
            <a:ext cx="2716763" cy="615950"/>
          </a:xfrm>
        </p:spPr>
        <p:txBody>
          <a:bodyPr/>
          <a:lstStyle/>
          <a:p>
            <a:r>
              <a:rPr lang="zh-CN" altLang="en-US" dirty="0"/>
              <a:t>设计提示</a:t>
            </a:r>
          </a:p>
        </p:txBody>
      </p:sp>
    </p:spTree>
    <p:extLst>
      <p:ext uri="{BB962C8B-B14F-4D97-AF65-F5344CB8AC3E}">
        <p14:creationId xmlns:p14="http://schemas.microsoft.com/office/powerpoint/2010/main" val="1154974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BF9F7A-272C-4D7F-998F-80146D18E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198437"/>
            <a:ext cx="8724900" cy="615950"/>
          </a:xfrm>
        </p:spPr>
        <p:txBody>
          <a:bodyPr/>
          <a:lstStyle/>
          <a:p>
            <a:pPr algn="ctr"/>
            <a:r>
              <a:rPr lang="en-US" altLang="zh-CN" dirty="0"/>
              <a:t>FIFO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AF54E6-496A-4A3A-88A4-5C027884A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96EA88-1AE8-4D6E-8F1A-7E1572FFF0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573B6F-B786-4799-9FF5-82A39140E8AA}"/>
              </a:ext>
            </a:extLst>
          </p:cNvPr>
          <p:cNvSpPr txBox="1"/>
          <p:nvPr/>
        </p:nvSpPr>
        <p:spPr>
          <a:xfrm>
            <a:off x="233361" y="842576"/>
            <a:ext cx="11725275" cy="5883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ts val="4200"/>
              </a:lnSpc>
              <a:buFont typeface="Wingdings" panose="05000000000000000000" pitchFamily="2" charset="2"/>
              <a:buChar char="l"/>
            </a:pPr>
            <a:r>
              <a:rPr lang="en-US" altLang="zh-CN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 </a:t>
            </a:r>
            <a:r>
              <a:rPr lang="zh-CN" altLang="en-US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zh-CN" altLang="en-US" sz="3200" b="1" i="0" u="none" strike="noStrike" baseline="0" dirty="0">
                <a:solidFill>
                  <a:srgbClr val="C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先进先出</a:t>
            </a:r>
            <a:r>
              <a:rPr lang="zh-CN" altLang="en-US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的数据缓存器，一般用在隔离</a:t>
            </a:r>
            <a:r>
              <a:rPr lang="zh-CN" altLang="en-US" sz="3200" b="1" i="0" u="none" strike="noStrike" baseline="0" dirty="0">
                <a:solidFill>
                  <a:srgbClr val="C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两边读写带宽</a:t>
            </a:r>
            <a:r>
              <a:rPr lang="en-US" altLang="zh-CN" sz="3200" b="1" i="0" u="none" strike="noStrike" baseline="0" dirty="0">
                <a:solidFill>
                  <a:srgbClr val="C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b="1" i="0" u="none" strike="noStrike" baseline="0" dirty="0">
                <a:solidFill>
                  <a:srgbClr val="C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位宽不一致</a:t>
            </a:r>
            <a:r>
              <a:rPr lang="zh-CN" altLang="en-US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</a:t>
            </a:r>
            <a:endParaRPr lang="en-US" altLang="zh-CN" sz="3200" b="1" i="0" u="none" strike="noStrike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ts val="4200"/>
              </a:lnSpc>
              <a:buFont typeface="Wingdings" panose="05000000000000000000" pitchFamily="2" charset="2"/>
              <a:buChar char="l"/>
            </a:pPr>
            <a:endParaRPr lang="en-US" altLang="zh-CN" sz="3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ts val="4200"/>
              </a:lnSpc>
              <a:buFont typeface="Wingdings" panose="05000000000000000000" pitchFamily="2" charset="2"/>
              <a:buChar char="l"/>
            </a:pPr>
            <a:endParaRPr lang="en-US" altLang="zh-CN" sz="3200" b="1" i="0" u="none" strike="noStrike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ts val="4200"/>
              </a:lnSpc>
              <a:buFont typeface="Wingdings" panose="05000000000000000000" pitchFamily="2" charset="2"/>
              <a:buChar char="l"/>
            </a:pPr>
            <a:r>
              <a:rPr lang="en-US" altLang="zh-CN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 </a:t>
            </a:r>
            <a:r>
              <a:rPr lang="zh-CN" altLang="en-US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 </a:t>
            </a:r>
            <a:r>
              <a:rPr lang="zh-CN" altLang="en-US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的区别是</a:t>
            </a:r>
            <a:r>
              <a:rPr lang="zh-CN" altLang="en-US" sz="3200" b="1" i="0" u="none" strike="noStrike" baseline="0" dirty="0">
                <a:solidFill>
                  <a:srgbClr val="C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没有外部读写地址线</a:t>
            </a:r>
            <a:r>
              <a:rPr lang="zh-CN" altLang="en-US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，不能指定某个读写地址，只能顺序写入和读出数据，其数据地址</a:t>
            </a:r>
            <a:r>
              <a:rPr lang="zh-CN" altLang="en-US" sz="3200" b="1" i="0" u="none" strike="noStrike" baseline="0" dirty="0">
                <a:solidFill>
                  <a:srgbClr val="C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由内部读写指针自动加</a:t>
            </a:r>
            <a:r>
              <a:rPr lang="en-US" altLang="zh-CN" sz="3200" b="1" i="0" u="none" strike="noStrike" baseline="0" dirty="0">
                <a:solidFill>
                  <a:srgbClr val="C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3200" b="1" i="0" u="none" strike="noStrike" baseline="0" dirty="0">
                <a:solidFill>
                  <a:srgbClr val="C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endParaRPr lang="en-US" altLang="zh-CN" sz="3200" b="1" i="0" u="none" strike="noStrike" baseline="0" dirty="0">
              <a:solidFill>
                <a:srgbClr val="C1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ts val="4200"/>
              </a:lnSpc>
              <a:buFont typeface="Wingdings" panose="05000000000000000000" pitchFamily="2" charset="2"/>
              <a:buChar char="l"/>
            </a:pPr>
            <a:r>
              <a:rPr lang="en-US" altLang="zh-CN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 </a:t>
            </a:r>
            <a:r>
              <a:rPr lang="zh-CN" altLang="en-US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本质由</a:t>
            </a:r>
            <a:r>
              <a:rPr lang="en-US" altLang="zh-CN" sz="3200" b="1" i="0" u="none" strike="noStrike" baseline="0" dirty="0">
                <a:solidFill>
                  <a:srgbClr val="C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 </a:t>
            </a:r>
            <a:r>
              <a:rPr lang="en-US" altLang="zh-CN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3200" b="1" i="0" u="none" strike="noStrike" baseline="0" dirty="0">
                <a:solidFill>
                  <a:srgbClr val="C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读写控制逻辑</a:t>
            </a:r>
            <a:r>
              <a:rPr lang="zh-CN" altLang="en-US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构成</a:t>
            </a:r>
            <a:endParaRPr lang="en-US" altLang="zh-CN" sz="3200" b="1" i="0" u="none" strike="noStrike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ts val="4200"/>
              </a:lnSpc>
              <a:buFont typeface="Wingdings" panose="05000000000000000000" pitchFamily="2" charset="2"/>
              <a:buChar char="l"/>
            </a:pPr>
            <a:r>
              <a:rPr lang="zh-CN" altLang="en-US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zh-CN" altLang="en-US" sz="3200" b="1" i="0" u="none" strike="noStrike" baseline="0" dirty="0">
                <a:solidFill>
                  <a:srgbClr val="C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</a:t>
            </a:r>
            <a:r>
              <a:rPr lang="en-US" altLang="zh-CN" sz="3200" b="1" i="0" u="none" strike="noStrike" baseline="0" dirty="0">
                <a:solidFill>
                  <a:srgbClr val="C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 </a:t>
            </a:r>
            <a:r>
              <a:rPr lang="zh-CN" altLang="en-US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3200" b="1" i="0" u="none" strike="noStrike" baseline="0" dirty="0">
                <a:solidFill>
                  <a:srgbClr val="C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</a:t>
            </a:r>
            <a:r>
              <a:rPr lang="en-US" altLang="zh-CN" sz="3200" b="1" i="0" u="none" strike="noStrike" baseline="0" dirty="0">
                <a:solidFill>
                  <a:srgbClr val="C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 </a:t>
            </a:r>
            <a:r>
              <a:rPr lang="zh-CN" altLang="en-US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两种，同步</a:t>
            </a:r>
            <a:r>
              <a:rPr lang="en-US" altLang="zh-CN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 </a:t>
            </a:r>
            <a:r>
              <a:rPr lang="zh-CN" altLang="en-US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读和写逻辑使用一个时钟信号，异步</a:t>
            </a:r>
            <a:r>
              <a:rPr lang="en-US" altLang="zh-CN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 </a:t>
            </a:r>
            <a:r>
              <a:rPr lang="zh-CN" altLang="en-US" sz="32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读和写逻辑用各自时钟</a:t>
            </a:r>
            <a:endParaRPr lang="en-US" altLang="zh-CN" sz="3200" b="1" i="0" u="none" strike="noStrike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721795D-FC43-41E7-B0D4-9F84668F2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152" y="1857435"/>
            <a:ext cx="8179494" cy="116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20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B9CFA8-2D7D-47CF-A6EF-36757E49D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14313"/>
            <a:ext cx="8724900" cy="615950"/>
          </a:xfrm>
        </p:spPr>
        <p:txBody>
          <a:bodyPr/>
          <a:lstStyle/>
          <a:p>
            <a:pPr algn="ctr"/>
            <a:r>
              <a:rPr lang="en-US" altLang="zh-CN" dirty="0"/>
              <a:t>FIFO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0DF4ED-119F-41F4-84F4-85AD52AFA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069BA6-2B0B-4435-8B95-2404095E19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903805-19A6-4C95-B3E2-8D32782ED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2944"/>
            <a:ext cx="6411989" cy="497400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C579D9F-9379-4E64-BF1E-8366228A447B}"/>
              </a:ext>
            </a:extLst>
          </p:cNvPr>
          <p:cNvSpPr/>
          <p:nvPr/>
        </p:nvSpPr>
        <p:spPr>
          <a:xfrm>
            <a:off x="4133850" y="2590800"/>
            <a:ext cx="1133475" cy="116205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B7046D-5C26-4F58-9443-D86C06FB84A0}"/>
              </a:ext>
            </a:extLst>
          </p:cNvPr>
          <p:cNvSpPr/>
          <p:nvPr/>
        </p:nvSpPr>
        <p:spPr>
          <a:xfrm>
            <a:off x="4133850" y="3981450"/>
            <a:ext cx="1133475" cy="52387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D0C2DB-A901-4C97-BC72-1C8CA4E69BF8}"/>
              </a:ext>
            </a:extLst>
          </p:cNvPr>
          <p:cNvSpPr/>
          <p:nvPr/>
        </p:nvSpPr>
        <p:spPr>
          <a:xfrm>
            <a:off x="4133849" y="4767262"/>
            <a:ext cx="1133475" cy="52387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2F0187-AF62-4C38-96CC-2244A56108B8}"/>
              </a:ext>
            </a:extLst>
          </p:cNvPr>
          <p:cNvSpPr/>
          <p:nvPr/>
        </p:nvSpPr>
        <p:spPr>
          <a:xfrm>
            <a:off x="4133849" y="5519738"/>
            <a:ext cx="1381126" cy="35718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9CAEB4-9E9C-4ADF-87A0-3D9860A07A8E}"/>
              </a:ext>
            </a:extLst>
          </p:cNvPr>
          <p:cNvSpPr/>
          <p:nvPr/>
        </p:nvSpPr>
        <p:spPr>
          <a:xfrm>
            <a:off x="4133849" y="3752850"/>
            <a:ext cx="1133475" cy="2286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5806D6B-8764-481F-A7C5-B30ABE9ADBA8}"/>
              </a:ext>
            </a:extLst>
          </p:cNvPr>
          <p:cNvSpPr/>
          <p:nvPr/>
        </p:nvSpPr>
        <p:spPr>
          <a:xfrm>
            <a:off x="4133849" y="4526756"/>
            <a:ext cx="1133475" cy="2286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BBC9A0-F151-4B28-8AC9-DFA03DF794B7}"/>
              </a:ext>
            </a:extLst>
          </p:cNvPr>
          <p:cNvSpPr/>
          <p:nvPr/>
        </p:nvSpPr>
        <p:spPr>
          <a:xfrm>
            <a:off x="4133848" y="5303099"/>
            <a:ext cx="1133475" cy="2286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15680C77-2AF9-4BC0-B67C-07818D1576D9}"/>
              </a:ext>
            </a:extLst>
          </p:cNvPr>
          <p:cNvSpPr/>
          <p:nvPr/>
        </p:nvSpPr>
        <p:spPr>
          <a:xfrm>
            <a:off x="5610225" y="2933700"/>
            <a:ext cx="1133475" cy="4953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77D164FB-669F-433E-8374-6A8625A83F5E}"/>
              </a:ext>
            </a:extLst>
          </p:cNvPr>
          <p:cNvSpPr/>
          <p:nvPr/>
        </p:nvSpPr>
        <p:spPr>
          <a:xfrm>
            <a:off x="5610224" y="4451747"/>
            <a:ext cx="2292333" cy="37861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15680C77-2AF9-4BC0-B67C-07818D1576D9}"/>
              </a:ext>
            </a:extLst>
          </p:cNvPr>
          <p:cNvSpPr/>
          <p:nvPr/>
        </p:nvSpPr>
        <p:spPr>
          <a:xfrm>
            <a:off x="5610224" y="4992032"/>
            <a:ext cx="3486152" cy="49530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15680C77-2AF9-4BC0-B67C-07818D1576D9}"/>
              </a:ext>
            </a:extLst>
          </p:cNvPr>
          <p:cNvSpPr/>
          <p:nvPr/>
        </p:nvSpPr>
        <p:spPr>
          <a:xfrm>
            <a:off x="5657849" y="3820107"/>
            <a:ext cx="1133475" cy="495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DC75E89-3F88-49DE-91BD-3C8F007C8E1D}"/>
              </a:ext>
            </a:extLst>
          </p:cNvPr>
          <p:cNvSpPr txBox="1"/>
          <p:nvPr/>
        </p:nvSpPr>
        <p:spPr>
          <a:xfrm>
            <a:off x="6805519" y="2852483"/>
            <a:ext cx="4420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复位信号及时钟信号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AC1983-661E-437E-9055-B9726CF8C488}"/>
              </a:ext>
            </a:extLst>
          </p:cNvPr>
          <p:cNvSpPr txBox="1"/>
          <p:nvPr/>
        </p:nvSpPr>
        <p:spPr>
          <a:xfrm>
            <a:off x="6805519" y="3752850"/>
            <a:ext cx="4420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使能信号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9315A14-6290-4E86-839D-4914CB582C52}"/>
              </a:ext>
            </a:extLst>
          </p:cNvPr>
          <p:cNvSpPr txBox="1"/>
          <p:nvPr/>
        </p:nvSpPr>
        <p:spPr>
          <a:xfrm>
            <a:off x="7902557" y="4290569"/>
            <a:ext cx="4420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数据信号及有效信号</a:t>
            </a:r>
          </a:p>
        </p:txBody>
      </p:sp>
      <p:sp>
        <p:nvSpPr>
          <p:cNvPr id="23" name="文本框 18">
            <a:extLst>
              <a:ext uri="{FF2B5EF4-FFF2-40B4-BE49-F238E27FC236}">
                <a16:creationId xmlns:a16="http://schemas.microsoft.com/office/drawing/2014/main" id="{2DC75E89-3F88-49DE-91BD-3C8F007C8E1D}"/>
              </a:ext>
            </a:extLst>
          </p:cNvPr>
          <p:cNvSpPr txBox="1"/>
          <p:nvPr/>
        </p:nvSpPr>
        <p:spPr>
          <a:xfrm>
            <a:off x="9148219" y="4910815"/>
            <a:ext cx="2767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状态信号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B2A281A-DD3E-634F-8BB7-2899E22AB92E}"/>
              </a:ext>
            </a:extLst>
          </p:cNvPr>
          <p:cNvSpPr txBox="1"/>
          <p:nvPr/>
        </p:nvSpPr>
        <p:spPr>
          <a:xfrm>
            <a:off x="7096126" y="1090171"/>
            <a:ext cx="4000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代码参考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Lab3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735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082963-3A6D-48F2-9CC0-8BF6F463D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42888"/>
            <a:ext cx="8724900" cy="615950"/>
          </a:xfrm>
        </p:spPr>
        <p:txBody>
          <a:bodyPr/>
          <a:lstStyle/>
          <a:p>
            <a:pPr algn="ctr"/>
            <a:r>
              <a:rPr lang="en-US" altLang="zh-CN" dirty="0"/>
              <a:t>FIFO</a:t>
            </a:r>
            <a:r>
              <a:rPr lang="zh-CN" altLang="en-US" dirty="0"/>
              <a:t>与</a:t>
            </a:r>
            <a:r>
              <a:rPr lang="en-US" altLang="zh-CN" dirty="0"/>
              <a:t>FC</a:t>
            </a:r>
            <a:r>
              <a:rPr lang="zh-CN" altLang="en-US" dirty="0"/>
              <a:t>连接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C60150-506E-45FB-9A98-21A2E33E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4A6CAB-8151-45F7-8840-70BF3613FC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7F8B0A9-637C-41A4-BF3A-65B9A52998DA}"/>
              </a:ext>
            </a:extLst>
          </p:cNvPr>
          <p:cNvSpPr/>
          <p:nvPr/>
        </p:nvSpPr>
        <p:spPr>
          <a:xfrm>
            <a:off x="4857750" y="1638042"/>
            <a:ext cx="2057400" cy="3581915"/>
          </a:xfrm>
          <a:prstGeom prst="rect">
            <a:avLst/>
          </a:prstGeom>
          <a:solidFill>
            <a:srgbClr val="CCC2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</a:t>
            </a:r>
            <a:endParaRPr lang="zh-CN" altLang="en-US" sz="3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D8957A6C-10C3-4BAF-BB6B-F573B7906199}"/>
              </a:ext>
            </a:extLst>
          </p:cNvPr>
          <p:cNvCxnSpPr/>
          <p:nvPr/>
        </p:nvCxnSpPr>
        <p:spPr>
          <a:xfrm>
            <a:off x="3962400" y="1919030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473B224F-6B38-4D71-A891-2141B011F96C}"/>
              </a:ext>
            </a:extLst>
          </p:cNvPr>
          <p:cNvSpPr txBox="1"/>
          <p:nvPr/>
        </p:nvSpPr>
        <p:spPr>
          <a:xfrm>
            <a:off x="4086225" y="1598395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clk_i</a:t>
            </a:r>
            <a:endParaRPr lang="zh-CN" altLang="en-US" b="1" dirty="0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451B8796-F66F-4345-B223-62A2E0C373A7}"/>
              </a:ext>
            </a:extLst>
          </p:cNvPr>
          <p:cNvCxnSpPr/>
          <p:nvPr/>
        </p:nvCxnSpPr>
        <p:spPr>
          <a:xfrm>
            <a:off x="3962400" y="2288362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D5CD12D0-E056-4936-9702-58C51DC0D00F}"/>
              </a:ext>
            </a:extLst>
          </p:cNvPr>
          <p:cNvSpPr txBox="1"/>
          <p:nvPr/>
        </p:nvSpPr>
        <p:spPr>
          <a:xfrm>
            <a:off x="4024313" y="1963501"/>
            <a:ext cx="77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rst_i</a:t>
            </a:r>
            <a:endParaRPr lang="zh-CN" altLang="en-US" b="1" dirty="0"/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EFF943AF-5A20-42D9-B130-FD9815CE6ADB}"/>
              </a:ext>
            </a:extLst>
          </p:cNvPr>
          <p:cNvCxnSpPr/>
          <p:nvPr/>
        </p:nvCxnSpPr>
        <p:spPr>
          <a:xfrm>
            <a:off x="7019643" y="1870584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81F1D86C-0506-4E65-ADA2-372FA279E3CB}"/>
              </a:ext>
            </a:extLst>
          </p:cNvPr>
          <p:cNvSpPr txBox="1"/>
          <p:nvPr/>
        </p:nvSpPr>
        <p:spPr>
          <a:xfrm>
            <a:off x="6967255" y="1549949"/>
            <a:ext cx="92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done_o</a:t>
            </a:r>
            <a:endParaRPr lang="zh-CN" altLang="en-US" b="1" dirty="0"/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5D85D280-EEC5-41F3-9F67-A514D3A7504D}"/>
              </a:ext>
            </a:extLst>
          </p:cNvPr>
          <p:cNvCxnSpPr>
            <a:cxnSpLocks/>
          </p:cNvCxnSpPr>
          <p:nvPr/>
        </p:nvCxnSpPr>
        <p:spPr>
          <a:xfrm>
            <a:off x="2862263" y="2787480"/>
            <a:ext cx="2024853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CFD54417-17E5-4796-89FC-162A7BE08BF5}"/>
              </a:ext>
            </a:extLst>
          </p:cNvPr>
          <p:cNvSpPr txBox="1"/>
          <p:nvPr/>
        </p:nvSpPr>
        <p:spPr>
          <a:xfrm>
            <a:off x="4733925" y="2562265"/>
            <a:ext cx="164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input_data_i</a:t>
            </a:r>
            <a:endParaRPr lang="zh-CN" altLang="en-US" b="1" dirty="0"/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A0C607C7-C95C-4DD4-BF96-BD4CFE637F7F}"/>
              </a:ext>
            </a:extLst>
          </p:cNvPr>
          <p:cNvCxnSpPr>
            <a:cxnSpLocks/>
          </p:cNvCxnSpPr>
          <p:nvPr/>
        </p:nvCxnSpPr>
        <p:spPr>
          <a:xfrm>
            <a:off x="6967255" y="4395431"/>
            <a:ext cx="2846669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82439363-2AB9-4958-A416-F3FCD5A3FBF9}"/>
              </a:ext>
            </a:extLst>
          </p:cNvPr>
          <p:cNvSpPr txBox="1"/>
          <p:nvPr/>
        </p:nvSpPr>
        <p:spPr>
          <a:xfrm>
            <a:off x="5886450" y="4105639"/>
            <a:ext cx="123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data_o</a:t>
            </a:r>
            <a:endParaRPr lang="zh-CN" altLang="en-US" b="1" dirty="0"/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88834AFC-B3FA-44EE-AF8A-713130C90AFE}"/>
              </a:ext>
            </a:extLst>
          </p:cNvPr>
          <p:cNvCxnSpPr>
            <a:cxnSpLocks/>
          </p:cNvCxnSpPr>
          <p:nvPr/>
        </p:nvCxnSpPr>
        <p:spPr>
          <a:xfrm>
            <a:off x="6967255" y="4786377"/>
            <a:ext cx="2832975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73C067B2-2002-4EA5-BCC4-1EF0AEEA19DF}"/>
              </a:ext>
            </a:extLst>
          </p:cNvPr>
          <p:cNvCxnSpPr>
            <a:cxnSpLocks/>
          </p:cNvCxnSpPr>
          <p:nvPr/>
        </p:nvCxnSpPr>
        <p:spPr>
          <a:xfrm flipH="1">
            <a:off x="6932651" y="2511644"/>
            <a:ext cx="2929569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矩形 105">
            <a:extLst>
              <a:ext uri="{FF2B5EF4-FFF2-40B4-BE49-F238E27FC236}">
                <a16:creationId xmlns:a16="http://schemas.microsoft.com/office/drawing/2014/main" id="{D954E7AD-25D7-4E0D-BAC9-A9EDD592E4E4}"/>
              </a:ext>
            </a:extLst>
          </p:cNvPr>
          <p:cNvSpPr/>
          <p:nvPr/>
        </p:nvSpPr>
        <p:spPr>
          <a:xfrm>
            <a:off x="874314" y="1638042"/>
            <a:ext cx="2057400" cy="3581915"/>
          </a:xfrm>
          <a:prstGeom prst="rect">
            <a:avLst/>
          </a:prstGeom>
          <a:solidFill>
            <a:srgbClr val="CCC2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endParaRPr lang="zh-CN" altLang="en-US" sz="3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F415603A-BC54-4866-9C9C-1A820DC9DB76}"/>
              </a:ext>
            </a:extLst>
          </p:cNvPr>
          <p:cNvSpPr/>
          <p:nvPr/>
        </p:nvSpPr>
        <p:spPr>
          <a:xfrm>
            <a:off x="9844719" y="1638042"/>
            <a:ext cx="2057400" cy="3581915"/>
          </a:xfrm>
          <a:prstGeom prst="rect">
            <a:avLst/>
          </a:prstGeom>
          <a:solidFill>
            <a:srgbClr val="CCC2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endParaRPr lang="zh-CN" altLang="en-US" sz="3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A09DED07-4A45-462F-9330-797D15098053}"/>
              </a:ext>
            </a:extLst>
          </p:cNvPr>
          <p:cNvCxnSpPr>
            <a:cxnSpLocks/>
          </p:cNvCxnSpPr>
          <p:nvPr/>
        </p:nvCxnSpPr>
        <p:spPr>
          <a:xfrm>
            <a:off x="2931714" y="4629606"/>
            <a:ext cx="1951034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70405DA5-0DC4-44D0-91AD-830C1C042D44}"/>
              </a:ext>
            </a:extLst>
          </p:cNvPr>
          <p:cNvCxnSpPr/>
          <p:nvPr/>
        </p:nvCxnSpPr>
        <p:spPr>
          <a:xfrm>
            <a:off x="9920" y="1919030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31989D39-DEC1-4185-9361-9EB96F12F75C}"/>
              </a:ext>
            </a:extLst>
          </p:cNvPr>
          <p:cNvSpPr txBox="1"/>
          <p:nvPr/>
        </p:nvSpPr>
        <p:spPr>
          <a:xfrm>
            <a:off x="133745" y="1598395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clk_i</a:t>
            </a:r>
            <a:endParaRPr lang="zh-CN" altLang="en-US" b="1" dirty="0"/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1204D738-559F-423C-BECC-F1EFC61246F4}"/>
              </a:ext>
            </a:extLst>
          </p:cNvPr>
          <p:cNvCxnSpPr/>
          <p:nvPr/>
        </p:nvCxnSpPr>
        <p:spPr>
          <a:xfrm>
            <a:off x="9920" y="2288362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6A14D732-E6D5-4F84-AF42-30E2F33405BD}"/>
              </a:ext>
            </a:extLst>
          </p:cNvPr>
          <p:cNvSpPr txBox="1"/>
          <p:nvPr/>
        </p:nvSpPr>
        <p:spPr>
          <a:xfrm>
            <a:off x="71833" y="1963501"/>
            <a:ext cx="77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rst_i</a:t>
            </a:r>
            <a:endParaRPr lang="zh-CN" altLang="en-US" b="1" dirty="0"/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C3743C06-B835-4722-9015-2B5B59622AE1}"/>
              </a:ext>
            </a:extLst>
          </p:cNvPr>
          <p:cNvCxnSpPr/>
          <p:nvPr/>
        </p:nvCxnSpPr>
        <p:spPr>
          <a:xfrm>
            <a:off x="8918574" y="1919030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9F0CCD18-DE03-440C-AAC1-E2920A301A70}"/>
              </a:ext>
            </a:extLst>
          </p:cNvPr>
          <p:cNvSpPr txBox="1"/>
          <p:nvPr/>
        </p:nvSpPr>
        <p:spPr>
          <a:xfrm>
            <a:off x="9042399" y="1598395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clk_i</a:t>
            </a:r>
            <a:endParaRPr lang="zh-CN" altLang="en-US" b="1" dirty="0"/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9712406F-763F-4E1C-8CC0-74985DFE9F14}"/>
              </a:ext>
            </a:extLst>
          </p:cNvPr>
          <p:cNvCxnSpPr/>
          <p:nvPr/>
        </p:nvCxnSpPr>
        <p:spPr>
          <a:xfrm>
            <a:off x="8918574" y="2288362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16A0A7F6-30F9-4924-9E0A-11DBF3A1EC30}"/>
              </a:ext>
            </a:extLst>
          </p:cNvPr>
          <p:cNvSpPr txBox="1"/>
          <p:nvPr/>
        </p:nvSpPr>
        <p:spPr>
          <a:xfrm>
            <a:off x="8980487" y="1963501"/>
            <a:ext cx="77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rst_i</a:t>
            </a:r>
            <a:endParaRPr lang="zh-CN" altLang="en-US" b="1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C524440F-4DE5-42CB-B24D-1BDAFF81B509}"/>
              </a:ext>
            </a:extLst>
          </p:cNvPr>
          <p:cNvSpPr txBox="1"/>
          <p:nvPr/>
        </p:nvSpPr>
        <p:spPr>
          <a:xfrm>
            <a:off x="1601034" y="2536704"/>
            <a:ext cx="164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data_out</a:t>
            </a:r>
            <a:endParaRPr lang="zh-CN" altLang="en-US" b="1" dirty="0"/>
          </a:p>
        </p:txBody>
      </p:sp>
      <p:sp>
        <p:nvSpPr>
          <p:cNvPr id="120" name="文本框 82">
            <a:extLst>
              <a:ext uri="{FF2B5EF4-FFF2-40B4-BE49-F238E27FC236}">
                <a16:creationId xmlns:a16="http://schemas.microsoft.com/office/drawing/2014/main" id="{CFD54417-17E5-4796-89FC-162A7BE08BF5}"/>
              </a:ext>
            </a:extLst>
          </p:cNvPr>
          <p:cNvSpPr txBox="1"/>
          <p:nvPr/>
        </p:nvSpPr>
        <p:spPr>
          <a:xfrm>
            <a:off x="4525485" y="4395431"/>
            <a:ext cx="164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 err="1"/>
              <a:t>data_vld</a:t>
            </a:r>
            <a:endParaRPr lang="zh-CN" altLang="en-US" b="1" dirty="0"/>
          </a:p>
        </p:txBody>
      </p:sp>
      <p:sp>
        <p:nvSpPr>
          <p:cNvPr id="121" name="文本框 82">
            <a:extLst>
              <a:ext uri="{FF2B5EF4-FFF2-40B4-BE49-F238E27FC236}">
                <a16:creationId xmlns:a16="http://schemas.microsoft.com/office/drawing/2014/main" id="{CFD54417-17E5-4796-89FC-162A7BE08BF5}"/>
              </a:ext>
            </a:extLst>
          </p:cNvPr>
          <p:cNvSpPr txBox="1"/>
          <p:nvPr/>
        </p:nvSpPr>
        <p:spPr>
          <a:xfrm>
            <a:off x="1632940" y="4417045"/>
            <a:ext cx="164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 err="1"/>
              <a:t>data_vld</a:t>
            </a:r>
            <a:endParaRPr lang="zh-CN" altLang="en-US" b="1" dirty="0"/>
          </a:p>
        </p:txBody>
      </p: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31676E07-A90E-4AC3-B21F-290D4A83C863}"/>
              </a:ext>
            </a:extLst>
          </p:cNvPr>
          <p:cNvCxnSpPr>
            <a:cxnSpLocks/>
          </p:cNvCxnSpPr>
          <p:nvPr/>
        </p:nvCxnSpPr>
        <p:spPr>
          <a:xfrm flipH="1">
            <a:off x="2916345" y="4991313"/>
            <a:ext cx="1966403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文本框 82">
            <a:extLst>
              <a:ext uri="{FF2B5EF4-FFF2-40B4-BE49-F238E27FC236}">
                <a16:creationId xmlns:a16="http://schemas.microsoft.com/office/drawing/2014/main" id="{39A22E3A-A2C7-4CE9-9D1E-C2561EBE4E0E}"/>
              </a:ext>
            </a:extLst>
          </p:cNvPr>
          <p:cNvSpPr txBox="1"/>
          <p:nvPr/>
        </p:nvSpPr>
        <p:spPr>
          <a:xfrm>
            <a:off x="1521219" y="4758539"/>
            <a:ext cx="164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 err="1"/>
              <a:t>dout_ready</a:t>
            </a:r>
            <a:endParaRPr lang="zh-CN" altLang="en-US" b="1" dirty="0"/>
          </a:p>
        </p:txBody>
      </p:sp>
      <p:sp>
        <p:nvSpPr>
          <p:cNvPr id="126" name="文本框 82">
            <a:extLst>
              <a:ext uri="{FF2B5EF4-FFF2-40B4-BE49-F238E27FC236}">
                <a16:creationId xmlns:a16="http://schemas.microsoft.com/office/drawing/2014/main" id="{39A22E3A-A2C7-4CE9-9D1E-C2561EBE4E0E}"/>
              </a:ext>
            </a:extLst>
          </p:cNvPr>
          <p:cNvSpPr txBox="1"/>
          <p:nvPr/>
        </p:nvSpPr>
        <p:spPr>
          <a:xfrm>
            <a:off x="4576907" y="4760950"/>
            <a:ext cx="164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 err="1"/>
              <a:t>din_ready</a:t>
            </a:r>
            <a:endParaRPr lang="zh-CN" altLang="en-US" b="1" dirty="0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E71C3463-7469-436B-BDEC-CD298630F531}"/>
              </a:ext>
            </a:extLst>
          </p:cNvPr>
          <p:cNvSpPr txBox="1"/>
          <p:nvPr/>
        </p:nvSpPr>
        <p:spPr>
          <a:xfrm>
            <a:off x="5873837" y="4478456"/>
            <a:ext cx="123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data_vld</a:t>
            </a:r>
            <a:endParaRPr lang="zh-CN" altLang="en-US" b="1" dirty="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97019260-1293-42CF-BE16-8B60DD23CAF8}"/>
              </a:ext>
            </a:extLst>
          </p:cNvPr>
          <p:cNvSpPr txBox="1"/>
          <p:nvPr/>
        </p:nvSpPr>
        <p:spPr>
          <a:xfrm>
            <a:off x="9751820" y="2314933"/>
            <a:ext cx="1337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outfifo_full</a:t>
            </a:r>
            <a:endParaRPr lang="zh-CN" altLang="en-US" b="1" dirty="0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12E2DB1-794C-44F8-89A3-C57189B01A79}"/>
              </a:ext>
            </a:extLst>
          </p:cNvPr>
          <p:cNvSpPr txBox="1"/>
          <p:nvPr/>
        </p:nvSpPr>
        <p:spPr>
          <a:xfrm>
            <a:off x="5686053" y="2279771"/>
            <a:ext cx="1337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outfifo_full</a:t>
            </a:r>
            <a:endParaRPr lang="zh-CN" altLang="en-US" b="1" dirty="0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3B6FD3AF-6953-4B00-84EC-E1439BFD3C9A}"/>
              </a:ext>
            </a:extLst>
          </p:cNvPr>
          <p:cNvSpPr txBox="1"/>
          <p:nvPr/>
        </p:nvSpPr>
        <p:spPr>
          <a:xfrm>
            <a:off x="9613060" y="4140360"/>
            <a:ext cx="123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data_i</a:t>
            </a:r>
            <a:endParaRPr lang="zh-CN" altLang="en-US" b="1" dirty="0"/>
          </a:p>
        </p:txBody>
      </p:sp>
      <p:sp>
        <p:nvSpPr>
          <p:cNvPr id="144" name="文本框 92">
            <a:extLst>
              <a:ext uri="{FF2B5EF4-FFF2-40B4-BE49-F238E27FC236}">
                <a16:creationId xmlns:a16="http://schemas.microsoft.com/office/drawing/2014/main" id="{82439363-2AB9-4958-A416-F3FCD5A3FBF9}"/>
              </a:ext>
            </a:extLst>
          </p:cNvPr>
          <p:cNvSpPr txBox="1"/>
          <p:nvPr/>
        </p:nvSpPr>
        <p:spPr>
          <a:xfrm>
            <a:off x="9719080" y="4580097"/>
            <a:ext cx="123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 err="1"/>
              <a:t>data_vld</a:t>
            </a:r>
            <a:endParaRPr lang="zh-CN" altLang="en-US" b="1" dirty="0"/>
          </a:p>
        </p:txBody>
      </p: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AE7E2B70-ACB5-4E3E-98FF-124F50C21754}"/>
              </a:ext>
            </a:extLst>
          </p:cNvPr>
          <p:cNvCxnSpPr>
            <a:cxnSpLocks/>
          </p:cNvCxnSpPr>
          <p:nvPr/>
        </p:nvCxnSpPr>
        <p:spPr>
          <a:xfrm>
            <a:off x="2931714" y="3139923"/>
            <a:ext cx="1951034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文本框 147">
            <a:extLst>
              <a:ext uri="{FF2B5EF4-FFF2-40B4-BE49-F238E27FC236}">
                <a16:creationId xmlns:a16="http://schemas.microsoft.com/office/drawing/2014/main" id="{8196867B-82B2-440D-A106-2CF044E8089E}"/>
              </a:ext>
            </a:extLst>
          </p:cNvPr>
          <p:cNvSpPr txBox="1"/>
          <p:nvPr/>
        </p:nvSpPr>
        <p:spPr>
          <a:xfrm>
            <a:off x="1733550" y="2937732"/>
            <a:ext cx="164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empty</a:t>
            </a:r>
            <a:endParaRPr lang="zh-CN" altLang="en-US" b="1" dirty="0"/>
          </a:p>
        </p:txBody>
      </p:sp>
      <p:sp>
        <p:nvSpPr>
          <p:cNvPr id="149" name="文本框 118">
            <a:extLst>
              <a:ext uri="{FF2B5EF4-FFF2-40B4-BE49-F238E27FC236}">
                <a16:creationId xmlns:a16="http://schemas.microsoft.com/office/drawing/2014/main" id="{C524440F-4DE5-42CB-B24D-1BDAFF81B509}"/>
              </a:ext>
            </a:extLst>
          </p:cNvPr>
          <p:cNvSpPr txBox="1"/>
          <p:nvPr/>
        </p:nvSpPr>
        <p:spPr>
          <a:xfrm>
            <a:off x="4733925" y="2884216"/>
            <a:ext cx="164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 err="1"/>
              <a:t>infifo_empty</a:t>
            </a:r>
            <a:endParaRPr lang="zh-CN" altLang="en-US" b="1" dirty="0"/>
          </a:p>
        </p:txBody>
      </p: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1DE45328-5C2A-4D9F-B8E9-EDB673ED0CFE}"/>
              </a:ext>
            </a:extLst>
          </p:cNvPr>
          <p:cNvCxnSpPr>
            <a:cxnSpLocks/>
          </p:cNvCxnSpPr>
          <p:nvPr/>
        </p:nvCxnSpPr>
        <p:spPr>
          <a:xfrm>
            <a:off x="2931714" y="4021153"/>
            <a:ext cx="1951034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2" name="文本框 118">
            <a:extLst>
              <a:ext uri="{FF2B5EF4-FFF2-40B4-BE49-F238E27FC236}">
                <a16:creationId xmlns:a16="http://schemas.microsoft.com/office/drawing/2014/main" id="{84B002BD-1AAB-4B03-8C9B-7C42E7B54CB5}"/>
              </a:ext>
            </a:extLst>
          </p:cNvPr>
          <p:cNvSpPr txBox="1"/>
          <p:nvPr/>
        </p:nvSpPr>
        <p:spPr>
          <a:xfrm>
            <a:off x="4559893" y="3815867"/>
            <a:ext cx="164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 err="1"/>
              <a:t>infifo_full</a:t>
            </a:r>
            <a:endParaRPr lang="zh-CN" altLang="en-US" b="1" dirty="0"/>
          </a:p>
        </p:txBody>
      </p:sp>
      <p:sp>
        <p:nvSpPr>
          <p:cNvPr id="153" name="文本框 118">
            <a:extLst>
              <a:ext uri="{FF2B5EF4-FFF2-40B4-BE49-F238E27FC236}">
                <a16:creationId xmlns:a16="http://schemas.microsoft.com/office/drawing/2014/main" id="{CDC7D525-DAC5-41C6-9B16-D20115654C94}"/>
              </a:ext>
            </a:extLst>
          </p:cNvPr>
          <p:cNvSpPr txBox="1"/>
          <p:nvPr/>
        </p:nvSpPr>
        <p:spPr>
          <a:xfrm>
            <a:off x="1844694" y="3818446"/>
            <a:ext cx="164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/>
              <a:t>full</a:t>
            </a:r>
            <a:endParaRPr lang="zh-CN" altLang="en-US" b="1" dirty="0"/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814563F1-C6A3-44BF-AF88-915F94BFBABE}"/>
              </a:ext>
            </a:extLst>
          </p:cNvPr>
          <p:cNvCxnSpPr>
            <a:cxnSpLocks/>
          </p:cNvCxnSpPr>
          <p:nvPr/>
        </p:nvCxnSpPr>
        <p:spPr>
          <a:xfrm flipH="1">
            <a:off x="6925804" y="3815490"/>
            <a:ext cx="2929569" cy="0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5" name="文本框 154">
            <a:extLst>
              <a:ext uri="{FF2B5EF4-FFF2-40B4-BE49-F238E27FC236}">
                <a16:creationId xmlns:a16="http://schemas.microsoft.com/office/drawing/2014/main" id="{922349E5-0256-48C5-B778-6AD5FBF6B3A0}"/>
              </a:ext>
            </a:extLst>
          </p:cNvPr>
          <p:cNvSpPr txBox="1"/>
          <p:nvPr/>
        </p:nvSpPr>
        <p:spPr>
          <a:xfrm>
            <a:off x="5666642" y="3555454"/>
            <a:ext cx="1337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/>
              <a:t>outfifo_empty</a:t>
            </a:r>
            <a:endParaRPr lang="zh-CN" altLang="en-US" b="1" dirty="0"/>
          </a:p>
        </p:txBody>
      </p:sp>
      <p:sp>
        <p:nvSpPr>
          <p:cNvPr id="156" name="文本框 134">
            <a:extLst>
              <a:ext uri="{FF2B5EF4-FFF2-40B4-BE49-F238E27FC236}">
                <a16:creationId xmlns:a16="http://schemas.microsoft.com/office/drawing/2014/main" id="{012E2DB1-794C-44F8-89A3-C57189B01A79}"/>
              </a:ext>
            </a:extLst>
          </p:cNvPr>
          <p:cNvSpPr txBox="1"/>
          <p:nvPr/>
        </p:nvSpPr>
        <p:spPr>
          <a:xfrm>
            <a:off x="9751820" y="3598408"/>
            <a:ext cx="1337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 err="1"/>
              <a:t>outfifo_empty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16839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0A6E08-600B-4735-9AAA-F38A7A3DE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31774"/>
            <a:ext cx="8724900" cy="615950"/>
          </a:xfrm>
        </p:spPr>
        <p:txBody>
          <a:bodyPr/>
          <a:lstStyle/>
          <a:p>
            <a:pPr algn="ctr"/>
            <a:r>
              <a:rPr lang="en-US" altLang="zh-CN" dirty="0"/>
              <a:t>DMA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B8A706-9DE8-44EF-9721-4743D610B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4EE0BB-8D12-4687-BDEB-01140149DA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D26BD4-D985-4251-8B3B-7E3CCB2A8E9F}"/>
              </a:ext>
            </a:extLst>
          </p:cNvPr>
          <p:cNvSpPr txBox="1"/>
          <p:nvPr/>
        </p:nvSpPr>
        <p:spPr>
          <a:xfrm>
            <a:off x="175422" y="4787621"/>
            <a:ext cx="11841155" cy="1224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AXI-lite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控制接口，以及一个读写通道，通道的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主端口用于访问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，流端口用于连接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（即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522C4C-8D6A-4EBE-A725-62A542E8E38B}"/>
              </a:ext>
            </a:extLst>
          </p:cNvPr>
          <p:cNvSpPr txBox="1"/>
          <p:nvPr/>
        </p:nvSpPr>
        <p:spPr>
          <a:xfrm>
            <a:off x="9715500" y="1505515"/>
            <a:ext cx="24003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注意：写通道在写数据完成时需要设置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AXI TLAST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3CD92CB-F84C-483B-A8B0-EFED0DD91DA6}"/>
              </a:ext>
            </a:extLst>
          </p:cNvPr>
          <p:cNvSpPr/>
          <p:nvPr/>
        </p:nvSpPr>
        <p:spPr>
          <a:xfrm>
            <a:off x="5768446" y="1529161"/>
            <a:ext cx="3585104" cy="2105025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E64E510-5D77-4A0A-9CFD-76EE17F02380}"/>
              </a:ext>
            </a:extLst>
          </p:cNvPr>
          <p:cNvSpPr/>
          <p:nvPr/>
        </p:nvSpPr>
        <p:spPr>
          <a:xfrm>
            <a:off x="6300655" y="2043225"/>
            <a:ext cx="2736850" cy="129063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DA7A6F9-1275-423C-B8C3-3FD54B385D10}"/>
              </a:ext>
            </a:extLst>
          </p:cNvPr>
          <p:cNvSpPr/>
          <p:nvPr/>
        </p:nvSpPr>
        <p:spPr>
          <a:xfrm>
            <a:off x="382719" y="1310709"/>
            <a:ext cx="2752725" cy="26357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07A7DA3-96BC-49BC-9A1B-E410F9768FD7}"/>
              </a:ext>
            </a:extLst>
          </p:cNvPr>
          <p:cNvSpPr/>
          <p:nvPr/>
        </p:nvSpPr>
        <p:spPr>
          <a:xfrm>
            <a:off x="872329" y="1874594"/>
            <a:ext cx="1773503" cy="129063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E64E510-5D77-4A0A-9CFD-76EE17F02380}"/>
              </a:ext>
            </a:extLst>
          </p:cNvPr>
          <p:cNvSpPr/>
          <p:nvPr/>
        </p:nvSpPr>
        <p:spPr>
          <a:xfrm>
            <a:off x="872329" y="3269989"/>
            <a:ext cx="1773503" cy="52081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563F2CF-AE70-45E3-AB12-413F350EF244}"/>
              </a:ext>
            </a:extLst>
          </p:cNvPr>
          <p:cNvSpPr/>
          <p:nvPr/>
        </p:nvSpPr>
        <p:spPr>
          <a:xfrm>
            <a:off x="3789759" y="1874594"/>
            <a:ext cx="1489075" cy="129063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ECCEB2-418F-43F9-8DB8-0B109D33C6B2}"/>
              </a:ext>
            </a:extLst>
          </p:cNvPr>
          <p:cNvSpPr/>
          <p:nvPr/>
        </p:nvSpPr>
        <p:spPr>
          <a:xfrm>
            <a:off x="2119910" y="2269581"/>
            <a:ext cx="521757" cy="447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E3BECB-D1BC-449E-9CE3-D273128132FC}"/>
              </a:ext>
            </a:extLst>
          </p:cNvPr>
          <p:cNvSpPr/>
          <p:nvPr/>
        </p:nvSpPr>
        <p:spPr>
          <a:xfrm>
            <a:off x="3789759" y="2296075"/>
            <a:ext cx="521757" cy="447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FECCEB2-418F-43F9-8DB8-0B109D33C6B2}"/>
              </a:ext>
            </a:extLst>
          </p:cNvPr>
          <p:cNvSpPr/>
          <p:nvPr/>
        </p:nvSpPr>
        <p:spPr>
          <a:xfrm>
            <a:off x="2272709" y="3366806"/>
            <a:ext cx="347527" cy="327175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M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FECCEB2-418F-43F9-8DB8-0B109D33C6B2}"/>
              </a:ext>
            </a:extLst>
          </p:cNvPr>
          <p:cNvSpPr/>
          <p:nvPr/>
        </p:nvSpPr>
        <p:spPr>
          <a:xfrm>
            <a:off x="4474949" y="2785352"/>
            <a:ext cx="362344" cy="358231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S</a:t>
            </a:r>
            <a:endParaRPr lang="zh-CN" altLang="en-US" dirty="0"/>
          </a:p>
        </p:txBody>
      </p:sp>
      <p:sp>
        <p:nvSpPr>
          <p:cNvPr id="22" name="箭头: 左右 21">
            <a:extLst>
              <a:ext uri="{FF2B5EF4-FFF2-40B4-BE49-F238E27FC236}">
                <a16:creationId xmlns:a16="http://schemas.microsoft.com/office/drawing/2014/main" id="{8A439F2F-7803-431C-AA3E-C013E223F0B4}"/>
              </a:ext>
            </a:extLst>
          </p:cNvPr>
          <p:cNvSpPr/>
          <p:nvPr/>
        </p:nvSpPr>
        <p:spPr>
          <a:xfrm>
            <a:off x="2791353" y="2346046"/>
            <a:ext cx="876300" cy="33600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直角双向 24">
            <a:extLst>
              <a:ext uri="{FF2B5EF4-FFF2-40B4-BE49-F238E27FC236}">
                <a16:creationId xmlns:a16="http://schemas.microsoft.com/office/drawing/2014/main" id="{CA4E6D93-F674-4D02-82F1-26E0E3F0CBE6}"/>
              </a:ext>
            </a:extLst>
          </p:cNvPr>
          <p:cNvSpPr/>
          <p:nvPr/>
        </p:nvSpPr>
        <p:spPr>
          <a:xfrm>
            <a:off x="2641667" y="3205162"/>
            <a:ext cx="2077506" cy="447675"/>
          </a:xfrm>
          <a:prstGeom prst="leftUpArrow">
            <a:avLst>
              <a:gd name="adj1" fmla="val 14551"/>
              <a:gd name="adj2" fmla="val 15638"/>
              <a:gd name="adj3" fmla="val 25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02039B2F-3D6D-41FD-900D-0179B17C8E28}"/>
              </a:ext>
            </a:extLst>
          </p:cNvPr>
          <p:cNvSpPr/>
          <p:nvPr/>
        </p:nvSpPr>
        <p:spPr>
          <a:xfrm>
            <a:off x="5338629" y="2209019"/>
            <a:ext cx="853943" cy="3440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左 27">
            <a:extLst>
              <a:ext uri="{FF2B5EF4-FFF2-40B4-BE49-F238E27FC236}">
                <a16:creationId xmlns:a16="http://schemas.microsoft.com/office/drawing/2014/main" id="{ED795F61-7B5D-4BEB-B985-AA230DB6293E}"/>
              </a:ext>
            </a:extLst>
          </p:cNvPr>
          <p:cNvSpPr/>
          <p:nvPr/>
        </p:nvSpPr>
        <p:spPr>
          <a:xfrm>
            <a:off x="5308558" y="2551743"/>
            <a:ext cx="853943" cy="34407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3BCE338-B420-49F1-B744-181F5C7AFB79}"/>
              </a:ext>
            </a:extLst>
          </p:cNvPr>
          <p:cNvSpPr txBox="1"/>
          <p:nvPr/>
        </p:nvSpPr>
        <p:spPr>
          <a:xfrm>
            <a:off x="988057" y="1951578"/>
            <a:ext cx="12605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HP Ports</a:t>
            </a:r>
            <a:endParaRPr lang="zh-CN" altLang="en-US" sz="3600" b="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3B42D25-7A10-43A1-84EA-1C19F9444D43}"/>
              </a:ext>
            </a:extLst>
          </p:cNvPr>
          <p:cNvSpPr txBox="1"/>
          <p:nvPr/>
        </p:nvSpPr>
        <p:spPr>
          <a:xfrm>
            <a:off x="988057" y="3286825"/>
            <a:ext cx="1705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GP Ports</a:t>
            </a:r>
            <a:endParaRPr lang="zh-CN" altLang="en-US" sz="2400" b="1" dirty="0"/>
          </a:p>
        </p:txBody>
      </p:sp>
      <p:sp>
        <p:nvSpPr>
          <p:cNvPr id="31" name="文本框 28">
            <a:extLst>
              <a:ext uri="{FF2B5EF4-FFF2-40B4-BE49-F238E27FC236}">
                <a16:creationId xmlns:a16="http://schemas.microsoft.com/office/drawing/2014/main" id="{13BCE338-B420-49F1-B744-181F5C7AFB79}"/>
              </a:ext>
            </a:extLst>
          </p:cNvPr>
          <p:cNvSpPr txBox="1"/>
          <p:nvPr/>
        </p:nvSpPr>
        <p:spPr>
          <a:xfrm>
            <a:off x="6413752" y="2309526"/>
            <a:ext cx="2697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 dirty="0"/>
              <a:t>AXI4 Stream</a:t>
            </a:r>
            <a:endParaRPr lang="zh-CN" altLang="en-US" sz="3600" b="1" dirty="0"/>
          </a:p>
        </p:txBody>
      </p:sp>
      <p:sp>
        <p:nvSpPr>
          <p:cNvPr id="32" name="文本框 28">
            <a:extLst>
              <a:ext uri="{FF2B5EF4-FFF2-40B4-BE49-F238E27FC236}">
                <a16:creationId xmlns:a16="http://schemas.microsoft.com/office/drawing/2014/main" id="{13BCE338-B420-49F1-B744-181F5C7AFB79}"/>
              </a:ext>
            </a:extLst>
          </p:cNvPr>
          <p:cNvSpPr txBox="1"/>
          <p:nvPr/>
        </p:nvSpPr>
        <p:spPr>
          <a:xfrm>
            <a:off x="4286724" y="1846251"/>
            <a:ext cx="126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/>
              <a:t>DMA</a:t>
            </a:r>
            <a:endParaRPr lang="zh-CN" altLang="en-US" sz="3200" b="1" dirty="0"/>
          </a:p>
        </p:txBody>
      </p:sp>
      <p:sp>
        <p:nvSpPr>
          <p:cNvPr id="33" name="文本框 28">
            <a:extLst>
              <a:ext uri="{FF2B5EF4-FFF2-40B4-BE49-F238E27FC236}">
                <a16:creationId xmlns:a16="http://schemas.microsoft.com/office/drawing/2014/main" id="{13BCE338-B420-49F1-B744-181F5C7AFB79}"/>
              </a:ext>
            </a:extLst>
          </p:cNvPr>
          <p:cNvSpPr txBox="1"/>
          <p:nvPr/>
        </p:nvSpPr>
        <p:spPr>
          <a:xfrm>
            <a:off x="6596539" y="1463028"/>
            <a:ext cx="2176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 dirty="0">
                <a:solidFill>
                  <a:schemeClr val="bg1"/>
                </a:solidFill>
              </a:rPr>
              <a:t>Overlay IP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34" name="文本框 28">
            <a:extLst>
              <a:ext uri="{FF2B5EF4-FFF2-40B4-BE49-F238E27FC236}">
                <a16:creationId xmlns:a16="http://schemas.microsoft.com/office/drawing/2014/main" id="{DC22E749-02C9-479C-B779-12845C2414EF}"/>
              </a:ext>
            </a:extLst>
          </p:cNvPr>
          <p:cNvSpPr txBox="1"/>
          <p:nvPr/>
        </p:nvSpPr>
        <p:spPr>
          <a:xfrm>
            <a:off x="929290" y="1262465"/>
            <a:ext cx="2176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 dirty="0">
                <a:solidFill>
                  <a:schemeClr val="bg1"/>
                </a:solidFill>
              </a:rPr>
              <a:t>Zynq PS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C2A8EF6-904B-48BF-A96E-EBC568C293D9}"/>
              </a:ext>
            </a:extLst>
          </p:cNvPr>
          <p:cNvSpPr txBox="1"/>
          <p:nvPr/>
        </p:nvSpPr>
        <p:spPr>
          <a:xfrm>
            <a:off x="3472747" y="3552264"/>
            <a:ext cx="18244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Control interface</a:t>
            </a:r>
            <a:endParaRPr lang="zh-CN" altLang="en-US" sz="28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96D7430-017B-4A84-8075-18623BE4D395}"/>
              </a:ext>
            </a:extLst>
          </p:cNvPr>
          <p:cNvSpPr/>
          <p:nvPr/>
        </p:nvSpPr>
        <p:spPr>
          <a:xfrm>
            <a:off x="3368675" y="1117954"/>
            <a:ext cx="6175375" cy="3334796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966AE87-D45D-4602-9118-3C7C5C6C8E99}"/>
              </a:ext>
            </a:extLst>
          </p:cNvPr>
          <p:cNvSpPr txBox="1"/>
          <p:nvPr/>
        </p:nvSpPr>
        <p:spPr>
          <a:xfrm>
            <a:off x="8531291" y="3779544"/>
            <a:ext cx="1027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PL</a:t>
            </a:r>
            <a:endParaRPr lang="zh-CN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932920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1B7A2A-4441-412C-8B7E-D90F97264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61938"/>
            <a:ext cx="8724900" cy="615950"/>
          </a:xfrm>
        </p:spPr>
        <p:txBody>
          <a:bodyPr/>
          <a:lstStyle/>
          <a:p>
            <a:pPr algn="ctr"/>
            <a:r>
              <a:rPr lang="en-US" altLang="zh-CN" dirty="0"/>
              <a:t>AXIS</a:t>
            </a:r>
            <a:r>
              <a:rPr lang="zh-CN" altLang="en-US" dirty="0"/>
              <a:t>接口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1C0E961-807E-488A-9CBB-59936682F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48A6F-EF6D-43C5-879E-E51D28D116D3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4F892E-9502-4A7A-8673-DA9613874F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A055D0-29A2-478C-A993-069FB039F74D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C392E95-39C6-4861-BD2D-0A1226012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36" y="1103840"/>
            <a:ext cx="11308731" cy="465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744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456177-76D3-4E2D-A837-72F5AB88C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85750"/>
            <a:ext cx="8724900" cy="615950"/>
          </a:xfrm>
        </p:spPr>
        <p:txBody>
          <a:bodyPr/>
          <a:lstStyle/>
          <a:p>
            <a:pPr algn="ctr"/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接口到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AXIS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接口转换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779BCC-E078-4268-BC4C-DF89F1105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3306"/>
            <a:ext cx="10972800" cy="4751387"/>
          </a:xfrm>
        </p:spPr>
        <p:txBody>
          <a:bodyPr/>
          <a:lstStyle/>
          <a:p>
            <a:r>
              <a:rPr lang="zh-CN" altLang="en-US" b="1" dirty="0"/>
              <a:t>参考实验一提供的</a:t>
            </a:r>
            <a:r>
              <a:rPr lang="en-US" altLang="zh-CN" b="1" dirty="0" err="1"/>
              <a:t>axis_wr_interface.v</a:t>
            </a:r>
            <a:r>
              <a:rPr lang="zh-CN" altLang="en-US" b="1" dirty="0"/>
              <a:t>和</a:t>
            </a:r>
            <a:r>
              <a:rPr lang="en-US" altLang="zh-CN" b="1" dirty="0" err="1"/>
              <a:t>axis_rd_interface.v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67D28A-3DC3-4DED-9B6F-D0B1D475F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2779F4-B492-4B19-898D-7F354D677F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7455DA1-38D0-4670-854A-DB084C2A1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12" y="1613354"/>
            <a:ext cx="4390476" cy="45428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C657CA4-BCE1-4228-8763-115B0AF68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761" y="1813267"/>
            <a:ext cx="5423344" cy="414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41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EDFC31-F3B2-46ED-ADE4-0BC45FF33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193674"/>
            <a:ext cx="8724900" cy="615950"/>
          </a:xfrm>
        </p:spPr>
        <p:txBody>
          <a:bodyPr/>
          <a:lstStyle/>
          <a:p>
            <a:pPr algn="ctr"/>
            <a:r>
              <a:rPr lang="en-US" altLang="zh-CN" dirty="0"/>
              <a:t>PS</a:t>
            </a:r>
            <a:r>
              <a:rPr lang="zh-CN" altLang="en-US" dirty="0"/>
              <a:t>端设计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2A9BB0-53E5-46DC-AF60-606999275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C03528C-5486-4795-8028-CC08901C8E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84E0FDB-7011-4870-B2AE-8EFC970ED7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069" y="1355056"/>
            <a:ext cx="6929238" cy="531018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4924C07-AFC1-9548-A8D0-B6BB04590A96}"/>
              </a:ext>
            </a:extLst>
          </p:cNvPr>
          <p:cNvSpPr txBox="1"/>
          <p:nvPr/>
        </p:nvSpPr>
        <p:spPr>
          <a:xfrm>
            <a:off x="391990" y="1038462"/>
            <a:ext cx="10697228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端代码设计可基于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Lab1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PS-PL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交互）扩展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5C0C42-8582-FA43-8CC1-3B0EB55F64DC}"/>
              </a:ext>
            </a:extLst>
          </p:cNvPr>
          <p:cNvSpPr txBox="1"/>
          <p:nvPr/>
        </p:nvSpPr>
        <p:spPr>
          <a:xfrm>
            <a:off x="6953211" y="4229319"/>
            <a:ext cx="8743989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（推理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张后计算准确率）</a:t>
            </a:r>
          </a:p>
        </p:txBody>
      </p:sp>
    </p:spTree>
    <p:extLst>
      <p:ext uri="{BB962C8B-B14F-4D97-AF65-F5344CB8AC3E}">
        <p14:creationId xmlns:p14="http://schemas.microsoft.com/office/powerpoint/2010/main" val="2688258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11EAD-336B-4A16-AD4E-E6F472467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85750"/>
            <a:ext cx="8724900" cy="615950"/>
          </a:xfrm>
        </p:spPr>
        <p:txBody>
          <a:bodyPr/>
          <a:lstStyle/>
          <a:p>
            <a:pPr algn="ctr"/>
            <a:r>
              <a:rPr lang="en-US" altLang="zh-CN" dirty="0"/>
              <a:t>PS</a:t>
            </a:r>
            <a:r>
              <a:rPr lang="zh-CN" altLang="en-US" dirty="0"/>
              <a:t>端设计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7D83AD-90AE-4DC1-9684-55E965ED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87B3EC-B8BE-4980-950A-66C81CF1CE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51A3A35-0349-42EE-B4E3-21B1E0BCE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69" y="2247533"/>
            <a:ext cx="5304762" cy="18952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A581BE7-AE1E-46ED-AF48-C2D386E90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259" y="1200150"/>
            <a:ext cx="5479741" cy="485775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9D6E713-938B-48C7-9A4F-6BC5B754A854}"/>
              </a:ext>
            </a:extLst>
          </p:cNvPr>
          <p:cNvSpPr txBox="1"/>
          <p:nvPr/>
        </p:nvSpPr>
        <p:spPr>
          <a:xfrm>
            <a:off x="1142999" y="4142771"/>
            <a:ext cx="2714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（加载比特流）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0201AE6-A8C8-45F0-B5A1-4949F8A63109}"/>
              </a:ext>
            </a:extLst>
          </p:cNvPr>
          <p:cNvSpPr txBox="1"/>
          <p:nvPr/>
        </p:nvSpPr>
        <p:spPr>
          <a:xfrm>
            <a:off x="349151" y="1011396"/>
            <a:ext cx="49785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Lab1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端代码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61ECFA-D99A-4DCE-9520-5192A939467D}"/>
              </a:ext>
            </a:extLst>
          </p:cNvPr>
          <p:cNvSpPr txBox="1"/>
          <p:nvPr/>
        </p:nvSpPr>
        <p:spPr>
          <a:xfrm>
            <a:off x="4617111" y="4641529"/>
            <a:ext cx="20097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（使用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发送和接收数据）</a:t>
            </a:r>
          </a:p>
        </p:txBody>
      </p:sp>
    </p:spTree>
    <p:extLst>
      <p:ext uri="{BB962C8B-B14F-4D97-AF65-F5344CB8AC3E}">
        <p14:creationId xmlns:p14="http://schemas.microsoft.com/office/powerpoint/2010/main" val="2758518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A982B-3011-4680-88A9-B0D8E45B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85750"/>
            <a:ext cx="8724900" cy="615950"/>
          </a:xfrm>
        </p:spPr>
        <p:txBody>
          <a:bodyPr/>
          <a:lstStyle/>
          <a:p>
            <a:pPr algn="ctr"/>
            <a:r>
              <a:rPr lang="en-US" altLang="zh-CN" dirty="0"/>
              <a:t>PS</a:t>
            </a:r>
            <a:r>
              <a:rPr lang="zh-CN" altLang="en-US" dirty="0"/>
              <a:t>端设计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043D62-B0A0-4A6F-8C8D-82BECE234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8AB99B-C884-4B20-92FE-396B096A08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A29E61-A139-4FAD-B44A-1047F26CB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1" y="1992433"/>
            <a:ext cx="9099899" cy="15286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CFFBBFF-A0F5-42D4-8B62-425DA36B9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65552"/>
            <a:ext cx="12025828" cy="210193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19331AE-E69F-4844-BE75-8C61E3566EFC}"/>
              </a:ext>
            </a:extLst>
          </p:cNvPr>
          <p:cNvSpPr txBox="1"/>
          <p:nvPr/>
        </p:nvSpPr>
        <p:spPr>
          <a:xfrm>
            <a:off x="5343525" y="1128954"/>
            <a:ext cx="69553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hlinkClick r:id="rId4"/>
              </a:rPr>
              <a:t>DMA — Python productivity for Zynq (</a:t>
            </a:r>
            <a:r>
              <a:rPr lang="en-US" altLang="zh-CN" sz="2800" dirty="0" err="1">
                <a:hlinkClick r:id="rId4"/>
              </a:rPr>
              <a:t>Pynq</a:t>
            </a:r>
            <a:r>
              <a:rPr lang="en-US" altLang="zh-CN" sz="2800" dirty="0">
                <a:hlinkClick r:id="rId4"/>
              </a:rPr>
              <a:t>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74459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1524000" y="223838"/>
            <a:ext cx="9144000" cy="615950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评分标准及</a:t>
            </a:r>
            <a:r>
              <a:rPr lang="en-US" altLang="zh-CN" dirty="0"/>
              <a:t>Tips</a:t>
            </a:r>
            <a:endParaRPr lang="zh-CN" altLang="en-US" dirty="0"/>
          </a:p>
        </p:txBody>
      </p:sp>
      <p:sp>
        <p:nvSpPr>
          <p:cNvPr id="8196" name="日期占位符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19832871-3CF0-4CDF-B9D2-699991AEFBC2}" type="datetime1">
              <a:rPr lang="zh-CN" altLang="en-US" sz="1400">
                <a:solidFill>
                  <a:srgbClr val="0A419B"/>
                </a:solidFill>
              </a:rPr>
              <a:t>2025/11/15</a:t>
            </a:fld>
            <a:endParaRPr lang="zh-CN" altLang="en-US" sz="1400">
              <a:solidFill>
                <a:srgbClr val="0A419B"/>
              </a:solidFill>
            </a:endParaRPr>
          </a:p>
        </p:txBody>
      </p:sp>
      <p:sp>
        <p:nvSpPr>
          <p:cNvPr id="8197" name="灯片编号占位符 5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t>18</a:t>
            </a:fld>
            <a:endParaRPr lang="zh-CN" altLang="en-US" sz="1400" dirty="0">
              <a:solidFill>
                <a:srgbClr val="FFFF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2505" y="1030413"/>
            <a:ext cx="11856620" cy="50048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、推理准确率（</a:t>
            </a: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r>
              <a:rPr lang="zh-CN" altLang="en-US" sz="2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7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分类准确率越高越好。</a:t>
            </a:r>
            <a:endParaRPr lang="en-US" altLang="zh-CN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、推理时间（</a:t>
            </a: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r>
              <a:rPr lang="zh-CN" altLang="en-US" sz="2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7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打印推理时间，时间越短越好。</a:t>
            </a:r>
            <a:endParaRPr lang="en-US" altLang="zh-CN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、资源占用（</a:t>
            </a: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r>
              <a:rPr lang="zh-CN" altLang="en-US" sz="2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7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7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Vivado</a:t>
            </a:r>
            <a:r>
              <a:rPr lang="zh-CN" altLang="en-US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中布局布线后的资源占用为准，越低越好。</a:t>
            </a:r>
            <a:endParaRPr lang="en-US" altLang="zh-CN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、功耗（</a:t>
            </a: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r>
              <a:rPr lang="zh-CN" altLang="en-US" sz="27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7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7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Vivado</a:t>
            </a:r>
            <a:r>
              <a:rPr lang="zh-CN" altLang="en-US" sz="2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中布局布线后的功耗报告为准，越低越好。</a:t>
            </a:r>
            <a:endParaRPr lang="en-US" altLang="zh-CN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084ADC5-406C-40E3-9986-66245737BBA0}"/>
              </a:ext>
            </a:extLst>
          </p:cNvPr>
          <p:cNvSpPr/>
          <p:nvPr/>
        </p:nvSpPr>
        <p:spPr>
          <a:xfrm>
            <a:off x="4751721" y="981697"/>
            <a:ext cx="7294646" cy="1057275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调整截位方式，对原始模型进行重新量化等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A3C4D39-3EED-433F-B132-9E422F1A5EDA}"/>
              </a:ext>
            </a:extLst>
          </p:cNvPr>
          <p:cNvSpPr/>
          <p:nvPr/>
        </p:nvSpPr>
        <p:spPr>
          <a:xfrm>
            <a:off x="4751721" y="2245140"/>
            <a:ext cx="7294646" cy="1057275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修改计算并行度，提高时钟频率等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084ADC5-406C-40E3-9986-66245737BBA0}"/>
              </a:ext>
            </a:extLst>
          </p:cNvPr>
          <p:cNvSpPr/>
          <p:nvPr/>
        </p:nvSpPr>
        <p:spPr>
          <a:xfrm>
            <a:off x="8807115" y="3714750"/>
            <a:ext cx="3031959" cy="2112837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推理时间、资源占用、功耗</a:t>
            </a:r>
            <a:b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是折中问题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EE4B21E7-FD0C-4998-B8FE-7BAD8BB0A3AC}"/>
              </a:ext>
            </a:extLst>
          </p:cNvPr>
          <p:cNvSpPr/>
          <p:nvPr/>
        </p:nvSpPr>
        <p:spPr>
          <a:xfrm>
            <a:off x="4052887" y="1300717"/>
            <a:ext cx="485775" cy="304800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EB6C42FD-7857-40E0-B64C-8EC923C2FA2B}"/>
              </a:ext>
            </a:extLst>
          </p:cNvPr>
          <p:cNvSpPr/>
          <p:nvPr/>
        </p:nvSpPr>
        <p:spPr>
          <a:xfrm>
            <a:off x="4023059" y="2576173"/>
            <a:ext cx="485775" cy="304800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A85A8DEB-F7C4-46C8-9633-9BDAACDC67E3}"/>
              </a:ext>
            </a:extLst>
          </p:cNvPr>
          <p:cNvSpPr/>
          <p:nvPr/>
        </p:nvSpPr>
        <p:spPr>
          <a:xfrm>
            <a:off x="8178467" y="4618768"/>
            <a:ext cx="485775" cy="304800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8209667"/>
      </p:ext>
    </p:extLst>
  </p:cSld>
  <p:clrMapOvr>
    <a:masterClrMapping/>
  </p:clrMapOvr>
  <p:transition advTm="235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C61DF4-202F-4255-814D-C10692915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31774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硬件开销折中问题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B8BD0F4D-5A49-4C83-9B04-F43A879178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36" t="27013" r="16622" b="34698"/>
          <a:stretch/>
        </p:blipFill>
        <p:spPr>
          <a:xfrm>
            <a:off x="6176262" y="982033"/>
            <a:ext cx="5835434" cy="4270375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B88780-0A7C-4F99-A6B2-DB383549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D13D21-DDAE-4482-83D9-2A8DAC8EB9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8" name="内容占位符 6">
            <a:extLst>
              <a:ext uri="{FF2B5EF4-FFF2-40B4-BE49-F238E27FC236}">
                <a16:creationId xmlns:a16="http://schemas.microsoft.com/office/drawing/2014/main" id="{A6A24461-2557-4BF4-9298-8A079BBA67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4" t="31741" r="55095" b="49816"/>
          <a:stretch/>
        </p:blipFill>
        <p:spPr bwMode="auto">
          <a:xfrm>
            <a:off x="95249" y="2533650"/>
            <a:ext cx="5618749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8060719-AA97-40B0-AE45-3B3BD9664FA8}"/>
              </a:ext>
            </a:extLst>
          </p:cNvPr>
          <p:cNvSpPr txBox="1"/>
          <p:nvPr/>
        </p:nvSpPr>
        <p:spPr>
          <a:xfrm>
            <a:off x="476250" y="1179839"/>
            <a:ext cx="3667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以流水线优化为例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AF1043-86C8-4A7C-AE3B-A2C60BEFC349}"/>
              </a:ext>
            </a:extLst>
          </p:cNvPr>
          <p:cNvSpPr txBox="1"/>
          <p:nvPr/>
        </p:nvSpPr>
        <p:spPr>
          <a:xfrm>
            <a:off x="6120063" y="5386717"/>
            <a:ext cx="6071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翻转率更低，功耗更低，但面积更大</a:t>
            </a:r>
          </a:p>
        </p:txBody>
      </p:sp>
      <p:sp>
        <p:nvSpPr>
          <p:cNvPr id="11" name="矩形: 圆角 8">
            <a:extLst>
              <a:ext uri="{FF2B5EF4-FFF2-40B4-BE49-F238E27FC236}">
                <a16:creationId xmlns:a16="http://schemas.microsoft.com/office/drawing/2014/main" id="{927B36DF-B75D-8D4D-9E21-530EB8066D38}"/>
              </a:ext>
            </a:extLst>
          </p:cNvPr>
          <p:cNvSpPr/>
          <p:nvPr/>
        </p:nvSpPr>
        <p:spPr>
          <a:xfrm>
            <a:off x="255294" y="4942230"/>
            <a:ext cx="5298658" cy="1057275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自行思考：并行度的影响？</a:t>
            </a:r>
          </a:p>
        </p:txBody>
      </p:sp>
    </p:spTree>
    <p:extLst>
      <p:ext uri="{BB962C8B-B14F-4D97-AF65-F5344CB8AC3E}">
        <p14:creationId xmlns:p14="http://schemas.microsoft.com/office/powerpoint/2010/main" val="2973049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1BFEF-7D5C-435A-BCBC-7C24B2584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85750"/>
            <a:ext cx="8724900" cy="615950"/>
          </a:xfrm>
        </p:spPr>
        <p:txBody>
          <a:bodyPr/>
          <a:lstStyle/>
          <a:p>
            <a:pPr algn="ctr"/>
            <a:r>
              <a:rPr lang="zh-CN" altLang="en-US" sz="4400" dirty="0"/>
              <a:t>评分榜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9A40E7-73F5-4D9E-BE75-972816C47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345FEE-7893-4DEA-A561-EB37C6FA20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82A8F9-70A3-A74B-A9D4-2ADB722B2182}"/>
              </a:ext>
            </a:extLst>
          </p:cNvPr>
          <p:cNvSpPr/>
          <p:nvPr/>
        </p:nvSpPr>
        <p:spPr>
          <a:xfrm>
            <a:off x="473241" y="1375319"/>
            <a:ext cx="6168191" cy="403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、推理准确率（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、推理时间（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、资源占用（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、功耗（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4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860954-ED78-9447-A74A-7E2DD1A5E62B}"/>
              </a:ext>
            </a:extLst>
          </p:cNvPr>
          <p:cNvSpPr/>
          <p:nvPr/>
        </p:nvSpPr>
        <p:spPr>
          <a:xfrm>
            <a:off x="7226968" y="1375319"/>
            <a:ext cx="3862250" cy="403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88.1%</a:t>
            </a:r>
          </a:p>
          <a:p>
            <a:pPr>
              <a:lnSpc>
                <a:spcPct val="150000"/>
              </a:lnSpc>
            </a:pPr>
            <a:r>
              <a:rPr lang="en-US" altLang="zh-CN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7.585us</a:t>
            </a:r>
          </a:p>
          <a:p>
            <a:pPr>
              <a:lnSpc>
                <a:spcPct val="150000"/>
              </a:lnSpc>
            </a:pP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见下一页</a:t>
            </a:r>
            <a:r>
              <a:rPr lang="en-US" altLang="zh-CN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1.848 W</a:t>
            </a:r>
          </a:p>
        </p:txBody>
      </p:sp>
    </p:spTree>
    <p:extLst>
      <p:ext uri="{BB962C8B-B14F-4D97-AF65-F5344CB8AC3E}">
        <p14:creationId xmlns:p14="http://schemas.microsoft.com/office/powerpoint/2010/main" val="810393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B5BAA-0AB1-440B-A11C-69CCF51BB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85750"/>
            <a:ext cx="8724900" cy="615950"/>
          </a:xfrm>
        </p:spPr>
        <p:txBody>
          <a:bodyPr/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资源占用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8B8C16-4F8D-4C57-9CC8-A3279E0F0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A34ED3-585B-40A1-A046-7084207F56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5AA5C56-5218-4592-9B44-14E15E7F3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60" y="1304059"/>
            <a:ext cx="6399532" cy="42498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1661AB2-F175-477D-99CD-177956EA9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216" y="1543285"/>
            <a:ext cx="2809524" cy="3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605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C4E708-7855-46CA-B981-F2B2FFFDC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0" y="270731"/>
            <a:ext cx="8724900" cy="615950"/>
          </a:xfrm>
        </p:spPr>
        <p:txBody>
          <a:bodyPr/>
          <a:lstStyle/>
          <a:p>
            <a:pPr algn="ctr"/>
            <a:r>
              <a:rPr lang="zh-CN" altLang="en-US" dirty="0"/>
              <a:t>提供资料解释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E36F77-A275-4706-8EAA-59E3B3D6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55D866-0C96-4B24-86EC-E89A875CE9D0}" type="datetime1">
              <a:rPr lang="zh-CN" altLang="en-US" smtClean="0"/>
              <a:t>2025/11/15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CD5A2A-7BBD-4B1E-9E67-8ACEDAB3BC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1440AC-DCFE-45A7-8879-CACC57DABA6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309A56-74E7-6D28-D1B6-EACAC815712C}"/>
              </a:ext>
            </a:extLst>
          </p:cNvPr>
          <p:cNvSpPr txBox="1"/>
          <p:nvPr/>
        </p:nvSpPr>
        <p:spPr>
          <a:xfrm>
            <a:off x="0" y="1158731"/>
            <a:ext cx="11391900" cy="4540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输入数据、输入数据标签、模型参数、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AXI_DMA IP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核手册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输出特征图参考：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全连接神经网络的未截位推理结果（例：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fc1.txt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为第一个样本的第一层推理结果，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fc1_before_act.txt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为所有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个样本输入激活函数前的推理值）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截位模拟脚本：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输出截位后最后一层的推理结果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原始模型文件：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原始模型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文件，使用了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FP32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数据，推理准确率为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，可在此基础上自行量化以提升分类准确率</a:t>
            </a:r>
          </a:p>
        </p:txBody>
      </p:sp>
    </p:spTree>
    <p:extLst>
      <p:ext uri="{BB962C8B-B14F-4D97-AF65-F5344CB8AC3E}">
        <p14:creationId xmlns:p14="http://schemas.microsoft.com/office/powerpoint/2010/main" val="1542703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8326F-0E10-4FC6-A5D3-1545A0C33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2177256"/>
            <a:ext cx="11163300" cy="714375"/>
          </a:xfrm>
        </p:spPr>
        <p:txBody>
          <a:bodyPr/>
          <a:lstStyle/>
          <a:p>
            <a:pPr algn="ctr">
              <a:lnSpc>
                <a:spcPct val="150000"/>
              </a:lnSpc>
              <a:spcBef>
                <a:spcPts val="4500"/>
              </a:spcBef>
              <a:spcAft>
                <a:spcPts val="3150"/>
              </a:spcAft>
            </a:pPr>
            <a:r>
              <a:rPr kumimoji="1" lang="zh-CN" altLang="en-US" sz="4800" dirty="0">
                <a:solidFill>
                  <a:srgbClr val="2104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项目汇报</a:t>
            </a:r>
            <a:br>
              <a:rPr kumimoji="1" lang="en-US" altLang="zh-CN" sz="4800" dirty="0">
                <a:solidFill>
                  <a:srgbClr val="2104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zh-CN" altLang="en-US" sz="4800" dirty="0">
                <a:solidFill>
                  <a:srgbClr val="2104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kumimoji="1" lang="en-US" altLang="zh-CN" sz="4800" dirty="0">
                <a:solidFill>
                  <a:srgbClr val="2104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kumimoji="1" lang="zh-CN" altLang="en-US" sz="4800" dirty="0">
                <a:solidFill>
                  <a:srgbClr val="2104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的全连接神经网络硬件加速器</a:t>
            </a:r>
            <a:endParaRPr kumimoji="1" lang="ja-JP" altLang="en-US" sz="4800" dirty="0">
              <a:solidFill>
                <a:srgbClr val="2104E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F5D4DE-9601-495C-859F-E5D3B8EC1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6925" y="4229100"/>
            <a:ext cx="7772400" cy="1314450"/>
          </a:xfrm>
        </p:spPr>
        <p:txBody>
          <a:bodyPr/>
          <a:lstStyle/>
          <a:p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团队成员：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</a:p>
          <a:p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F00E6AB-6142-B7D0-8B38-A9CB388147C6}"/>
              </a:ext>
            </a:extLst>
          </p:cNvPr>
          <p:cNvSpPr txBox="1">
            <a:spLocks/>
          </p:cNvSpPr>
          <p:nvPr/>
        </p:nvSpPr>
        <p:spPr bwMode="auto">
          <a:xfrm>
            <a:off x="1524000" y="223838"/>
            <a:ext cx="91440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0A419B"/>
                </a:solidFill>
                <a:latin typeface="Arial" charset="0"/>
                <a:ea typeface="Arial" charset="0"/>
                <a:cs typeface="Arial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 eaLnBrk="1" hangingPunct="1"/>
            <a:r>
              <a:rPr lang="zh-CN" altLang="en-US" dirty="0"/>
              <a:t>汇报</a:t>
            </a:r>
            <a:r>
              <a:rPr lang="en-US" altLang="zh-CN" dirty="0"/>
              <a:t>PPT</a:t>
            </a:r>
            <a:r>
              <a:rPr lang="zh-CN" altLang="en-US" dirty="0"/>
              <a:t>封面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796BD1AA-D7BC-80DA-EACF-AF95643EA3F4}"/>
              </a:ext>
            </a:extLst>
          </p:cNvPr>
          <p:cNvSpPr txBox="1">
            <a:spLocks/>
          </p:cNvSpPr>
          <p:nvPr/>
        </p:nvSpPr>
        <p:spPr bwMode="auto">
          <a:xfrm>
            <a:off x="11164386" y="6372393"/>
            <a:ext cx="442912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23</a:t>
            </a:fld>
            <a:endParaRPr lang="zh-CN" altLang="en-US" sz="1400" dirty="0">
              <a:solidFill>
                <a:srgbClr val="FFFFFF"/>
              </a:solidFill>
            </a:endParaRPr>
          </a:p>
        </p:txBody>
      </p:sp>
      <p:sp>
        <p:nvSpPr>
          <p:cNvPr id="6" name="日期占位符 3">
            <a:extLst>
              <a:ext uri="{FF2B5EF4-FFF2-40B4-BE49-F238E27FC236}">
                <a16:creationId xmlns:a16="http://schemas.microsoft.com/office/drawing/2014/main" id="{9193E282-B3A1-BB42-A801-1014C32C87E1}"/>
              </a:ext>
            </a:extLst>
          </p:cNvPr>
          <p:cNvSpPr txBox="1">
            <a:spLocks/>
          </p:cNvSpPr>
          <p:nvPr/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fld id="{D455D866-0C96-4B24-86EC-E89A875CE9D0}" type="datetime1">
              <a:rPr lang="zh-CN" altLang="en-US" sz="1400" b="0">
                <a:solidFill>
                  <a:srgbClr val="0A419B"/>
                </a:solidFill>
                <a:latin typeface="微软雅黑" panose="020B0503020204020204" pitchFamily="34" charset="-122"/>
                <a:cs typeface="+mn-cs"/>
              </a:rPr>
              <a:pPr algn="l">
                <a:defRPr/>
              </a:pPr>
              <a:t>2025/11/15</a:t>
            </a:fld>
            <a:endParaRPr lang="zh-CN" altLang="en-US" sz="1400" b="0" dirty="0">
              <a:solidFill>
                <a:srgbClr val="0A419B"/>
              </a:solidFill>
              <a:latin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05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30"/>
    </mc:Choice>
    <mc:Fallback xmlns="">
      <p:transition spd="slow" advTm="1703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F7285-14DA-4A07-AA83-5E96A125A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950" y="238540"/>
            <a:ext cx="7658100" cy="526256"/>
          </a:xfrm>
        </p:spPr>
        <p:txBody>
          <a:bodyPr/>
          <a:lstStyle/>
          <a:p>
            <a:pPr algn="ctr"/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提纲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D86C4-7A1F-4A8F-8A21-C8279C0804B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1450" y="1143000"/>
            <a:ext cx="11925300" cy="2731294"/>
          </a:xfrm>
        </p:spPr>
        <p:txBody>
          <a:bodyPr/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kumimoji="1" lang="zh-CN" altLang="en-US" dirty="0">
                <a:latin typeface="微软雅黑" panose="020B0503020204020204" pitchFamily="34" charset="-122"/>
              </a:rPr>
              <a:t>团队分工（</a:t>
            </a:r>
            <a:r>
              <a:rPr kumimoji="1" lang="en-US" altLang="zh-CN" dirty="0">
                <a:latin typeface="微软雅黑" panose="020B0503020204020204" pitchFamily="34" charset="-122"/>
              </a:rPr>
              <a:t>1</a:t>
            </a:r>
            <a:r>
              <a:rPr kumimoji="1" lang="zh-CN" altLang="en-US" dirty="0">
                <a:latin typeface="微软雅黑" panose="020B0503020204020204" pitchFamily="34" charset="-122"/>
              </a:rPr>
              <a:t>页）：</a:t>
            </a:r>
            <a:r>
              <a:rPr kumimoji="1" lang="zh-CN" altLang="en-US" dirty="0">
                <a:solidFill>
                  <a:srgbClr val="2E1AE6"/>
                </a:solidFill>
                <a:latin typeface="微软雅黑" panose="020B0503020204020204" pitchFamily="34" charset="-122"/>
              </a:rPr>
              <a:t>各组员主要负责的工作</a:t>
            </a:r>
            <a:endParaRPr kumimoji="1" lang="en-US" altLang="zh-CN" dirty="0">
              <a:latin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kumimoji="1" lang="zh-CN" altLang="en-US" dirty="0">
                <a:latin typeface="微软雅黑" panose="020B0503020204020204" pitchFamily="34" charset="-122"/>
              </a:rPr>
              <a:t>系统架构介绍（</a:t>
            </a:r>
            <a:r>
              <a:rPr kumimoji="1" lang="en-US" altLang="zh-CN" dirty="0">
                <a:latin typeface="微软雅黑" panose="020B0503020204020204" pitchFamily="34" charset="-122"/>
              </a:rPr>
              <a:t>1-2</a:t>
            </a:r>
            <a:r>
              <a:rPr kumimoji="1" lang="zh-CN" altLang="en-US" dirty="0">
                <a:latin typeface="微软雅黑" panose="020B0503020204020204" pitchFamily="34" charset="-122"/>
              </a:rPr>
              <a:t>页）：</a:t>
            </a:r>
            <a:r>
              <a:rPr kumimoji="1" lang="zh-CN" altLang="en-US" dirty="0">
                <a:solidFill>
                  <a:srgbClr val="2E1AE6"/>
                </a:solidFill>
                <a:latin typeface="微软雅黑" panose="020B0503020204020204" pitchFamily="34" charset="-122"/>
              </a:rPr>
              <a:t>系统架构与设计思路（包含系统工作流程，架构图不要直接截</a:t>
            </a:r>
            <a:r>
              <a:rPr kumimoji="1" lang="en-US" altLang="zh-CN" dirty="0" err="1">
                <a:solidFill>
                  <a:srgbClr val="2E1AE6"/>
                </a:solidFill>
                <a:latin typeface="微软雅黑" panose="020B0503020204020204" pitchFamily="34" charset="-122"/>
              </a:rPr>
              <a:t>Vivado</a:t>
            </a:r>
            <a:r>
              <a:rPr kumimoji="1" lang="zh-CN" altLang="en-US" dirty="0">
                <a:solidFill>
                  <a:srgbClr val="2E1AE6"/>
                </a:solidFill>
                <a:latin typeface="微软雅黑" panose="020B0503020204020204" pitchFamily="34" charset="-122"/>
              </a:rPr>
              <a:t>里的图，看不清楚）</a:t>
            </a:r>
            <a:endParaRPr kumimoji="1" lang="en-US" altLang="zh-CN" dirty="0">
              <a:solidFill>
                <a:srgbClr val="2E1AE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kumimoji="1" lang="zh-CN" altLang="en-US" dirty="0">
                <a:latin typeface="微软雅黑" panose="020B0503020204020204" pitchFamily="34" charset="-122"/>
              </a:rPr>
              <a:t>子模块介绍（若干页）：</a:t>
            </a:r>
            <a:r>
              <a:rPr kumimoji="1" lang="zh-CN" altLang="en-US" dirty="0">
                <a:solidFill>
                  <a:srgbClr val="2E1AE6"/>
                </a:solidFill>
                <a:latin typeface="微软雅黑" panose="020B0503020204020204" pitchFamily="34" charset="-122"/>
              </a:rPr>
              <a:t>每个子模块的架构及设计思路（包含设计中遇到的问题及优化方案）</a:t>
            </a:r>
            <a:endParaRPr kumimoji="1" lang="en-US" altLang="zh-CN" dirty="0">
              <a:solidFill>
                <a:srgbClr val="2E1AE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kumimoji="1" lang="zh-CN" altLang="en-US" dirty="0">
                <a:latin typeface="微软雅黑" panose="020B0503020204020204" pitchFamily="34" charset="-122"/>
              </a:rPr>
              <a:t>测试与分析（若干页）：</a:t>
            </a:r>
            <a:r>
              <a:rPr kumimoji="1" lang="zh-CN" altLang="en-US" dirty="0">
                <a:solidFill>
                  <a:srgbClr val="2E1AE6"/>
                </a:solidFill>
                <a:latin typeface="微软雅黑" panose="020B0503020204020204" pitchFamily="34" charset="-122"/>
              </a:rPr>
              <a:t>性能指标及分析讨论（最好附上演示视频）</a:t>
            </a:r>
            <a:endParaRPr kumimoji="1" lang="en-US" altLang="zh-CN" dirty="0">
              <a:solidFill>
                <a:srgbClr val="2E1AE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kumimoji="1" lang="zh-CN" altLang="en-US" dirty="0">
                <a:latin typeface="微软雅黑" panose="020B0503020204020204" pitchFamily="34" charset="-122"/>
              </a:rPr>
              <a:t>存在问题与优化思路（若干页）：</a:t>
            </a:r>
            <a:r>
              <a:rPr kumimoji="1" lang="zh-CN" altLang="en-US" dirty="0">
                <a:solidFill>
                  <a:srgbClr val="2E1AE6"/>
                </a:solidFill>
                <a:latin typeface="微软雅黑" panose="020B0503020204020204" pitchFamily="34" charset="-122"/>
              </a:rPr>
              <a:t>讨论仍存在的问题与未来可能的优化思路</a:t>
            </a:r>
            <a:endParaRPr kumimoji="1" lang="en-US" altLang="zh-CN" dirty="0">
              <a:solidFill>
                <a:srgbClr val="2E1AE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kumimoji="1" lang="zh-CN" altLang="en-US" dirty="0">
                <a:latin typeface="微软雅黑" panose="020B0503020204020204" pitchFamily="34" charset="-122"/>
              </a:rPr>
              <a:t>总结（</a:t>
            </a:r>
            <a:r>
              <a:rPr kumimoji="1" lang="en-US" altLang="zh-CN" dirty="0">
                <a:latin typeface="微软雅黑" panose="020B0503020204020204" pitchFamily="34" charset="-122"/>
              </a:rPr>
              <a:t>1-3</a:t>
            </a:r>
            <a:r>
              <a:rPr kumimoji="1" lang="zh-CN" altLang="en-US" dirty="0">
                <a:latin typeface="微软雅黑" panose="020B0503020204020204" pitchFamily="34" charset="-122"/>
              </a:rPr>
              <a:t>页）：</a:t>
            </a:r>
            <a:r>
              <a:rPr kumimoji="1" lang="zh-CN" altLang="en-US" dirty="0">
                <a:solidFill>
                  <a:srgbClr val="2E1AE6"/>
                </a:solidFill>
                <a:latin typeface="微软雅黑" panose="020B0503020204020204" pitchFamily="34" charset="-122"/>
              </a:rPr>
              <a:t>技术总结</a:t>
            </a:r>
            <a:r>
              <a:rPr kumimoji="1" lang="en-US" altLang="zh-CN" dirty="0">
                <a:solidFill>
                  <a:srgbClr val="2E1AE6"/>
                </a:solidFill>
                <a:latin typeface="微软雅黑" panose="020B0503020204020204" pitchFamily="34" charset="-122"/>
              </a:rPr>
              <a:t>+</a:t>
            </a:r>
            <a:r>
              <a:rPr kumimoji="1" lang="zh-CN" altLang="en-US" dirty="0">
                <a:solidFill>
                  <a:srgbClr val="2E1AE6"/>
                </a:solidFill>
                <a:latin typeface="微软雅黑" panose="020B0503020204020204" pitchFamily="34" charset="-122"/>
              </a:rPr>
              <a:t>项目感受</a:t>
            </a:r>
            <a:endParaRPr kumimoji="1" lang="en-US" altLang="zh-CN" dirty="0">
              <a:solidFill>
                <a:srgbClr val="2E1AE6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A524FEA-9ABC-3F8B-F073-FA9CF51F0BC4}"/>
              </a:ext>
            </a:extLst>
          </p:cNvPr>
          <p:cNvSpPr txBox="1">
            <a:spLocks/>
          </p:cNvSpPr>
          <p:nvPr/>
        </p:nvSpPr>
        <p:spPr bwMode="auto">
          <a:xfrm>
            <a:off x="11164387" y="6372393"/>
            <a:ext cx="442912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24</a:t>
            </a:fld>
            <a:endParaRPr lang="zh-CN" altLang="en-US" sz="1400" dirty="0">
              <a:solidFill>
                <a:srgbClr val="FFFFFF"/>
              </a:solidFill>
            </a:endParaRP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3CD6867-192F-0E4B-938E-4AA1FAB457A3}"/>
              </a:ext>
            </a:extLst>
          </p:cNvPr>
          <p:cNvSpPr txBox="1">
            <a:spLocks/>
          </p:cNvSpPr>
          <p:nvPr/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b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fld id="{D455D866-0C96-4B24-86EC-E89A875CE9D0}" type="datetime1">
              <a:rPr lang="zh-CN" altLang="en-US"/>
              <a:pPr/>
              <a:t>2025/11/15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568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5"/>
    </mc:Choice>
    <mc:Fallback xmlns="">
      <p:transition spd="slow" advTm="43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8EDF2A5-421C-EB4E-A809-AD6BF8CE4F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50"/>
          <a:stretch/>
        </p:blipFill>
        <p:spPr>
          <a:xfrm>
            <a:off x="0" y="22207"/>
            <a:ext cx="12192000" cy="6258277"/>
          </a:xfrm>
          <a:prstGeom prst="rect">
            <a:avLst/>
          </a:prstGeom>
        </p:spPr>
      </p:pic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594B8E69-5991-5546-9DCF-CE97D3800462}"/>
              </a:ext>
            </a:extLst>
          </p:cNvPr>
          <p:cNvSpPr txBox="1">
            <a:spLocks/>
          </p:cNvSpPr>
          <p:nvPr/>
        </p:nvSpPr>
        <p:spPr bwMode="auto">
          <a:xfrm>
            <a:off x="11164387" y="6372393"/>
            <a:ext cx="442912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A07A51BB-5878-4A21-AE78-03CDE018153E}" type="slidenum">
              <a:rPr lang="zh-CN" altLang="en-US" sz="1400">
                <a:solidFill>
                  <a:srgbClr val="FFFFFF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25</a:t>
            </a:fld>
            <a:endParaRPr lang="zh-CN" altLang="en-US" sz="1400" dirty="0">
              <a:solidFill>
                <a:srgbClr val="FFFFFF"/>
              </a:solidFill>
            </a:endParaRPr>
          </a:p>
        </p:txBody>
      </p:sp>
      <p:sp>
        <p:nvSpPr>
          <p:cNvPr id="9" name="日期占位符 3">
            <a:extLst>
              <a:ext uri="{FF2B5EF4-FFF2-40B4-BE49-F238E27FC236}">
                <a16:creationId xmlns:a16="http://schemas.microsoft.com/office/drawing/2014/main" id="{90DA727F-991F-394E-8771-A861E2F57C5F}"/>
              </a:ext>
            </a:extLst>
          </p:cNvPr>
          <p:cNvSpPr txBox="1">
            <a:spLocks/>
          </p:cNvSpPr>
          <p:nvPr/>
        </p:nvSpPr>
        <p:spPr bwMode="auto"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342900" indent="-3429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b="0">
                <a:solidFill>
                  <a:srgbClr val="0A419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fld id="{D455D866-0C96-4B24-86EC-E89A875CE9D0}" type="datetime1">
              <a:rPr lang="zh-CN" altLang="en-US"/>
              <a:pPr/>
              <a:t>2025/11/15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2590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Y.OVuE4M0eShAMUGQUG_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JRsYDZtvEqI3i0jhiOFr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|0.2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1138</Words>
  <Application>Microsoft Office PowerPoint</Application>
  <PresentationFormat>宽屏</PresentationFormat>
  <Paragraphs>234</Paragraphs>
  <Slides>25</Slides>
  <Notes>13</Notes>
  <HiddenSlides>1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等线</vt:lpstr>
      <vt:lpstr>微软雅黑</vt:lpstr>
      <vt:lpstr>Arial</vt:lpstr>
      <vt:lpstr>Calibri</vt:lpstr>
      <vt:lpstr>Impact</vt:lpstr>
      <vt:lpstr>Wingdings</vt:lpstr>
      <vt:lpstr>1_自定义设计方案</vt:lpstr>
      <vt:lpstr>PowerPoint 演示文稿</vt:lpstr>
      <vt:lpstr>实验总览</vt:lpstr>
      <vt:lpstr>内容</vt:lpstr>
      <vt:lpstr>任务要求</vt:lpstr>
      <vt:lpstr>输入输出限定</vt:lpstr>
      <vt:lpstr>系统数据流向</vt:lpstr>
      <vt:lpstr>系统运行过程</vt:lpstr>
      <vt:lpstr>设计提示</vt:lpstr>
      <vt:lpstr>FIFO</vt:lpstr>
      <vt:lpstr>FIFO</vt:lpstr>
      <vt:lpstr>FIFO与FC连接</vt:lpstr>
      <vt:lpstr>DMA</vt:lpstr>
      <vt:lpstr>AXIS接口</vt:lpstr>
      <vt:lpstr>FIFO接口到AXIS接口转换</vt:lpstr>
      <vt:lpstr>PS端设计</vt:lpstr>
      <vt:lpstr>PS端设计</vt:lpstr>
      <vt:lpstr>PS端设计</vt:lpstr>
      <vt:lpstr>评分标准及Tips</vt:lpstr>
      <vt:lpstr>硬件开销折中问题</vt:lpstr>
      <vt:lpstr>评分榜</vt:lpstr>
      <vt:lpstr>资源占用</vt:lpstr>
      <vt:lpstr>提供资料解释</vt:lpstr>
      <vt:lpstr>项目汇报 基于FPGA的全连接神经网络硬件加速器</vt:lpstr>
      <vt:lpstr>汇报PPT提纲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系统整合</dc:title>
  <dc:creator>升旭 王</dc:creator>
  <cp:lastModifiedBy>升旭 王</cp:lastModifiedBy>
  <cp:revision>84</cp:revision>
  <dcterms:created xsi:type="dcterms:W3CDTF">2025-07-21T04:23:09Z</dcterms:created>
  <dcterms:modified xsi:type="dcterms:W3CDTF">2025-11-15T14:17:49Z</dcterms:modified>
</cp:coreProperties>
</file>